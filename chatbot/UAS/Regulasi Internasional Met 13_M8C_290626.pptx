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6" r:id="rId13"/>
    <p:sldId id="287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3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414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52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920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851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744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23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302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70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56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35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080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D13FD-659A-4405-ACAA-8DE85AF14BB9}" type="datetimeFigureOut">
              <a:rPr lang="en-ID" smtClean="0"/>
              <a:t>28/06/2026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51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2D4B-B42A-0038-686B-B8B844060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23508"/>
          </a:xfrm>
        </p:spPr>
        <p:txBody>
          <a:bodyPr>
            <a:normAutofit/>
          </a:bodyPr>
          <a:lstStyle/>
          <a:p>
            <a:r>
              <a:rPr lang="en-US" sz="2400" dirty="0"/>
              <a:t>REGULASI INTERNASIONAL METEOROLOGI </a:t>
            </a:r>
            <a:br>
              <a:rPr lang="en-US" sz="2400" dirty="0"/>
            </a:br>
            <a:r>
              <a:rPr lang="en-US" sz="2400" dirty="0"/>
              <a:t>MINGGU KE </a:t>
            </a:r>
            <a:r>
              <a:rPr lang="en-US" sz="2400" dirty="0" err="1"/>
              <a:t>tiga</a:t>
            </a:r>
            <a:r>
              <a:rPr lang="en-US" sz="2400" dirty="0"/>
              <a:t> BELAS</a:t>
            </a:r>
            <a:r>
              <a:rPr lang="en-US" sz="2400"/>
              <a:t>/ M8C</a:t>
            </a:r>
            <a:br>
              <a:rPr lang="en-US" sz="2400" dirty="0"/>
            </a:br>
            <a:r>
              <a:rPr lang="en-US" sz="2400" dirty="0"/>
              <a:t>PLANNING</a:t>
            </a:r>
            <a:endParaRPr lang="en-ID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A6075-B6AD-E844-EBC4-AF72FCB17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2900"/>
            <a:ext cx="9144000" cy="11049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Maman</a:t>
            </a:r>
            <a:r>
              <a:rPr lang="en-US" dirty="0"/>
              <a:t> </a:t>
            </a:r>
            <a:r>
              <a:rPr lang="en-US" dirty="0" err="1"/>
              <a:t>Sudarisman</a:t>
            </a:r>
            <a:endParaRPr lang="en-US" dirty="0"/>
          </a:p>
          <a:p>
            <a:r>
              <a:rPr lang="en-US" dirty="0" err="1"/>
              <a:t>Sekolah</a:t>
            </a:r>
            <a:r>
              <a:rPr lang="en-US" dirty="0"/>
              <a:t> Tinggi </a:t>
            </a:r>
            <a:r>
              <a:rPr lang="en-US" dirty="0" err="1"/>
              <a:t>Meteorologi</a:t>
            </a:r>
            <a:r>
              <a:rPr lang="en-US" dirty="0"/>
              <a:t> </a:t>
            </a:r>
            <a:r>
              <a:rPr lang="en-US" dirty="0" err="1"/>
              <a:t>Klimatologi</a:t>
            </a:r>
            <a:r>
              <a:rPr lang="en-US" dirty="0"/>
              <a:t> dan </a:t>
            </a:r>
            <a:r>
              <a:rPr lang="en-US" dirty="0" err="1"/>
              <a:t>Geofisika</a:t>
            </a:r>
            <a:endParaRPr lang="en-US" dirty="0"/>
          </a:p>
          <a:p>
            <a:r>
              <a:rPr lang="en-US" dirty="0"/>
              <a:t>29 Juni 2026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1629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2ECD-E763-3C0C-7A5A-A8A4756D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en-ID" sz="2400" b="1" dirty="0"/>
              <a:t>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29E9B-D352-660F-75B9-EFF1212B9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671"/>
            <a:ext cx="10515600" cy="50502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400" dirty="0" err="1"/>
              <a:t>Perencanaan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NMHS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fungsi</a:t>
            </a:r>
            <a:r>
              <a:rPr lang="en-ID" sz="2400" dirty="0"/>
              <a:t> yang sangat </a:t>
            </a:r>
            <a:r>
              <a:rPr lang="en-ID" sz="2400" dirty="0" err="1"/>
              <a:t>penting</a:t>
            </a:r>
            <a:r>
              <a:rPr lang="en-ID" sz="2400" dirty="0"/>
              <a:t> yang </a:t>
            </a:r>
            <a:r>
              <a:rPr lang="en-ID" sz="2400" dirty="0" err="1"/>
              <a:t>memerlukan</a:t>
            </a:r>
            <a:r>
              <a:rPr lang="en-ID" sz="2400" dirty="0"/>
              <a:t> </a:t>
            </a:r>
            <a:r>
              <a:rPr lang="en-ID" sz="2400" dirty="0" err="1"/>
              <a:t>upaya</a:t>
            </a:r>
            <a:r>
              <a:rPr lang="en-ID" sz="2400" dirty="0"/>
              <a:t> </a:t>
            </a:r>
            <a:r>
              <a:rPr lang="en-ID" sz="2400" dirty="0" err="1"/>
              <a:t>substansial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direktur</a:t>
            </a:r>
            <a:r>
              <a:rPr lang="en-ID" sz="2400" dirty="0"/>
              <a:t> dan </a:t>
            </a:r>
            <a:r>
              <a:rPr lang="en-ID" sz="2400" dirty="0" err="1"/>
              <a:t>tim</a:t>
            </a:r>
            <a:r>
              <a:rPr lang="en-ID" sz="2400" dirty="0"/>
              <a:t> </a:t>
            </a:r>
            <a:r>
              <a:rPr lang="en-ID" sz="2400" dirty="0" err="1"/>
              <a:t>kepemimpinan</a:t>
            </a:r>
            <a:r>
              <a:rPr lang="en-ID" sz="2400" dirty="0"/>
              <a:t> senior. </a:t>
            </a:r>
            <a:r>
              <a:rPr lang="en-ID" sz="2400" dirty="0" err="1"/>
              <a:t>Sementara</a:t>
            </a:r>
            <a:r>
              <a:rPr lang="en-ID" sz="2400" dirty="0"/>
              <a:t> </a:t>
            </a:r>
            <a:r>
              <a:rPr lang="en-ID" sz="2400" dirty="0" err="1"/>
              <a:t>krisis</a:t>
            </a:r>
            <a:r>
              <a:rPr lang="en-ID" sz="2400" dirty="0"/>
              <a:t>, </a:t>
            </a:r>
            <a:r>
              <a:rPr lang="en-ID" sz="2400" dirty="0" err="1"/>
              <a:t>hal-hal</a:t>
            </a:r>
            <a:r>
              <a:rPr lang="en-ID" sz="2400" dirty="0"/>
              <a:t> </a:t>
            </a:r>
            <a:r>
              <a:rPr lang="en-ID" sz="2400" dirty="0" err="1"/>
              <a:t>mendesak</a:t>
            </a:r>
            <a:r>
              <a:rPr lang="en-ID" sz="2400" dirty="0"/>
              <a:t> </a:t>
            </a:r>
            <a:r>
              <a:rPr lang="en-ID" sz="2400" dirty="0" err="1"/>
              <a:t>lainnya</a:t>
            </a:r>
            <a:r>
              <a:rPr lang="en-ID" sz="2400" dirty="0"/>
              <a:t> dan </a:t>
            </a:r>
            <a:r>
              <a:rPr lang="en-ID" sz="2400" dirty="0" err="1"/>
              <a:t>kegiatan</a:t>
            </a:r>
            <a:r>
              <a:rPr lang="en-ID" sz="2400" dirty="0"/>
              <a:t> </a:t>
            </a:r>
            <a:r>
              <a:rPr lang="en-ID" sz="2400" dirty="0" err="1"/>
              <a:t>rutin</a:t>
            </a:r>
            <a:r>
              <a:rPr lang="en-ID" sz="2400" dirty="0"/>
              <a:t> </a:t>
            </a:r>
            <a:r>
              <a:rPr lang="en-ID" sz="2400" dirty="0" err="1"/>
              <a:t>sehari-hari</a:t>
            </a:r>
            <a:r>
              <a:rPr lang="en-ID" sz="2400" dirty="0"/>
              <a:t> </a:t>
            </a:r>
            <a:r>
              <a:rPr lang="en-ID" sz="2400" dirty="0" err="1"/>
              <a:t>cenderung</a:t>
            </a:r>
            <a:r>
              <a:rPr lang="en-ID" sz="2400" dirty="0"/>
              <a:t> </a:t>
            </a:r>
            <a:r>
              <a:rPr lang="en-ID" sz="2400" dirty="0" err="1"/>
              <a:t>menghabiskan</a:t>
            </a:r>
            <a:r>
              <a:rPr lang="en-ID" sz="2400" dirty="0"/>
              <a:t> </a:t>
            </a:r>
            <a:r>
              <a:rPr lang="en-ID" sz="2400" dirty="0" err="1"/>
              <a:t>sebagian</a:t>
            </a:r>
            <a:r>
              <a:rPr lang="en-ID" sz="2400" dirty="0"/>
              <a:t> </a:t>
            </a:r>
            <a:r>
              <a:rPr lang="en-ID" sz="2400" dirty="0" err="1"/>
              <a:t>besar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yang </a:t>
            </a:r>
            <a:r>
              <a:rPr lang="en-ID" sz="2400" dirty="0" err="1"/>
              <a:t>tersedia</a:t>
            </a:r>
            <a:r>
              <a:rPr lang="en-ID" sz="2400" dirty="0"/>
              <a:t>, </a:t>
            </a:r>
            <a:r>
              <a:rPr lang="en-ID" sz="2400" dirty="0" err="1"/>
              <a:t>sehingga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perencanaan</a:t>
            </a:r>
            <a:r>
              <a:rPr lang="en-ID" sz="2400" dirty="0"/>
              <a:t> yang </a:t>
            </a:r>
            <a:r>
              <a:rPr lang="en-ID" sz="2400" dirty="0" err="1"/>
              <a:t>berkualitas</a:t>
            </a:r>
            <a:r>
              <a:rPr lang="en-ID" sz="2400" dirty="0"/>
              <a:t> </a:t>
            </a:r>
            <a:r>
              <a:rPr lang="en-ID" sz="2400" dirty="0" err="1"/>
              <a:t>baik</a:t>
            </a:r>
            <a:r>
              <a:rPr lang="en-ID" sz="2400" dirty="0"/>
              <a:t> dan </a:t>
            </a:r>
            <a:r>
              <a:rPr lang="en-ID" sz="2400" dirty="0" err="1"/>
              <a:t>adanya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penting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keberhasilan</a:t>
            </a:r>
            <a:r>
              <a:rPr lang="en-ID" sz="2400" dirty="0"/>
              <a:t> </a:t>
            </a:r>
            <a:r>
              <a:rPr lang="en-ID" sz="2400" dirty="0" err="1"/>
              <a:t>jangka</a:t>
            </a:r>
            <a:r>
              <a:rPr lang="en-ID" sz="2400" dirty="0"/>
              <a:t> </a:t>
            </a:r>
            <a:r>
              <a:rPr lang="en-ID" sz="2400" dirty="0" err="1"/>
              <a:t>panjang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ID" sz="2400" dirty="0"/>
              <a:t>Bagian </a:t>
            </a:r>
            <a:r>
              <a:rPr lang="en-ID" sz="2400" dirty="0" err="1"/>
              <a:t>berikut</a:t>
            </a:r>
            <a:r>
              <a:rPr lang="en-ID" sz="2400" dirty="0"/>
              <a:t> </a:t>
            </a:r>
            <a:r>
              <a:rPr lang="en-ID" sz="2400" dirty="0" err="1"/>
              <a:t>melihat</a:t>
            </a:r>
            <a:r>
              <a:rPr lang="en-ID" sz="2400" dirty="0"/>
              <a:t> </a:t>
            </a:r>
            <a:r>
              <a:rPr lang="en-ID" sz="2400" dirty="0" err="1"/>
              <a:t>sifat</a:t>
            </a:r>
            <a:r>
              <a:rPr lang="en-ID" sz="2400" dirty="0"/>
              <a:t> </a:t>
            </a:r>
            <a:r>
              <a:rPr lang="en-ID" sz="2400" dirty="0" err="1"/>
              <a:t>perencanaan</a:t>
            </a:r>
            <a:r>
              <a:rPr lang="en-ID" sz="2400" dirty="0"/>
              <a:t> dan </a:t>
            </a:r>
            <a:r>
              <a:rPr lang="en-ID" sz="2400" dirty="0" err="1"/>
              <a:t>berbagai</a:t>
            </a:r>
            <a:r>
              <a:rPr lang="en-ID" sz="2400" dirty="0"/>
              <a:t> </a:t>
            </a:r>
            <a:r>
              <a:rPr lang="en-ID" sz="2400" dirty="0" err="1"/>
              <a:t>jenis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yang </a:t>
            </a:r>
            <a:r>
              <a:rPr lang="en-ID" sz="2400" dirty="0" err="1"/>
              <a:t>relevan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NMHS dan </a:t>
            </a:r>
            <a:r>
              <a:rPr lang="en-ID" sz="2400" dirty="0" err="1"/>
              <a:t>menunjukkan</a:t>
            </a:r>
            <a:r>
              <a:rPr lang="en-ID" sz="2400" dirty="0"/>
              <a:t> </a:t>
            </a:r>
            <a:r>
              <a:rPr lang="en-ID" sz="2400" dirty="0" err="1"/>
              <a:t>hubungan</a:t>
            </a:r>
            <a:r>
              <a:rPr lang="en-ID" sz="2400" dirty="0"/>
              <a:t> </a:t>
            </a:r>
            <a:r>
              <a:rPr lang="en-ID" sz="2400" dirty="0" err="1"/>
              <a:t>antara</a:t>
            </a:r>
            <a:r>
              <a:rPr lang="en-ID" sz="2400" dirty="0"/>
              <a:t> </a:t>
            </a:r>
            <a:r>
              <a:rPr lang="en-ID" sz="2400" dirty="0" err="1"/>
              <a:t>perencanaan</a:t>
            </a:r>
            <a:r>
              <a:rPr lang="en-ID" sz="2400" dirty="0"/>
              <a:t> dan </a:t>
            </a:r>
            <a:r>
              <a:rPr lang="en-ID" sz="2400" dirty="0" err="1"/>
              <a:t>manajemen</a:t>
            </a:r>
            <a:r>
              <a:rPr lang="en-ID" sz="2400" dirty="0"/>
              <a:t> </a:t>
            </a:r>
            <a:r>
              <a:rPr lang="en-ID" sz="2400" dirty="0" err="1"/>
              <a:t>mutu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58379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551F-969E-92C9-3AA7-C4F9FC4A3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679" y="418077"/>
            <a:ext cx="9603275" cy="512652"/>
          </a:xfrm>
        </p:spPr>
        <p:txBody>
          <a:bodyPr>
            <a:normAutofit/>
          </a:bodyPr>
          <a:lstStyle/>
          <a:p>
            <a:r>
              <a:rPr lang="en-ID" sz="2400" b="1" dirty="0"/>
              <a:t>THE NATURE OF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535A3-E9F0-7A35-A81C-19C37A5DD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382486"/>
            <a:ext cx="9603275" cy="408385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diperlukan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dan </a:t>
            </a:r>
            <a:r>
              <a:rPr lang="en-ID" sz="2400" dirty="0" err="1"/>
              <a:t>rentang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yang </a:t>
            </a:r>
            <a:r>
              <a:rPr lang="en-ID" sz="2400" dirty="0" err="1"/>
              <a:t>berbeda</a:t>
            </a:r>
            <a:r>
              <a:rPr lang="en-ID" sz="2400" dirty="0"/>
              <a:t>, </a:t>
            </a:r>
            <a:r>
              <a:rPr lang="en-ID" sz="2400" dirty="0" err="1"/>
              <a:t>namun</a:t>
            </a:r>
            <a:r>
              <a:rPr lang="en-ID" sz="2400" dirty="0"/>
              <a:t> </a:t>
            </a:r>
            <a:r>
              <a:rPr lang="en-ID" sz="2400" dirty="0" err="1"/>
              <a:t>tiga</a:t>
            </a:r>
            <a:r>
              <a:rPr lang="en-ID" sz="2400" dirty="0"/>
              <a:t> </a:t>
            </a:r>
            <a:r>
              <a:rPr lang="en-ID" sz="2400" dirty="0" err="1"/>
              <a:t>jenis</a:t>
            </a:r>
            <a:r>
              <a:rPr lang="en-ID" sz="2400" dirty="0"/>
              <a:t> paling </a:t>
            </a:r>
            <a:r>
              <a:rPr lang="en-ID" sz="2400" dirty="0" err="1"/>
              <a:t>umum</a:t>
            </a:r>
            <a:r>
              <a:rPr lang="en-ID" sz="2400" dirty="0"/>
              <a:t> yang </a:t>
            </a:r>
            <a:r>
              <a:rPr lang="en-ID" sz="2400" dirty="0" err="1"/>
              <a:t>berlaku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NMHS </a:t>
            </a:r>
            <a:r>
              <a:rPr lang="en-ID" sz="2400" dirty="0" err="1"/>
              <a:t>dibahas</a:t>
            </a:r>
            <a:r>
              <a:rPr lang="en-ID" sz="2400" dirty="0"/>
              <a:t> di </a:t>
            </a:r>
            <a:r>
              <a:rPr lang="en-ID" sz="2400" dirty="0" err="1"/>
              <a:t>sini</a:t>
            </a:r>
            <a:r>
              <a:rPr lang="en-ID" sz="2400" dirty="0"/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D" sz="2400" dirty="0"/>
              <a:t>Di </a:t>
            </a:r>
            <a:r>
              <a:rPr lang="en-ID" sz="2400" dirty="0" err="1"/>
              <a:t>beberapa</a:t>
            </a:r>
            <a:r>
              <a:rPr lang="en-ID" sz="2400" dirty="0"/>
              <a:t> NMHS,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</a:t>
            </a:r>
            <a:r>
              <a:rPr lang="en-ID" sz="2400" dirty="0" err="1"/>
              <a:t>biasanya</a:t>
            </a:r>
            <a:r>
              <a:rPr lang="en-ID" sz="2400" dirty="0"/>
              <a:t> </a:t>
            </a:r>
            <a:r>
              <a:rPr lang="en-ID" sz="2400" dirty="0" err="1"/>
              <a:t>mencakup</a:t>
            </a:r>
            <a:r>
              <a:rPr lang="en-ID" sz="2400" dirty="0"/>
              <a:t> </a:t>
            </a:r>
            <a:r>
              <a:rPr lang="en-ID" sz="2400" dirty="0" err="1"/>
              <a:t>rentang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</a:t>
            </a:r>
            <a:r>
              <a:rPr lang="en-ID" sz="2400" dirty="0" err="1"/>
              <a:t>tiga</a:t>
            </a:r>
            <a:r>
              <a:rPr lang="en-ID" sz="2400" dirty="0"/>
              <a:t> </a:t>
            </a:r>
            <a:r>
              <a:rPr lang="en-ID" sz="2400" dirty="0" err="1"/>
              <a:t>hingga</a:t>
            </a:r>
            <a:r>
              <a:rPr lang="en-ID" sz="2400" dirty="0"/>
              <a:t> lima </a:t>
            </a:r>
            <a:r>
              <a:rPr lang="en-ID" sz="2400" dirty="0" err="1"/>
              <a:t>tahun</a:t>
            </a:r>
            <a:r>
              <a:rPr lang="en-ID" sz="2400" dirty="0"/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</a:t>
            </a:r>
            <a:r>
              <a:rPr lang="en-ID" sz="2400" dirty="0" err="1"/>
              <a:t>jangka</a:t>
            </a:r>
            <a:r>
              <a:rPr lang="en-ID" sz="2400" dirty="0"/>
              <a:t> </a:t>
            </a:r>
            <a:r>
              <a:rPr lang="en-ID" sz="2400" dirty="0" err="1"/>
              <a:t>panjang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berlangsung</a:t>
            </a:r>
            <a:r>
              <a:rPr lang="en-ID" sz="2400" dirty="0"/>
              <a:t> </a:t>
            </a:r>
            <a:r>
              <a:rPr lang="en-ID" sz="2400" dirty="0" err="1"/>
              <a:t>selama</a:t>
            </a:r>
            <a:r>
              <a:rPr lang="en-ID" sz="2400" dirty="0"/>
              <a:t> 10 </a:t>
            </a:r>
            <a:r>
              <a:rPr lang="en-ID" sz="2400" dirty="0" err="1"/>
              <a:t>tahun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.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bisa</a:t>
            </a:r>
            <a:r>
              <a:rPr lang="en-ID" sz="2400" dirty="0"/>
              <a:t> internal </a:t>
            </a:r>
            <a:r>
              <a:rPr lang="en-ID" sz="2400" dirty="0" err="1"/>
              <a:t>untuk</a:t>
            </a:r>
            <a:r>
              <a:rPr lang="en-ID" sz="2400" dirty="0"/>
              <a:t> NMHS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pembangunan</a:t>
            </a:r>
            <a:r>
              <a:rPr lang="en-ID" sz="2400" dirty="0"/>
              <a:t> </a:t>
            </a:r>
            <a:r>
              <a:rPr lang="en-ID" sz="2400" dirty="0" err="1"/>
              <a:t>jangka</a:t>
            </a:r>
            <a:r>
              <a:rPr lang="en-ID" sz="2400" dirty="0"/>
              <a:t> </a:t>
            </a:r>
            <a:r>
              <a:rPr lang="en-ID" sz="2400" dirty="0" err="1"/>
              <a:t>panjang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donor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luas</a:t>
            </a:r>
            <a:r>
              <a:rPr lang="en-ID" sz="2400" dirty="0"/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tahunan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pernyataan</a:t>
            </a:r>
            <a:r>
              <a:rPr lang="en-ID" sz="2400" dirty="0"/>
              <a:t> </a:t>
            </a:r>
            <a:r>
              <a:rPr lang="en-ID" sz="2400" dirty="0" err="1"/>
              <a:t>niat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satu</a:t>
            </a:r>
            <a:r>
              <a:rPr lang="en-ID" sz="2400" dirty="0"/>
              <a:t> </a:t>
            </a:r>
            <a:r>
              <a:rPr lang="en-ID" sz="2400" dirty="0" err="1"/>
              <a:t>tahun</a:t>
            </a:r>
            <a:r>
              <a:rPr lang="en-ID" sz="2400" dirty="0"/>
              <a:t> </a:t>
            </a:r>
            <a:r>
              <a:rPr lang="en-ID" sz="2400" dirty="0" err="1"/>
              <a:t>operasional</a:t>
            </a:r>
            <a:r>
              <a:rPr lang="en-ID" sz="2400" dirty="0"/>
              <a:t>, </a:t>
            </a:r>
            <a:r>
              <a:rPr lang="en-ID" sz="2400" dirty="0" err="1"/>
              <a:t>biasanya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periode</a:t>
            </a:r>
            <a:r>
              <a:rPr lang="en-ID" sz="2400" dirty="0"/>
              <a:t> </a:t>
            </a:r>
            <a:r>
              <a:rPr lang="en-ID" sz="2400" dirty="0" err="1"/>
              <a:t>anggaran</a:t>
            </a:r>
            <a:r>
              <a:rPr lang="en-ID" sz="2400" dirty="0"/>
              <a:t> </a:t>
            </a:r>
            <a:r>
              <a:rPr lang="en-ID" sz="2400" dirty="0" err="1"/>
              <a:t>tahunan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NMHS.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relevan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inisiatif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peningkatan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5181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C62E1-4752-1B5B-9C65-792AC9595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5044"/>
            <a:ext cx="10515600" cy="556192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D" sz="2400" dirty="0" err="1"/>
              <a:t>Perencanaan</a:t>
            </a:r>
            <a:r>
              <a:rPr lang="en-ID" sz="2400" dirty="0"/>
              <a:t> di </a:t>
            </a:r>
            <a:r>
              <a:rPr lang="en-ID" sz="2400" dirty="0" err="1"/>
              <a:t>sini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seluruh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. </a:t>
            </a:r>
            <a:r>
              <a:rPr lang="en-ID" sz="2400" dirty="0" err="1"/>
              <a:t>Jenis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lain yang </a:t>
            </a:r>
            <a:r>
              <a:rPr lang="en-ID" sz="2400" dirty="0" err="1"/>
              <a:t>terkait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aktivitas</a:t>
            </a:r>
            <a:r>
              <a:rPr lang="en-ID" sz="2400" dirty="0"/>
              <a:t> </a:t>
            </a:r>
            <a:r>
              <a:rPr lang="en-ID" sz="2400" dirty="0" err="1"/>
              <a:t>fungsional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komponen</a:t>
            </a:r>
            <a:r>
              <a:rPr lang="en-ID" sz="2400" dirty="0"/>
              <a:t> NMHS,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perencanaan</a:t>
            </a:r>
            <a:r>
              <a:rPr lang="en-ID" sz="2400" dirty="0"/>
              <a:t> </a:t>
            </a:r>
            <a:r>
              <a:rPr lang="en-ID" sz="2400" dirty="0" err="1"/>
              <a:t>tenaga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, </a:t>
            </a:r>
            <a:r>
              <a:rPr lang="en-ID" sz="2400" dirty="0" err="1"/>
              <a:t>dibahas</a:t>
            </a:r>
            <a:r>
              <a:rPr lang="en-ID" sz="2400" dirty="0"/>
              <a:t> di </a:t>
            </a:r>
            <a:r>
              <a:rPr lang="en-ID" sz="2400" dirty="0" err="1"/>
              <a:t>bawah</a:t>
            </a:r>
            <a:r>
              <a:rPr lang="en-ID" sz="2400" dirty="0"/>
              <a:t> </a:t>
            </a:r>
            <a:r>
              <a:rPr lang="en-ID" sz="2400" dirty="0" err="1"/>
              <a:t>judul</a:t>
            </a:r>
            <a:r>
              <a:rPr lang="en-ID" sz="2400" dirty="0"/>
              <a:t> </a:t>
            </a:r>
            <a:r>
              <a:rPr lang="en-ID" sz="2400" dirty="0" err="1"/>
              <a:t>khusus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ID" sz="2400" b="1" dirty="0" err="1"/>
              <a:t>Tujuan</a:t>
            </a:r>
            <a:r>
              <a:rPr lang="en-ID" sz="2400" b="1" dirty="0"/>
              <a:t> </a:t>
            </a:r>
            <a:r>
              <a:rPr lang="en-ID" sz="2400" b="1" dirty="0" err="1"/>
              <a:t>utama</a:t>
            </a:r>
            <a:r>
              <a:rPr lang="en-ID" sz="2400" b="1" dirty="0"/>
              <a:t> </a:t>
            </a:r>
            <a:r>
              <a:rPr lang="en-ID" sz="2400" b="1" dirty="0" err="1"/>
              <a:t>perencanaan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mendukung</a:t>
            </a:r>
            <a:r>
              <a:rPr lang="en-ID" sz="2400" dirty="0"/>
              <a:t> </a:t>
            </a:r>
            <a:r>
              <a:rPr lang="en-ID" sz="2400" dirty="0" err="1"/>
              <a:t>operasi</a:t>
            </a:r>
            <a:r>
              <a:rPr lang="en-ID" sz="2400" dirty="0"/>
              <a:t> dan </a:t>
            </a:r>
            <a:r>
              <a:rPr lang="en-ID" sz="2400" dirty="0" err="1"/>
              <a:t>pengembangan</a:t>
            </a:r>
            <a:r>
              <a:rPr lang="en-ID" sz="2400" dirty="0"/>
              <a:t> NMHS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kepada</a:t>
            </a:r>
            <a:r>
              <a:rPr lang="en-ID" sz="2400" dirty="0"/>
              <a:t> </a:t>
            </a:r>
            <a:r>
              <a:rPr lang="en-ID" sz="2400" dirty="0" err="1"/>
              <a:t>manajer</a:t>
            </a:r>
            <a:r>
              <a:rPr lang="en-ID" sz="2400" dirty="0"/>
              <a:t> dan </a:t>
            </a:r>
            <a:r>
              <a:rPr lang="en-ID" sz="2400" dirty="0" err="1"/>
              <a:t>staf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prioritas</a:t>
            </a:r>
            <a:r>
              <a:rPr lang="en-ID" sz="2400" dirty="0"/>
              <a:t> yang </a:t>
            </a:r>
            <a:r>
              <a:rPr lang="en-ID" sz="2400" dirty="0" err="1"/>
              <a:t>dimaksud</a:t>
            </a:r>
            <a:r>
              <a:rPr lang="en-ID" sz="2400" dirty="0"/>
              <a:t>,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spesifik</a:t>
            </a:r>
            <a:r>
              <a:rPr lang="en-ID" sz="2400" dirty="0"/>
              <a:t>, </a:t>
            </a:r>
            <a:r>
              <a:rPr lang="en-ID" sz="2400" dirty="0" err="1"/>
              <a:t>tindakan</a:t>
            </a:r>
            <a:r>
              <a:rPr lang="en-ID" sz="2400" dirty="0"/>
              <a:t>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mencapainya</a:t>
            </a:r>
            <a:r>
              <a:rPr lang="en-ID" sz="2400" dirty="0"/>
              <a:t>, yang mana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sdh</a:t>
            </a:r>
            <a:r>
              <a:rPr lang="en-ID" sz="2400" dirty="0"/>
              <a:t> </a:t>
            </a:r>
            <a:r>
              <a:rPr lang="en-ID" sz="2400" dirty="0" err="1"/>
              <a:t>disepakati</a:t>
            </a:r>
            <a:r>
              <a:rPr lang="en-ID" sz="2400" dirty="0"/>
              <a:t> </a:t>
            </a:r>
          </a:p>
          <a:p>
            <a:pPr algn="just">
              <a:lnSpc>
                <a:spcPct val="150000"/>
              </a:lnSpc>
            </a:pPr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penting</a:t>
            </a:r>
            <a:r>
              <a:rPr lang="en-ID" sz="2400" dirty="0"/>
              <a:t> </a:t>
            </a:r>
            <a:r>
              <a:rPr lang="en-ID" sz="2400" dirty="0" err="1"/>
              <a:t>tambahan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mengamankan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NMHS dan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berkomunikasi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pemerintah</a:t>
            </a:r>
            <a:r>
              <a:rPr lang="en-ID" sz="2400" dirty="0"/>
              <a:t> </a:t>
            </a:r>
            <a:r>
              <a:rPr lang="en-ID" sz="2400" dirty="0" err="1"/>
              <a:t>serta</a:t>
            </a:r>
            <a:r>
              <a:rPr lang="en-ID" sz="2400" dirty="0"/>
              <a:t> badan </a:t>
            </a:r>
            <a:r>
              <a:rPr lang="en-ID" sz="2400" dirty="0" err="1"/>
              <a:t>eksternal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8658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F0BB-EAFD-71F3-FBEE-577CC770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9905"/>
          </a:xfrm>
        </p:spPr>
        <p:txBody>
          <a:bodyPr>
            <a:normAutofit/>
          </a:bodyPr>
          <a:lstStyle/>
          <a:p>
            <a:r>
              <a:rPr lang="en-ID" sz="2400" b="1" dirty="0"/>
              <a:t>STRATEGIC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C1A91-D42A-F7A6-22F6-6F24F6577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0"/>
            <a:ext cx="10515600" cy="5131934"/>
          </a:xfrm>
        </p:spPr>
        <p:txBody>
          <a:bodyPr>
            <a:normAutofit/>
          </a:bodyPr>
          <a:lstStyle/>
          <a:p>
            <a:pPr algn="just"/>
            <a:r>
              <a:rPr lang="en-ID" sz="2400" b="1" dirty="0" err="1"/>
              <a:t>Rencana</a:t>
            </a:r>
            <a:r>
              <a:rPr lang="en-ID" sz="2400" b="1" dirty="0"/>
              <a:t> </a:t>
            </a:r>
            <a:r>
              <a:rPr lang="en-ID" sz="2400" b="1" dirty="0" err="1"/>
              <a:t>strategis</a:t>
            </a:r>
            <a:r>
              <a:rPr lang="en-ID" sz="2400" b="1" dirty="0"/>
              <a:t> </a:t>
            </a:r>
            <a:r>
              <a:rPr lang="en-ID" sz="2400" b="1" dirty="0" err="1"/>
              <a:t>dimaksudkan</a:t>
            </a:r>
            <a:r>
              <a:rPr lang="en-ID" sz="2400" b="1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menetapkan</a:t>
            </a:r>
            <a:r>
              <a:rPr lang="en-ID" sz="2400" dirty="0"/>
              <a:t> </a:t>
            </a:r>
            <a:r>
              <a:rPr lang="en-ID" sz="2400" dirty="0" err="1"/>
              <a:t>arah</a:t>
            </a:r>
            <a:r>
              <a:rPr lang="en-ID" sz="2400" dirty="0"/>
              <a:t> NMHS </a:t>
            </a:r>
            <a:r>
              <a:rPr lang="en-ID" sz="2400" dirty="0" err="1"/>
              <a:t>selama</a:t>
            </a:r>
            <a:r>
              <a:rPr lang="en-ID" sz="2400" dirty="0"/>
              <a:t> </a:t>
            </a:r>
            <a:r>
              <a:rPr lang="en-ID" sz="2400" dirty="0" err="1"/>
              <a:t>periode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(</a:t>
            </a:r>
            <a:r>
              <a:rPr lang="en-ID" sz="2400" dirty="0" err="1"/>
              <a:t>misalnya</a:t>
            </a:r>
            <a:r>
              <a:rPr lang="en-ID" sz="2400" dirty="0"/>
              <a:t>, </a:t>
            </a:r>
            <a:r>
              <a:rPr lang="en-ID" sz="2400" dirty="0" err="1"/>
              <a:t>tiga</a:t>
            </a:r>
            <a:r>
              <a:rPr lang="en-ID" sz="2400" dirty="0"/>
              <a:t> </a:t>
            </a:r>
            <a:r>
              <a:rPr lang="en-ID" sz="2400" dirty="0" err="1"/>
              <a:t>sampai</a:t>
            </a:r>
            <a:r>
              <a:rPr lang="en-ID" sz="2400" dirty="0"/>
              <a:t> lima </a:t>
            </a:r>
            <a:r>
              <a:rPr lang="en-ID" sz="2400" dirty="0" err="1"/>
              <a:t>tahun</a:t>
            </a:r>
            <a:r>
              <a:rPr lang="en-ID" sz="2400" dirty="0"/>
              <a:t>) </a:t>
            </a:r>
            <a:r>
              <a:rPr lang="en-ID" sz="2400" dirty="0" err="1"/>
              <a:t>dgn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spesifik</a:t>
            </a:r>
            <a:r>
              <a:rPr lang="en-ID" sz="2400" dirty="0"/>
              <a:t> </a:t>
            </a:r>
            <a:r>
              <a:rPr lang="en-ID" sz="2400" dirty="0" err="1"/>
              <a:t>serta</a:t>
            </a:r>
            <a:r>
              <a:rPr lang="en-ID" sz="2400" dirty="0"/>
              <a:t> strategi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dicapainya</a:t>
            </a:r>
            <a:r>
              <a:rPr lang="en-ID" sz="2400" dirty="0"/>
              <a:t>. </a:t>
            </a:r>
            <a:r>
              <a:rPr lang="en-ID" sz="2400" dirty="0" err="1"/>
              <a:t>Baik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maupun</a:t>
            </a:r>
            <a:r>
              <a:rPr lang="en-ID" sz="2400" dirty="0"/>
              <a:t> proses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r>
              <a:rPr lang="en-ID" sz="2400" dirty="0"/>
              <a:t>, </a:t>
            </a:r>
            <a:r>
              <a:rPr lang="en-ID" sz="2400" dirty="0" err="1"/>
              <a:t>hal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sangat </a:t>
            </a:r>
            <a:r>
              <a:rPr lang="en-ID" sz="2400" dirty="0" err="1"/>
              <a:t>berharga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mempertahankan</a:t>
            </a:r>
            <a:r>
              <a:rPr lang="en-ID" sz="2400" dirty="0"/>
              <a:t> dan </a:t>
            </a:r>
            <a:r>
              <a:rPr lang="en-ID" sz="2400" dirty="0" err="1"/>
              <a:t>mengembangkan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NMHS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berkelanjutan</a:t>
            </a:r>
            <a:r>
              <a:rPr lang="en-ID" sz="2400" dirty="0"/>
              <a:t>. </a:t>
            </a:r>
            <a:r>
              <a:rPr lang="en-ID" sz="2400" dirty="0" err="1"/>
              <a:t>Perencanaan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skala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</a:t>
            </a:r>
            <a:r>
              <a:rPr lang="en-ID" sz="2400" dirty="0" err="1"/>
              <a:t>tiga</a:t>
            </a:r>
            <a:r>
              <a:rPr lang="en-ID" sz="2400" dirty="0"/>
              <a:t> </a:t>
            </a:r>
            <a:r>
              <a:rPr lang="en-ID" sz="2400" dirty="0" err="1"/>
              <a:t>sampai</a:t>
            </a:r>
            <a:r>
              <a:rPr lang="en-ID" sz="2400" dirty="0"/>
              <a:t> lima </a:t>
            </a:r>
            <a:r>
              <a:rPr lang="en-ID" sz="2400" dirty="0" err="1"/>
              <a:t>tahun</a:t>
            </a:r>
            <a:r>
              <a:rPr lang="en-ID" sz="2400" dirty="0"/>
              <a:t> </a:t>
            </a:r>
            <a:r>
              <a:rPr lang="en-ID" sz="2400" dirty="0" err="1"/>
              <a:t>menawarkan</a:t>
            </a:r>
            <a:r>
              <a:rPr lang="en-ID" sz="2400" dirty="0"/>
              <a:t> </a:t>
            </a:r>
            <a:r>
              <a:rPr lang="en-ID" sz="2400" dirty="0" err="1"/>
              <a:t>kesempatan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Mempertajam</a:t>
            </a:r>
            <a:r>
              <a:rPr lang="en-ID" sz="2000" dirty="0"/>
              <a:t> dan </a:t>
            </a:r>
            <a:r>
              <a:rPr lang="en-ID" sz="2000" dirty="0" err="1"/>
              <a:t>memperjelas</a:t>
            </a:r>
            <a:r>
              <a:rPr lang="en-ID" sz="2000" dirty="0"/>
              <a:t> </a:t>
            </a:r>
            <a:r>
              <a:rPr lang="en-ID" sz="2000" dirty="0" err="1"/>
              <a:t>visi</a:t>
            </a:r>
            <a:r>
              <a:rPr lang="en-ID" sz="2000" dirty="0"/>
              <a:t> dan </a:t>
            </a:r>
            <a:r>
              <a:rPr lang="en-ID" sz="2000" dirty="0" err="1"/>
              <a:t>misi</a:t>
            </a:r>
            <a:r>
              <a:rPr lang="en-ID" sz="2000" dirty="0"/>
              <a:t> NMHS;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Menganalisis</a:t>
            </a:r>
            <a:r>
              <a:rPr lang="en-ID" sz="2000" dirty="0"/>
              <a:t> </a:t>
            </a:r>
            <a:r>
              <a:rPr lang="en-ID" sz="2000" dirty="0" err="1"/>
              <a:t>pengaruh</a:t>
            </a:r>
            <a:r>
              <a:rPr lang="en-ID" sz="2000" dirty="0"/>
              <a:t> </a:t>
            </a:r>
            <a:r>
              <a:rPr lang="en-ID" sz="2000" dirty="0" err="1"/>
              <a:t>eksternal</a:t>
            </a:r>
            <a:r>
              <a:rPr lang="en-ID" sz="2000" dirty="0"/>
              <a:t> dan internal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periode</a:t>
            </a:r>
            <a:r>
              <a:rPr lang="en-ID" sz="2000" dirty="0"/>
              <a:t> </a:t>
            </a:r>
            <a:r>
              <a:rPr lang="en-ID" sz="2000" dirty="0" err="1"/>
              <a:t>perencanaan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Mengidentifikasi</a:t>
            </a:r>
            <a:r>
              <a:rPr lang="en-ID" sz="2000" dirty="0"/>
              <a:t> </a:t>
            </a:r>
            <a:r>
              <a:rPr lang="en-ID" sz="2000" dirty="0" err="1"/>
              <a:t>posisi</a:t>
            </a:r>
            <a:r>
              <a:rPr lang="en-ID" sz="2000" dirty="0"/>
              <a:t> yang </a:t>
            </a:r>
            <a:r>
              <a:rPr lang="en-ID" sz="2000" dirty="0" err="1"/>
              <a:t>diinginkan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akhir</a:t>
            </a:r>
            <a:r>
              <a:rPr lang="en-ID" sz="2000" dirty="0"/>
              <a:t> </a:t>
            </a:r>
            <a:r>
              <a:rPr lang="en-ID" sz="2000" dirty="0" err="1"/>
              <a:t>periode</a:t>
            </a:r>
            <a:r>
              <a:rPr lang="en-ID" sz="2000" dirty="0"/>
              <a:t> </a:t>
            </a:r>
            <a:r>
              <a:rPr lang="en-ID" sz="2000" dirty="0" err="1"/>
              <a:t>perencanaan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Menilai</a:t>
            </a:r>
            <a:r>
              <a:rPr lang="en-ID" sz="2000" dirty="0"/>
              <a:t> </a:t>
            </a:r>
            <a:r>
              <a:rPr lang="en-ID" sz="2000" dirty="0" err="1"/>
              <a:t>kesenjangan</a:t>
            </a:r>
            <a:r>
              <a:rPr lang="en-ID" sz="2000" dirty="0"/>
              <a:t> </a:t>
            </a:r>
            <a:r>
              <a:rPr lang="en-ID" sz="2000" dirty="0" err="1"/>
              <a:t>antara</a:t>
            </a:r>
            <a:r>
              <a:rPr lang="en-ID" sz="2000" dirty="0"/>
              <a:t> </a:t>
            </a:r>
            <a:r>
              <a:rPr lang="en-ID" sz="2000" dirty="0" err="1"/>
              <a:t>posisi</a:t>
            </a:r>
            <a:r>
              <a:rPr lang="en-ID" sz="2000" dirty="0"/>
              <a:t> yang </a:t>
            </a:r>
            <a:r>
              <a:rPr lang="en-ID" sz="2000" dirty="0" err="1"/>
              <a:t>diinginkan</a:t>
            </a:r>
            <a:r>
              <a:rPr lang="en-ID" sz="2000" dirty="0"/>
              <a:t> dan </a:t>
            </a:r>
            <a:r>
              <a:rPr lang="en-ID" sz="2000" dirty="0" err="1"/>
              <a:t>saat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36190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5EE0F-F653-829B-0E2B-1EF3FA39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300"/>
            <a:ext cx="10515600" cy="5300663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Mengembangkan</a:t>
            </a:r>
            <a:r>
              <a:rPr lang="en-ID" sz="2000" dirty="0"/>
              <a:t> strategi dan </a:t>
            </a:r>
            <a:r>
              <a:rPr lang="en-ID" sz="2000" dirty="0" err="1"/>
              <a:t>tindakan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menjembatani</a:t>
            </a:r>
            <a:r>
              <a:rPr lang="en-ID" sz="2000" dirty="0"/>
              <a:t> </a:t>
            </a:r>
            <a:r>
              <a:rPr lang="en-ID" sz="2000" dirty="0" err="1"/>
              <a:t>kesenjangan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Mengamankan</a:t>
            </a:r>
            <a:r>
              <a:rPr lang="en-ID" sz="2000" dirty="0"/>
              <a:t> </a:t>
            </a:r>
            <a:r>
              <a:rPr lang="en-ID" sz="2000" dirty="0" err="1"/>
              <a:t>sumber</a:t>
            </a:r>
            <a:r>
              <a:rPr lang="en-ID" sz="2000" dirty="0"/>
              <a:t> </a:t>
            </a:r>
            <a:r>
              <a:rPr lang="en-ID" sz="2000" dirty="0" err="1"/>
              <a:t>daya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mengimplementasikan</a:t>
            </a:r>
            <a:r>
              <a:rPr lang="en-ID" sz="2000" dirty="0"/>
              <a:t> </a:t>
            </a:r>
            <a:r>
              <a:rPr lang="en-ID" sz="2000" dirty="0" err="1"/>
              <a:t>rencana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Tetapkan</a:t>
            </a:r>
            <a:r>
              <a:rPr lang="en-ID" sz="2000" dirty="0"/>
              <a:t> </a:t>
            </a:r>
            <a:r>
              <a:rPr lang="en-ID" sz="2000" dirty="0" err="1"/>
              <a:t>ukuran</a:t>
            </a:r>
            <a:r>
              <a:rPr lang="en-ID" sz="2000" dirty="0"/>
              <a:t> </a:t>
            </a:r>
            <a:r>
              <a:rPr lang="en-ID" sz="2000" dirty="0" err="1"/>
              <a:t>kunci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menilai</a:t>
            </a:r>
            <a:r>
              <a:rPr lang="en-ID" sz="2000" dirty="0"/>
              <a:t> </a:t>
            </a:r>
            <a:r>
              <a:rPr lang="en-ID" sz="2000" dirty="0" err="1"/>
              <a:t>kinerja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Siapkan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memantau</a:t>
            </a:r>
            <a:r>
              <a:rPr lang="en-ID" sz="2000" dirty="0"/>
              <a:t>, </a:t>
            </a:r>
            <a:r>
              <a:rPr lang="en-ID" sz="2000" dirty="0" err="1"/>
              <a:t>mengevaluasi</a:t>
            </a:r>
            <a:r>
              <a:rPr lang="en-ID" sz="2000" dirty="0"/>
              <a:t>, dan </a:t>
            </a:r>
            <a:r>
              <a:rPr lang="en-ID" sz="2000" dirty="0" err="1"/>
              <a:t>menyesuaikan</a:t>
            </a:r>
            <a:r>
              <a:rPr lang="en-ID" sz="2000" dirty="0"/>
              <a:t> </a:t>
            </a:r>
            <a:r>
              <a:rPr lang="en-ID" sz="2000" dirty="0" err="1"/>
              <a:t>rencana</a:t>
            </a:r>
            <a:endParaRPr lang="en-ID" sz="2400" dirty="0"/>
          </a:p>
          <a:p>
            <a:pPr algn="just"/>
            <a:r>
              <a:rPr lang="sv-SE" sz="2400" dirty="0"/>
              <a:t>Isi rencana strategis NMHS akan dipengaruhi oleh rencana lain yang lebih luas, termasuk: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Rencana</a:t>
            </a:r>
            <a:r>
              <a:rPr lang="en-ID" sz="2000" dirty="0"/>
              <a:t> </a:t>
            </a:r>
            <a:r>
              <a:rPr lang="en-ID" sz="2000" dirty="0" err="1"/>
              <a:t>nasional</a:t>
            </a:r>
            <a:r>
              <a:rPr lang="en-ID" sz="2000" dirty="0"/>
              <a:t> yang </a:t>
            </a:r>
            <a:r>
              <a:rPr lang="en-ID" sz="2000" dirty="0" err="1"/>
              <a:t>relevan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Rencana</a:t>
            </a:r>
            <a:r>
              <a:rPr lang="en-ID" sz="2000" dirty="0"/>
              <a:t> </a:t>
            </a:r>
            <a:r>
              <a:rPr lang="en-ID" sz="2000" dirty="0" err="1"/>
              <a:t>Strategis</a:t>
            </a:r>
            <a:r>
              <a:rPr lang="en-ID" sz="2000" dirty="0"/>
              <a:t> WMO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Rencana</a:t>
            </a:r>
            <a:r>
              <a:rPr lang="en-ID" sz="2000" dirty="0"/>
              <a:t> Regional WMO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Kontribusi</a:t>
            </a:r>
            <a:r>
              <a:rPr lang="en-ID" sz="2000" dirty="0"/>
              <a:t> WMO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pembangunan</a:t>
            </a:r>
            <a:r>
              <a:rPr lang="en-ID" sz="2000" dirty="0"/>
              <a:t> </a:t>
            </a:r>
            <a:r>
              <a:rPr lang="en-ID" sz="2000" dirty="0" err="1"/>
              <a:t>internasional</a:t>
            </a:r>
            <a:r>
              <a:rPr lang="en-ID" sz="2000" dirty="0"/>
              <a:t> yang </a:t>
            </a:r>
            <a:r>
              <a:rPr lang="en-ID" sz="2000" dirty="0" err="1"/>
              <a:t>luas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411597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E7E17-9DFE-A03F-0C0E-C1FE59E3A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29"/>
            <a:ext cx="10515600" cy="513193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400" dirty="0"/>
              <a:t>Proses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menyiapkan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NMHS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fungsi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 yang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ditetapkan</a:t>
            </a:r>
            <a:r>
              <a:rPr lang="en-ID" sz="2400" dirty="0"/>
              <a:t> dan </a:t>
            </a:r>
            <a:r>
              <a:rPr lang="en-ID" sz="2400" dirty="0" err="1"/>
              <a:t>dipandu</a:t>
            </a:r>
            <a:r>
              <a:rPr lang="en-ID" sz="2400" dirty="0"/>
              <a:t> </a:t>
            </a:r>
            <a:r>
              <a:rPr lang="en-ID" sz="2400" dirty="0" err="1"/>
              <a:t>tetapi</a:t>
            </a:r>
            <a:r>
              <a:rPr lang="en-ID" sz="2400" dirty="0"/>
              <a:t>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diketuai</a:t>
            </a:r>
            <a:r>
              <a:rPr lang="en-ID" sz="2400" dirty="0"/>
              <a:t> oleh </a:t>
            </a:r>
            <a:r>
              <a:rPr lang="en-ID" sz="2400" dirty="0" err="1"/>
              <a:t>direktur</a:t>
            </a:r>
            <a:r>
              <a:rPr lang="en-ID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ID" sz="2400" dirty="0" err="1"/>
              <a:t>Kelompok</a:t>
            </a:r>
            <a:r>
              <a:rPr lang="en-ID" sz="2400" dirty="0"/>
              <a:t> </a:t>
            </a:r>
            <a:r>
              <a:rPr lang="en-ID" sz="2400" dirty="0" err="1"/>
              <a:t>perencanaan</a:t>
            </a:r>
            <a:r>
              <a:rPr lang="en-ID" sz="2400" dirty="0"/>
              <a:t>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mencakup</a:t>
            </a:r>
            <a:r>
              <a:rPr lang="en-ID" sz="2400" dirty="0"/>
              <a:t> </a:t>
            </a:r>
            <a:r>
              <a:rPr lang="en-ID" sz="2400" dirty="0" err="1"/>
              <a:t>manajer</a:t>
            </a:r>
            <a:r>
              <a:rPr lang="en-ID" sz="2400" dirty="0"/>
              <a:t> senior yang </a:t>
            </a:r>
            <a:r>
              <a:rPr lang="en-ID" sz="2400" dirty="0" err="1"/>
              <a:t>bertanggung</a:t>
            </a:r>
            <a:r>
              <a:rPr lang="en-ID" sz="2400" dirty="0"/>
              <a:t> </a:t>
            </a:r>
            <a:r>
              <a:rPr lang="en-ID" sz="2400" dirty="0" err="1"/>
              <a:t>jawab</a:t>
            </a:r>
            <a:r>
              <a:rPr lang="en-ID" sz="2400" dirty="0"/>
              <a:t> </a:t>
            </a:r>
            <a:r>
              <a:rPr lang="en-ID" sz="2400" dirty="0" err="1"/>
              <a:t>atas</a:t>
            </a:r>
            <a:r>
              <a:rPr lang="en-ID" sz="2400" dirty="0"/>
              <a:t> area </a:t>
            </a:r>
            <a:r>
              <a:rPr lang="en-ID" sz="2400" dirty="0" err="1"/>
              <a:t>fungsional</a:t>
            </a:r>
            <a:r>
              <a:rPr lang="en-ID" sz="2400" dirty="0"/>
              <a:t> </a:t>
            </a:r>
            <a:r>
              <a:rPr lang="en-ID" sz="2400" dirty="0" err="1"/>
              <a:t>utama</a:t>
            </a:r>
            <a:r>
              <a:rPr lang="en-ID" sz="2400" dirty="0"/>
              <a:t> NMHS, </a:t>
            </a:r>
            <a:r>
              <a:rPr lang="en-ID" sz="2400" dirty="0" err="1"/>
              <a:t>termasuk</a:t>
            </a:r>
            <a:r>
              <a:rPr lang="en-ID" sz="2400" dirty="0"/>
              <a:t> </a:t>
            </a:r>
            <a:r>
              <a:rPr lang="en-ID" sz="2400" dirty="0" err="1"/>
              <a:t>manajer</a:t>
            </a:r>
            <a:r>
              <a:rPr lang="en-ID" sz="2400" dirty="0"/>
              <a:t> </a:t>
            </a:r>
            <a:r>
              <a:rPr lang="en-ID" sz="2400" dirty="0" err="1"/>
              <a:t>keuangan</a:t>
            </a:r>
            <a:r>
              <a:rPr lang="en-ID" sz="2400" dirty="0"/>
              <a:t> dan personalia. </a:t>
            </a:r>
            <a:r>
              <a:rPr lang="en-ID" sz="2400" dirty="0" err="1"/>
              <a:t>Dalam</a:t>
            </a:r>
            <a:r>
              <a:rPr lang="en-ID" sz="2400" dirty="0"/>
              <a:t> NMHS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besar</a:t>
            </a:r>
            <a:r>
              <a:rPr lang="en-ID" sz="2400" dirty="0"/>
              <a:t>, </a:t>
            </a:r>
            <a:r>
              <a:rPr lang="en-ID" sz="2400" dirty="0" err="1"/>
              <a:t>kelompok</a:t>
            </a:r>
            <a:r>
              <a:rPr lang="en-ID" sz="2400" dirty="0"/>
              <a:t> </a:t>
            </a:r>
            <a:r>
              <a:rPr lang="en-ID" sz="2400" dirty="0" err="1"/>
              <a:t>perencanaan</a:t>
            </a:r>
            <a:r>
              <a:rPr lang="en-ID" sz="2400" dirty="0"/>
              <a:t> </a:t>
            </a:r>
            <a:r>
              <a:rPr lang="en-ID" sz="2400" dirty="0" err="1"/>
              <a:t>kecil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dibentuk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mendukung</a:t>
            </a:r>
            <a:r>
              <a:rPr lang="en-ID" sz="2400" dirty="0"/>
              <a:t> </a:t>
            </a:r>
            <a:r>
              <a:rPr lang="en-ID" sz="2400" dirty="0" err="1"/>
              <a:t>pekerjaan</a:t>
            </a:r>
            <a:r>
              <a:rPr lang="en-ID" sz="2400" dirty="0"/>
              <a:t> </a:t>
            </a:r>
            <a:r>
              <a:rPr lang="en-ID" sz="2400" dirty="0" err="1"/>
              <a:t>perencanaan</a:t>
            </a:r>
            <a:r>
              <a:rPr lang="en-ID" sz="2400" dirty="0"/>
              <a:t> </a:t>
            </a:r>
            <a:r>
              <a:rPr lang="en-ID" sz="2400" dirty="0" err="1"/>
              <a:t>eksekutif</a:t>
            </a:r>
            <a:r>
              <a:rPr lang="en-ID" sz="2400" dirty="0"/>
              <a:t> senior</a:t>
            </a:r>
          </a:p>
        </p:txBody>
      </p:sp>
    </p:spTree>
    <p:extLst>
      <p:ext uri="{BB962C8B-B14F-4D97-AF65-F5344CB8AC3E}">
        <p14:creationId xmlns:p14="http://schemas.microsoft.com/office/powerpoint/2010/main" val="263746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E86FDA-CFF3-76F5-9DC1-4090F651B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5386" y="707571"/>
            <a:ext cx="8017327" cy="5878286"/>
          </a:xfrm>
        </p:spPr>
      </p:pic>
    </p:spTree>
    <p:extLst>
      <p:ext uri="{BB962C8B-B14F-4D97-AF65-F5344CB8AC3E}">
        <p14:creationId xmlns:p14="http://schemas.microsoft.com/office/powerpoint/2010/main" val="2717935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D0D4C-EF62-9127-9D7A-84A0A3D0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D" sz="2400" dirty="0" err="1"/>
              <a:t>Berikut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penjelasan</a:t>
            </a:r>
            <a:r>
              <a:rPr lang="en-ID" sz="2400" dirty="0"/>
              <a:t> </a:t>
            </a:r>
            <a:r>
              <a:rPr lang="en-ID" sz="2400" dirty="0" err="1"/>
              <a:t>istilah-istilah</a:t>
            </a:r>
            <a:r>
              <a:rPr lang="en-ID" sz="2400" dirty="0"/>
              <a:t> yang </a:t>
            </a:r>
            <a:r>
              <a:rPr lang="en-ID" sz="2400" dirty="0" err="1"/>
              <a:t>biasa</a:t>
            </a:r>
            <a:r>
              <a:rPr lang="en-ID" sz="2400" dirty="0"/>
              <a:t> </a:t>
            </a:r>
            <a:r>
              <a:rPr lang="en-ID" sz="2400" dirty="0" err="1"/>
              <a:t>digunakan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menyusun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Visi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 </a:t>
            </a:r>
            <a:r>
              <a:rPr lang="en-ID" sz="2400" dirty="0" err="1"/>
              <a:t>pernyataan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NMHS </a:t>
            </a:r>
            <a:r>
              <a:rPr lang="en-ID" sz="2400" dirty="0" err="1"/>
              <a:t>dilihat</a:t>
            </a:r>
            <a:r>
              <a:rPr lang="en-ID" sz="2400" dirty="0"/>
              <a:t> di dunia dan </a:t>
            </a:r>
            <a:r>
              <a:rPr lang="en-ID" sz="2400" dirty="0" err="1"/>
              <a:t>manfaat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hasil</a:t>
            </a:r>
            <a:r>
              <a:rPr lang="en-ID" sz="2400" dirty="0"/>
              <a:t> </a:t>
            </a:r>
            <a:r>
              <a:rPr lang="en-ID" sz="2400" dirty="0" err="1"/>
              <a:t>bagi</a:t>
            </a:r>
            <a:r>
              <a:rPr lang="en-ID" sz="2400" dirty="0"/>
              <a:t> negara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Misi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deskripsi</a:t>
            </a:r>
            <a:r>
              <a:rPr lang="en-ID" sz="2400" dirty="0"/>
              <a:t> </a:t>
            </a:r>
            <a:r>
              <a:rPr lang="en-ID" sz="2400" dirty="0" err="1"/>
              <a:t>peran</a:t>
            </a:r>
            <a:r>
              <a:rPr lang="en-ID" sz="2400" dirty="0"/>
              <a:t> NMHS dan </a:t>
            </a:r>
            <a:r>
              <a:rPr lang="en-ID" sz="2400" dirty="0" err="1"/>
              <a:t>apa</a:t>
            </a:r>
            <a:r>
              <a:rPr lang="en-ID" sz="2400" dirty="0"/>
              <a:t> yang </a:t>
            </a:r>
            <a:r>
              <a:rPr lang="en-ID" sz="2400" dirty="0" err="1"/>
              <a:t>dilakukan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menjalankan</a:t>
            </a:r>
            <a:r>
              <a:rPr lang="en-ID" sz="2400" dirty="0"/>
              <a:t> </a:t>
            </a:r>
            <a:r>
              <a:rPr lang="en-ID" sz="2400" dirty="0" err="1"/>
              <a:t>peran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Nilai (Value)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berupa</a:t>
            </a:r>
            <a:r>
              <a:rPr lang="en-ID" sz="2400" dirty="0"/>
              <a:t> </a:t>
            </a:r>
            <a:r>
              <a:rPr lang="en-ID" sz="2400" dirty="0" err="1"/>
              <a:t>pernyataan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nilai-nilai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sehubungan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cara</a:t>
            </a:r>
            <a:r>
              <a:rPr lang="en-ID" sz="2400" dirty="0"/>
              <a:t> </a:t>
            </a:r>
            <a:r>
              <a:rPr lang="en-ID" sz="2400" dirty="0" err="1"/>
              <a:t>menjalankan</a:t>
            </a:r>
            <a:r>
              <a:rPr lang="en-ID" sz="2400" dirty="0"/>
              <a:t> </a:t>
            </a:r>
            <a:r>
              <a:rPr lang="en-ID" sz="2400" dirty="0" err="1"/>
              <a:t>pekerjaannya</a:t>
            </a:r>
            <a:r>
              <a:rPr lang="en-ID" sz="2400" dirty="0"/>
              <a:t> dan </a:t>
            </a:r>
            <a:r>
              <a:rPr lang="en-ID" sz="2400" dirty="0" err="1"/>
              <a:t>hubungannya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staf</a:t>
            </a:r>
            <a:r>
              <a:rPr lang="en-ID" sz="2400" dirty="0"/>
              <a:t> dan </a:t>
            </a:r>
            <a:r>
              <a:rPr lang="en-ID" sz="2400" dirty="0" err="1"/>
              <a:t>klien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Analisis</a:t>
            </a:r>
            <a:r>
              <a:rPr lang="en-ID" sz="2400" dirty="0"/>
              <a:t> </a:t>
            </a:r>
            <a:r>
              <a:rPr lang="en-ID" sz="2400" dirty="0" err="1"/>
              <a:t>lingkungan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analisis</a:t>
            </a:r>
            <a:r>
              <a:rPr lang="en-ID" sz="2400" dirty="0"/>
              <a:t> </a:t>
            </a:r>
            <a:r>
              <a:rPr lang="en-ID" sz="2400" dirty="0" err="1"/>
              <a:t>singkat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faktor-faktor</a:t>
            </a:r>
            <a:r>
              <a:rPr lang="en-ID" sz="2400" dirty="0"/>
              <a:t> di </a:t>
            </a:r>
            <a:r>
              <a:rPr lang="en-ID" sz="2400" dirty="0" err="1"/>
              <a:t>lingkungan</a:t>
            </a:r>
            <a:r>
              <a:rPr lang="en-ID" sz="2400" dirty="0"/>
              <a:t> </a:t>
            </a:r>
            <a:r>
              <a:rPr lang="en-ID" sz="2400" dirty="0" err="1"/>
              <a:t>eksternal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berdampak</a:t>
            </a:r>
            <a:r>
              <a:rPr lang="en-ID" sz="2400" dirty="0"/>
              <a:t> pada NMHS.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termasuk</a:t>
            </a:r>
            <a:r>
              <a:rPr lang="en-ID" sz="2400" dirty="0"/>
              <a:t> </a:t>
            </a:r>
            <a:r>
              <a:rPr lang="en-ID" sz="2400" dirty="0" err="1"/>
              <a:t>faktor</a:t>
            </a:r>
            <a:r>
              <a:rPr lang="en-ID" sz="2400" dirty="0"/>
              <a:t> </a:t>
            </a:r>
            <a:r>
              <a:rPr lang="en-ID" sz="2400" dirty="0" err="1"/>
              <a:t>internasional</a:t>
            </a:r>
            <a:r>
              <a:rPr lang="en-ID" sz="2400" dirty="0"/>
              <a:t>, </a:t>
            </a:r>
            <a:r>
              <a:rPr lang="en-ID" sz="2400" dirty="0" err="1"/>
              <a:t>faktor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ekonomi</a:t>
            </a:r>
            <a:r>
              <a:rPr lang="en-ID" sz="2400" dirty="0"/>
              <a:t> dan </a:t>
            </a:r>
            <a:r>
              <a:rPr lang="en-ID" sz="2400" dirty="0" err="1"/>
              <a:t>kebijakan</a:t>
            </a:r>
            <a:r>
              <a:rPr lang="en-ID" sz="2400" dirty="0"/>
              <a:t> </a:t>
            </a:r>
            <a:r>
              <a:rPr lang="en-ID" sz="2400" dirty="0" err="1"/>
              <a:t>pemerintah</a:t>
            </a:r>
            <a:r>
              <a:rPr lang="en-ID" sz="2400" dirty="0"/>
              <a:t>, dan </a:t>
            </a:r>
            <a:r>
              <a:rPr lang="en-ID" sz="2400" dirty="0" err="1"/>
              <a:t>faktor</a:t>
            </a:r>
            <a:r>
              <a:rPr lang="en-ID" sz="2400" dirty="0"/>
              <a:t> yang </a:t>
            </a:r>
            <a:r>
              <a:rPr lang="en-ID" sz="2400" dirty="0" err="1"/>
              <a:t>mempengaruhi</a:t>
            </a:r>
            <a:r>
              <a:rPr lang="en-ID" sz="2400" dirty="0"/>
              <a:t> </a:t>
            </a:r>
            <a:r>
              <a:rPr lang="en-ID" sz="2400" dirty="0" err="1"/>
              <a:t>sektor</a:t>
            </a:r>
            <a:r>
              <a:rPr lang="en-ID" sz="2400" dirty="0"/>
              <a:t> </a:t>
            </a:r>
            <a:r>
              <a:rPr lang="en-ID" sz="2400" dirty="0" err="1"/>
              <a:t>sensitif</a:t>
            </a:r>
            <a:r>
              <a:rPr lang="en-ID" sz="2400" dirty="0"/>
              <a:t> </a:t>
            </a:r>
            <a:r>
              <a:rPr lang="en-ID" sz="2400" dirty="0" err="1"/>
              <a:t>cuaca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868219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392E9-F3EA-EB89-7981-C2C899DB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500"/>
            <a:ext cx="10515600" cy="52244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Kondisi</a:t>
            </a:r>
            <a:r>
              <a:rPr lang="en-ID" sz="2400" dirty="0"/>
              <a:t>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ringkasan</a:t>
            </a:r>
            <a:r>
              <a:rPr lang="en-ID" sz="2400" dirty="0"/>
              <a:t> </a:t>
            </a:r>
            <a:r>
              <a:rPr lang="en-ID" sz="2400" dirty="0" err="1"/>
              <a:t>singkat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situasi</a:t>
            </a:r>
            <a:r>
              <a:rPr lang="en-ID" sz="2400" dirty="0"/>
              <a:t> yang </a:t>
            </a:r>
            <a:r>
              <a:rPr lang="en-ID" sz="2400" dirty="0" err="1"/>
              <a:t>ada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NMHS dan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kinerjanya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menjalankan</a:t>
            </a:r>
            <a:r>
              <a:rPr lang="en-ID" sz="2400" dirty="0"/>
              <a:t> </a:t>
            </a:r>
            <a:r>
              <a:rPr lang="en-ID" sz="2400" dirty="0" err="1"/>
              <a:t>perannya</a:t>
            </a:r>
            <a:r>
              <a:rPr lang="en-ID" sz="2400" dirty="0"/>
              <a:t>.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termasuk</a:t>
            </a:r>
            <a:r>
              <a:rPr lang="en-ID" sz="2400" dirty="0"/>
              <a:t> </a:t>
            </a:r>
            <a:r>
              <a:rPr lang="en-ID" sz="2400" dirty="0" err="1"/>
              <a:t>faktor</a:t>
            </a:r>
            <a:r>
              <a:rPr lang="en-ID" sz="2400" dirty="0"/>
              <a:t> internal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jumlah</a:t>
            </a:r>
            <a:r>
              <a:rPr lang="en-ID" sz="2400" dirty="0"/>
              <a:t> dan </a:t>
            </a:r>
            <a:r>
              <a:rPr lang="en-ID" sz="2400" dirty="0" err="1"/>
              <a:t>kemampuan</a:t>
            </a:r>
            <a:r>
              <a:rPr lang="en-ID" sz="2400" dirty="0"/>
              <a:t> </a:t>
            </a:r>
            <a:r>
              <a:rPr lang="en-ID" sz="2400" dirty="0" err="1"/>
              <a:t>staf</a:t>
            </a:r>
            <a:r>
              <a:rPr lang="en-ID" sz="2400" dirty="0"/>
              <a:t>, </a:t>
            </a:r>
            <a:r>
              <a:rPr lang="en-ID" sz="2400" dirty="0" err="1"/>
              <a:t>peralatan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 dan </a:t>
            </a:r>
            <a:r>
              <a:rPr lang="en-ID" sz="2400" dirty="0" err="1"/>
              <a:t>infrastruktur</a:t>
            </a:r>
            <a:r>
              <a:rPr lang="en-ID" sz="2400" dirty="0"/>
              <a:t> </a:t>
            </a:r>
            <a:r>
              <a:rPr lang="en-ID" sz="2400" dirty="0" err="1"/>
              <a:t>lainnya</a:t>
            </a:r>
            <a:r>
              <a:rPr lang="en-ID" sz="2400" dirty="0"/>
              <a:t>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keuangan</a:t>
            </a:r>
            <a:endParaRPr lang="en-ID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Posisi</a:t>
            </a:r>
            <a:r>
              <a:rPr lang="en-ID" sz="2400" dirty="0"/>
              <a:t> yang </a:t>
            </a:r>
            <a:r>
              <a:rPr lang="en-ID" sz="2400" dirty="0" err="1"/>
              <a:t>diinginkan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dirty="0" err="1"/>
              <a:t>pernyataan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posisi</a:t>
            </a:r>
            <a:r>
              <a:rPr lang="en-ID" sz="2400" dirty="0"/>
              <a:t> yang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realistis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dicita-citakan</a:t>
            </a:r>
            <a:r>
              <a:rPr lang="en-ID" sz="2400" dirty="0"/>
              <a:t> oleh NMHS pada </a:t>
            </a:r>
            <a:r>
              <a:rPr lang="en-ID" sz="2400" dirty="0" err="1"/>
              <a:t>akhir</a:t>
            </a:r>
            <a:r>
              <a:rPr lang="en-ID" sz="2400" dirty="0"/>
              <a:t> </a:t>
            </a:r>
            <a:r>
              <a:rPr lang="en-ID" sz="2400" dirty="0" err="1"/>
              <a:t>periode</a:t>
            </a:r>
            <a:r>
              <a:rPr lang="en-ID" sz="2400" dirty="0"/>
              <a:t> </a:t>
            </a:r>
            <a:r>
              <a:rPr lang="en-ID" sz="2400" dirty="0" err="1"/>
              <a:t>perencanaan</a:t>
            </a:r>
            <a:endParaRPr lang="en-ID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Analisis</a:t>
            </a:r>
            <a:r>
              <a:rPr lang="en-ID" sz="2400" dirty="0"/>
              <a:t> </a:t>
            </a:r>
            <a:r>
              <a:rPr lang="en-ID" sz="2400" dirty="0" err="1"/>
              <a:t>kesenjangan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identifikasi</a:t>
            </a:r>
            <a:r>
              <a:rPr lang="en-ID" sz="2400" dirty="0"/>
              <a:t> dan </a:t>
            </a:r>
            <a:r>
              <a:rPr lang="en-ID" sz="2400" dirty="0" err="1"/>
              <a:t>diskusi</a:t>
            </a:r>
            <a:r>
              <a:rPr lang="en-ID" sz="2400" dirty="0"/>
              <a:t> </a:t>
            </a:r>
            <a:r>
              <a:rPr lang="en-ID" sz="2400" dirty="0" err="1"/>
              <a:t>singkat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perbedaan</a:t>
            </a:r>
            <a:r>
              <a:rPr lang="en-ID" sz="2400" dirty="0"/>
              <a:t> </a:t>
            </a:r>
            <a:r>
              <a:rPr lang="en-ID" sz="2400" dirty="0" err="1"/>
              <a:t>antara</a:t>
            </a:r>
            <a:r>
              <a:rPr lang="en-ID" sz="2400" dirty="0"/>
              <a:t> </a:t>
            </a:r>
            <a:r>
              <a:rPr lang="en-ID" sz="2400" dirty="0" err="1"/>
              <a:t>posisi</a:t>
            </a:r>
            <a:r>
              <a:rPr lang="en-ID" sz="2400" dirty="0"/>
              <a:t> yang </a:t>
            </a:r>
            <a:r>
              <a:rPr lang="en-ID" sz="2400" dirty="0" err="1"/>
              <a:t>diinginkan</a:t>
            </a:r>
            <a:r>
              <a:rPr lang="en-ID" sz="2400" dirty="0"/>
              <a:t> dan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970877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CE58-D120-49EE-0E4A-28352772C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6686"/>
            <a:ext cx="10515600" cy="5480277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Analisis</a:t>
            </a:r>
            <a:r>
              <a:rPr lang="en-ID" sz="2400" dirty="0"/>
              <a:t> </a:t>
            </a:r>
            <a:r>
              <a:rPr lang="en-ID" sz="2400" dirty="0" err="1"/>
              <a:t>kekuatan</a:t>
            </a:r>
            <a:r>
              <a:rPr lang="en-ID" sz="2400" dirty="0"/>
              <a:t>, </a:t>
            </a:r>
            <a:r>
              <a:rPr lang="en-ID" sz="2400" dirty="0" err="1"/>
              <a:t>kelemahan</a:t>
            </a:r>
            <a:r>
              <a:rPr lang="en-ID" sz="2400" dirty="0"/>
              <a:t>, </a:t>
            </a:r>
            <a:r>
              <a:rPr lang="en-ID" sz="2400" dirty="0" err="1"/>
              <a:t>peluang</a:t>
            </a:r>
            <a:r>
              <a:rPr lang="en-ID" sz="2400" dirty="0"/>
              <a:t> dan </a:t>
            </a:r>
            <a:r>
              <a:rPr lang="en-ID" sz="2400" dirty="0" err="1"/>
              <a:t>ancaman</a:t>
            </a:r>
            <a:r>
              <a:rPr lang="en-ID" sz="2400" dirty="0"/>
              <a:t> (SWOT)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sv-SE" sz="2400" dirty="0"/>
              <a:t>Sasaran, strategi, dan tindakan yaitu penetapan tujuan utama dan menguraikan strategi dan tindakan khusus untuk mencapainya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jika</a:t>
            </a:r>
            <a:r>
              <a:rPr lang="en-ID" sz="2400" dirty="0"/>
              <a:t> </a:t>
            </a:r>
            <a:r>
              <a:rPr lang="en-ID" sz="2400" dirty="0" err="1"/>
              <a:t>dokumen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digunakan</a:t>
            </a:r>
            <a:r>
              <a:rPr lang="en-ID" sz="2400" dirty="0"/>
              <a:t> </a:t>
            </a:r>
            <a:r>
              <a:rPr lang="en-ID" sz="2400" dirty="0" err="1"/>
              <a:t>sebagai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argumen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pendanaan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jika</a:t>
            </a:r>
            <a:r>
              <a:rPr lang="en-ID" sz="2400" dirty="0"/>
              <a:t> </a:t>
            </a:r>
            <a:r>
              <a:rPr lang="en-ID" sz="2400" dirty="0" err="1"/>
              <a:t>digunakan</a:t>
            </a:r>
            <a:r>
              <a:rPr lang="en-ID" sz="2400" dirty="0"/>
              <a:t> </a:t>
            </a:r>
            <a:r>
              <a:rPr lang="en-ID" sz="2400" dirty="0" err="1"/>
              <a:t>terutama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internal,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garis </a:t>
            </a:r>
            <a:r>
              <a:rPr lang="en-ID" sz="2400" dirty="0" err="1"/>
              <a:t>besar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keuangan</a:t>
            </a:r>
            <a:r>
              <a:rPr lang="en-ID" sz="2400" dirty="0"/>
              <a:t>, </a:t>
            </a:r>
            <a:r>
              <a:rPr lang="en-ID" sz="2400" dirty="0" err="1"/>
              <a:t>staf</a:t>
            </a:r>
            <a:r>
              <a:rPr lang="en-ID" sz="2400" dirty="0"/>
              <a:t>, dan </a:t>
            </a:r>
            <a:r>
              <a:rPr lang="en-ID" sz="2400" dirty="0" err="1"/>
              <a:t>teknis</a:t>
            </a:r>
            <a:r>
              <a:rPr lang="en-ID" sz="2400" dirty="0"/>
              <a:t> yang </a:t>
            </a:r>
            <a:r>
              <a:rPr lang="en-ID" sz="2400" dirty="0" err="1"/>
              <a:t>diperlukan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mengimplementasikan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(</a:t>
            </a:r>
            <a:r>
              <a:rPr lang="en-ID" sz="2400" dirty="0" err="1"/>
              <a:t>lihat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selanjutnya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tenaga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dan </a:t>
            </a:r>
            <a:r>
              <a:rPr lang="en-ID" sz="2400" dirty="0" err="1"/>
              <a:t>perencanaan</a:t>
            </a:r>
            <a:r>
              <a:rPr lang="en-ID" sz="2400" dirty="0"/>
              <a:t> </a:t>
            </a:r>
            <a:r>
              <a:rPr lang="en-ID" sz="2400" dirty="0" err="1"/>
              <a:t>keuangan</a:t>
            </a:r>
            <a:r>
              <a:rPr lang="en-ID" sz="2400" dirty="0"/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Pengukuran</a:t>
            </a:r>
            <a:r>
              <a:rPr lang="en-ID" sz="2400" dirty="0"/>
              <a:t>, </a:t>
            </a:r>
            <a:r>
              <a:rPr lang="en-ID" sz="2400" dirty="0" err="1"/>
              <a:t>pemantauan</a:t>
            </a:r>
            <a:r>
              <a:rPr lang="en-ID" sz="2400" dirty="0"/>
              <a:t>, dan </a:t>
            </a:r>
            <a:r>
              <a:rPr lang="en-ID" sz="2400" dirty="0" err="1"/>
              <a:t>tinjauan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mengidentifikasi</a:t>
            </a:r>
            <a:r>
              <a:rPr lang="en-ID" sz="2400" dirty="0"/>
              <a:t> </a:t>
            </a:r>
            <a:r>
              <a:rPr lang="en-ID" sz="2400" dirty="0" err="1"/>
              <a:t>ukuran</a:t>
            </a:r>
            <a:r>
              <a:rPr lang="en-ID" sz="2400" dirty="0"/>
              <a:t> </a:t>
            </a:r>
            <a:r>
              <a:rPr lang="en-ID" sz="2400" dirty="0" err="1"/>
              <a:t>utama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,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kemajuan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dipantau</a:t>
            </a:r>
            <a:r>
              <a:rPr lang="en-ID" sz="2400" dirty="0"/>
              <a:t> dan </a:t>
            </a:r>
            <a:r>
              <a:rPr lang="en-ID" sz="2400" dirty="0" err="1"/>
              <a:t>kapan</a:t>
            </a:r>
            <a:r>
              <a:rPr lang="en-ID" sz="2400" dirty="0"/>
              <a:t>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ditinjau</a:t>
            </a:r>
            <a:r>
              <a:rPr lang="en-ID" sz="2400" dirty="0"/>
              <a:t> (</a:t>
            </a:r>
            <a:r>
              <a:rPr lang="en-ID" sz="2400" dirty="0" err="1"/>
              <a:t>lihat</a:t>
            </a:r>
            <a:r>
              <a:rPr lang="en-ID" sz="2400" dirty="0"/>
              <a:t> juga </a:t>
            </a:r>
            <a:r>
              <a:rPr lang="en-ID" sz="2400" dirty="0" err="1"/>
              <a:t>bagian</a:t>
            </a:r>
            <a:r>
              <a:rPr lang="en-ID" sz="2400" dirty="0"/>
              <a:t> di </a:t>
            </a:r>
            <a:r>
              <a:rPr lang="en-ID" sz="2400" dirty="0" err="1"/>
              <a:t>bawah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pengaturan</a:t>
            </a:r>
            <a:r>
              <a:rPr lang="en-ID" sz="2400" dirty="0"/>
              <a:t> dan </a:t>
            </a:r>
            <a:r>
              <a:rPr lang="en-ID" sz="2400" dirty="0" err="1"/>
              <a:t>pelaporan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8513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1672-1139-72EE-D0AF-EC78A32E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845"/>
          </a:xfrm>
        </p:spPr>
        <p:txBody>
          <a:bodyPr>
            <a:normAutofit/>
          </a:bodyPr>
          <a:lstStyle/>
          <a:p>
            <a:r>
              <a:rPr lang="en-ID" sz="2400" b="1" dirty="0"/>
              <a:t>ANNUAL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C332E-FD8D-BD9E-F881-841658F2B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7814"/>
            <a:ext cx="10515600" cy="515914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tahunan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NMHS </a:t>
            </a:r>
            <a:r>
              <a:rPr lang="en-ID" sz="2400" dirty="0" err="1"/>
              <a:t>biasanya</a:t>
            </a:r>
            <a:r>
              <a:rPr lang="en-ID" sz="2400" dirty="0"/>
              <a:t>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operasional</a:t>
            </a:r>
            <a:r>
              <a:rPr lang="en-ID" sz="2400" dirty="0"/>
              <a:t> yang </a:t>
            </a:r>
            <a:r>
              <a:rPr lang="en-ID" sz="2400" dirty="0" err="1"/>
              <a:t>dirancang</a:t>
            </a:r>
            <a:r>
              <a:rPr lang="en-ID" sz="2400" dirty="0"/>
              <a:t> agar </a:t>
            </a:r>
            <a:r>
              <a:rPr lang="en-ID" sz="2400" dirty="0" err="1"/>
              <a:t>selaras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dan </a:t>
            </a:r>
            <a:r>
              <a:rPr lang="en-ID" sz="2400" dirty="0" err="1"/>
              <a:t>mendukung</a:t>
            </a:r>
            <a:r>
              <a:rPr lang="en-ID" sz="2400" dirty="0"/>
              <a:t> proposal </a:t>
            </a:r>
            <a:r>
              <a:rPr lang="en-ID" sz="2400" dirty="0" err="1"/>
              <a:t>anggaran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/>
              <a:t>Fitur </a:t>
            </a:r>
            <a:r>
              <a:rPr lang="en-ID" sz="2400" dirty="0" err="1"/>
              <a:t>utama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tahunan</a:t>
            </a:r>
            <a:r>
              <a:rPr lang="en-ID" sz="2400" dirty="0"/>
              <a:t> </a:t>
            </a:r>
            <a:r>
              <a:rPr lang="en-ID" sz="2400" dirty="0" err="1"/>
              <a:t>biasanya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Pengaturan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yang </a:t>
            </a:r>
            <a:r>
              <a:rPr lang="en-ID" sz="2400" dirty="0" err="1"/>
              <a:t>diidentifikasi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Keluaran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spesifik</a:t>
            </a:r>
            <a:r>
              <a:rPr lang="en-ID" sz="2400" dirty="0"/>
              <a:t> yang </a:t>
            </a:r>
            <a:r>
              <a:rPr lang="en-ID" sz="2400" dirty="0" err="1"/>
              <a:t>ingin</a:t>
            </a:r>
            <a:r>
              <a:rPr lang="en-ID" sz="2400" dirty="0"/>
              <a:t> </a:t>
            </a:r>
            <a:r>
              <a:rPr lang="en-ID" sz="2400" dirty="0" err="1"/>
              <a:t>dicapai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tahun</a:t>
            </a:r>
            <a:r>
              <a:rPr lang="en-ID" sz="2400" dirty="0"/>
              <a:t> </a:t>
            </a:r>
            <a:r>
              <a:rPr lang="en-ID" sz="2400" dirty="0" err="1"/>
              <a:t>anggaran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Kegiatan</a:t>
            </a:r>
            <a:r>
              <a:rPr lang="en-ID" sz="2400" dirty="0"/>
              <a:t> yang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dilakukan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mencapai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dan </a:t>
            </a:r>
            <a:r>
              <a:rPr lang="en-ID" sz="2400" dirty="0" err="1"/>
              <a:t>aktivitas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Identifikasi</a:t>
            </a:r>
            <a:r>
              <a:rPr lang="en-ID" sz="2400" dirty="0"/>
              <a:t> </a:t>
            </a:r>
            <a:r>
              <a:rPr lang="en-ID" sz="2400" dirty="0" err="1"/>
              <a:t>penanggung</a:t>
            </a:r>
            <a:r>
              <a:rPr lang="en-ID" sz="2400" dirty="0"/>
              <a:t> </a:t>
            </a:r>
            <a:r>
              <a:rPr lang="en-ID" sz="2400" dirty="0" err="1"/>
              <a:t>jawab</a:t>
            </a:r>
            <a:r>
              <a:rPr lang="en-ID" sz="2400" dirty="0"/>
              <a:t> </a:t>
            </a:r>
            <a:r>
              <a:rPr lang="en-ID" sz="2400" dirty="0" err="1"/>
              <a:t>kegiatan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yang </a:t>
            </a:r>
            <a:r>
              <a:rPr lang="en-ID" sz="2400" dirty="0" err="1"/>
              <a:t>dialokasikan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mengimplementasikan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Mekanisme</a:t>
            </a:r>
            <a:r>
              <a:rPr lang="en-ID" sz="2400" dirty="0"/>
              <a:t> </a:t>
            </a:r>
            <a:r>
              <a:rPr lang="en-ID" sz="2400" dirty="0" err="1"/>
              <a:t>pemantauan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935818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944C7-E312-DF14-B8C5-DE2FA92A2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9452"/>
            <a:ext cx="10515600" cy="514123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D" sz="2400" dirty="0" err="1"/>
              <a:t>Komponen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tahunan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dasar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penyusunan</a:t>
            </a:r>
            <a:r>
              <a:rPr lang="en-ID" sz="2400" dirty="0"/>
              <a:t> </a:t>
            </a:r>
            <a:r>
              <a:rPr lang="en-ID" sz="2400" dirty="0" err="1"/>
              <a:t>laporan</a:t>
            </a:r>
            <a:r>
              <a:rPr lang="en-ID" sz="2400" dirty="0"/>
              <a:t> </a:t>
            </a:r>
            <a:r>
              <a:rPr lang="en-ID" sz="2400" dirty="0" err="1"/>
              <a:t>tahunan</a:t>
            </a:r>
            <a:r>
              <a:rPr lang="en-ID" sz="2400" dirty="0"/>
              <a:t> NMHS</a:t>
            </a:r>
          </a:p>
          <a:p>
            <a:pPr algn="just"/>
            <a:r>
              <a:rPr lang="en-ID" sz="2400" dirty="0" err="1"/>
              <a:t>Struktur</a:t>
            </a:r>
            <a:r>
              <a:rPr lang="en-ID" sz="2400" dirty="0"/>
              <a:t> dan detail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bergantung</a:t>
            </a:r>
            <a:r>
              <a:rPr lang="en-ID" sz="2400" dirty="0"/>
              <a:t> pada </a:t>
            </a:r>
            <a:r>
              <a:rPr lang="en-ID" sz="2400" dirty="0" err="1"/>
              <a:t>ruang</a:t>
            </a:r>
            <a:r>
              <a:rPr lang="en-ID" sz="2400" dirty="0"/>
              <a:t> </a:t>
            </a:r>
            <a:r>
              <a:rPr lang="en-ID" sz="2400" dirty="0" err="1"/>
              <a:t>lingkup</a:t>
            </a:r>
            <a:r>
              <a:rPr lang="en-ID" sz="2400" dirty="0"/>
              <a:t> </a:t>
            </a:r>
            <a:r>
              <a:rPr lang="en-ID" sz="2400" dirty="0" err="1"/>
              <a:t>fungsi</a:t>
            </a:r>
            <a:r>
              <a:rPr lang="en-ID" sz="2400" dirty="0"/>
              <a:t> yang </a:t>
            </a:r>
            <a:r>
              <a:rPr lang="en-ID" sz="2400" dirty="0" err="1"/>
              <a:t>dijalankan</a:t>
            </a:r>
            <a:r>
              <a:rPr lang="en-ID" sz="2400" dirty="0"/>
              <a:t> oleh NMHS. Program inti </a:t>
            </a:r>
            <a:r>
              <a:rPr lang="en-ID" sz="2400" dirty="0" err="1"/>
              <a:t>tipikal</a:t>
            </a:r>
            <a:r>
              <a:rPr lang="en-ID" sz="2400" dirty="0"/>
              <a:t>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termasuk</a:t>
            </a:r>
            <a:r>
              <a:rPr lang="en-ID" sz="2400" dirty="0"/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Pengamatan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Komunikasi</a:t>
            </a:r>
            <a:r>
              <a:rPr lang="en-ID" sz="2400" dirty="0"/>
              <a:t> dan </a:t>
            </a:r>
            <a:r>
              <a:rPr lang="en-ID" sz="2400" dirty="0" err="1"/>
              <a:t>komputasi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Layanan</a:t>
            </a:r>
            <a:r>
              <a:rPr lang="en-ID" sz="2400" dirty="0"/>
              <a:t> dan </a:t>
            </a:r>
            <a:r>
              <a:rPr lang="en-ID" sz="2400" dirty="0" err="1"/>
              <a:t>peringatan</a:t>
            </a:r>
            <a:r>
              <a:rPr lang="en-ID" sz="2400" dirty="0"/>
              <a:t> </a:t>
            </a:r>
            <a:r>
              <a:rPr lang="en-ID" sz="2400" dirty="0" err="1"/>
              <a:t>cuaca</a:t>
            </a:r>
            <a:r>
              <a:rPr lang="en-ID" sz="2400" dirty="0"/>
              <a:t> (dan </a:t>
            </a:r>
            <a:r>
              <a:rPr lang="en-ID" sz="2400" dirty="0" err="1"/>
              <a:t>subkomponen</a:t>
            </a:r>
            <a:r>
              <a:rPr lang="en-ID" sz="2400" dirty="0"/>
              <a:t>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penerbangan</a:t>
            </a:r>
            <a:r>
              <a:rPr lang="en-ID" sz="2400" dirty="0"/>
              <a:t>, </a:t>
            </a:r>
            <a:r>
              <a:rPr lang="en-ID" sz="2400" dirty="0" err="1"/>
              <a:t>kelautan</a:t>
            </a:r>
            <a:r>
              <a:rPr lang="en-ID" sz="2400" dirty="0"/>
              <a:t>,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publik</a:t>
            </a:r>
            <a:r>
              <a:rPr lang="en-ID" sz="2400" dirty="0"/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iklim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sv-SE" sz="2400" dirty="0"/>
              <a:t>Layanan hidrologi atau air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sv-SE" sz="2400" dirty="0"/>
              <a:t>Riset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sv-SE" sz="2400" dirty="0"/>
              <a:t>Program internasional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356487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472E-DC9D-D417-3E40-2C58FD92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775"/>
          </a:xfrm>
        </p:spPr>
        <p:txBody>
          <a:bodyPr>
            <a:normAutofit/>
          </a:bodyPr>
          <a:lstStyle/>
          <a:p>
            <a:r>
              <a:rPr lang="en-ID" sz="2400" b="1" dirty="0"/>
              <a:t>PROJECT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99FF3-921B-E686-3AC1-232D76195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943"/>
            <a:ext cx="10515600" cy="48380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mirip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tahunan</a:t>
            </a:r>
            <a:r>
              <a:rPr lang="en-ID" sz="2400" dirty="0"/>
              <a:t> </a:t>
            </a:r>
            <a:r>
              <a:rPr lang="en-ID" sz="2400" dirty="0" err="1"/>
              <a:t>tetapi</a:t>
            </a:r>
            <a:r>
              <a:rPr lang="en-ID" sz="2400" dirty="0"/>
              <a:t> </a:t>
            </a:r>
            <a:r>
              <a:rPr lang="en-ID" sz="2400" dirty="0" err="1"/>
              <a:t>berfokus</a:t>
            </a:r>
            <a:r>
              <a:rPr lang="en-ID" sz="2400" dirty="0"/>
              <a:t> pada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 </a:t>
            </a:r>
            <a:r>
              <a:rPr lang="en-ID" sz="2400" dirty="0" err="1"/>
              <a:t>selama</a:t>
            </a:r>
            <a:r>
              <a:rPr lang="en-ID" sz="2400" dirty="0"/>
              <a:t> </a:t>
            </a:r>
            <a:r>
              <a:rPr lang="en-ID" sz="2400" dirty="0" err="1"/>
              <a:t>periode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bervariasi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bulan</a:t>
            </a:r>
            <a:r>
              <a:rPr lang="en-ID" sz="2400" dirty="0"/>
              <a:t> </a:t>
            </a:r>
            <a:r>
              <a:rPr lang="en-ID" sz="2400" dirty="0" err="1"/>
              <a:t>hingga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tahun</a:t>
            </a:r>
            <a:r>
              <a:rPr lang="en-ID" sz="2400" dirty="0"/>
              <a:t>.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kasus</a:t>
            </a:r>
            <a:r>
              <a:rPr lang="en-ID" sz="2400" dirty="0"/>
              <a:t>,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dimasukkan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tahunan</a:t>
            </a:r>
            <a:r>
              <a:rPr lang="en-ID" sz="2400" dirty="0"/>
              <a:t> NMHS</a:t>
            </a:r>
          </a:p>
          <a:p>
            <a:pPr algn="just"/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biasanya</a:t>
            </a:r>
            <a:r>
              <a:rPr lang="en-ID" sz="2400" dirty="0"/>
              <a:t> </a:t>
            </a:r>
            <a:r>
              <a:rPr lang="en-ID" sz="2400" dirty="0" err="1"/>
              <a:t>diperlukan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peningkatan</a:t>
            </a:r>
            <a:r>
              <a:rPr lang="en-ID" sz="2400" dirty="0"/>
              <a:t>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besar</a:t>
            </a:r>
            <a:r>
              <a:rPr lang="en-ID" sz="2400" dirty="0"/>
              <a:t> yang </a:t>
            </a:r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anggaran</a:t>
            </a:r>
            <a:r>
              <a:rPr lang="en-ID" sz="2400" dirty="0"/>
              <a:t> yang </a:t>
            </a:r>
            <a:r>
              <a:rPr lang="en-ID" sz="2400" dirty="0" err="1"/>
              <a:t>diidentifikasi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khusus</a:t>
            </a:r>
            <a:r>
              <a:rPr lang="en-ID" sz="2400" dirty="0"/>
              <a:t>. Donor </a:t>
            </a:r>
            <a:r>
              <a:rPr lang="en-ID" sz="2400" dirty="0" err="1"/>
              <a:t>memerlukan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dan </a:t>
            </a:r>
            <a:r>
              <a:rPr lang="en-ID" sz="2400" dirty="0" err="1"/>
              <a:t>seringkali</a:t>
            </a:r>
            <a:r>
              <a:rPr lang="en-ID" sz="2400" dirty="0"/>
              <a:t> </a:t>
            </a:r>
            <a:r>
              <a:rPr lang="en-ID" sz="2400" dirty="0" err="1"/>
              <a:t>telah</a:t>
            </a:r>
            <a:r>
              <a:rPr lang="en-ID" sz="2400" dirty="0"/>
              <a:t> </a:t>
            </a:r>
            <a:r>
              <a:rPr lang="en-ID" sz="2400" dirty="0" err="1"/>
              <a:t>menetapkan</a:t>
            </a:r>
            <a:r>
              <a:rPr lang="en-ID" sz="2400" dirty="0"/>
              <a:t> format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.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mencakup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didukung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keseluruhan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NMHS dan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bertujuan</a:t>
            </a:r>
            <a:r>
              <a:rPr lang="en-ID" sz="2400" dirty="0"/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mendefinisikan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mengatakan</a:t>
            </a:r>
            <a:r>
              <a:rPr lang="en-ID" sz="2400" dirty="0"/>
              <a:t> </a:t>
            </a:r>
            <a:r>
              <a:rPr lang="en-ID" sz="2400" dirty="0" err="1"/>
              <a:t>apa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itu</a:t>
            </a:r>
            <a:r>
              <a:rPr lang="en-ID" sz="2400" dirty="0"/>
              <a:t> dan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mengendalikannya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mendukung</a:t>
            </a:r>
            <a:r>
              <a:rPr lang="en-ID" sz="2400" dirty="0"/>
              <a:t> </a:t>
            </a:r>
            <a:r>
              <a:rPr lang="en-ID" sz="2400" dirty="0" err="1"/>
              <a:t>pengambilan</a:t>
            </a:r>
            <a:r>
              <a:rPr lang="en-ID" sz="2400" dirty="0"/>
              <a:t> </a:t>
            </a:r>
            <a:r>
              <a:rPr lang="en-ID" sz="2400" dirty="0" err="1"/>
              <a:t>keputusan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menyediakan</a:t>
            </a:r>
            <a:r>
              <a:rPr lang="en-ID" sz="2400" dirty="0"/>
              <a:t> sponsor</a:t>
            </a:r>
          </a:p>
        </p:txBody>
      </p:sp>
    </p:spTree>
    <p:extLst>
      <p:ext uri="{BB962C8B-B14F-4D97-AF65-F5344CB8AC3E}">
        <p14:creationId xmlns:p14="http://schemas.microsoft.com/office/powerpoint/2010/main" val="3293312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E437-07DF-87ED-2EDA-FD963F8EB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9471"/>
            <a:ext cx="10515600" cy="5507492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referensi</a:t>
            </a:r>
            <a:r>
              <a:rPr lang="en-ID" sz="2400" dirty="0"/>
              <a:t> </a:t>
            </a:r>
            <a:r>
              <a:rPr lang="en-ID" sz="2400" dirty="0" err="1"/>
              <a:t>berkelanjutan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bagi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yang </a:t>
            </a:r>
            <a:r>
              <a:rPr lang="en-ID" sz="2400" dirty="0" err="1"/>
              <a:t>datang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nanti</a:t>
            </a:r>
            <a:r>
              <a:rPr lang="en-ID" sz="2400" dirty="0"/>
              <a:t> dan </a:t>
            </a:r>
            <a:r>
              <a:rPr lang="en-ID" sz="2400" dirty="0" err="1"/>
              <a:t>mereka</a:t>
            </a:r>
            <a:r>
              <a:rPr lang="en-ID" sz="2400" dirty="0"/>
              <a:t> yang </a:t>
            </a:r>
            <a:r>
              <a:rPr lang="en-ID" sz="2400" dirty="0" err="1"/>
              <a:t>perlu</a:t>
            </a:r>
            <a:r>
              <a:rPr lang="en-ID" sz="2400" dirty="0"/>
              <a:t> </a:t>
            </a:r>
            <a:r>
              <a:rPr lang="en-ID" sz="2400" dirty="0" err="1"/>
              <a:t>mengetahui</a:t>
            </a:r>
            <a:r>
              <a:rPr lang="en-ID" sz="2400" dirty="0"/>
              <a:t> </a:t>
            </a:r>
            <a:r>
              <a:rPr lang="en-ID" sz="2400" dirty="0" err="1"/>
              <a:t>apa</a:t>
            </a:r>
            <a:r>
              <a:rPr lang="en-ID" sz="2400" dirty="0"/>
              <a:t> </a:t>
            </a:r>
            <a:r>
              <a:rPr lang="en-ID" sz="2400" dirty="0" err="1"/>
              <a:t>prosedur</a:t>
            </a:r>
            <a:r>
              <a:rPr lang="en-ID" sz="2400" dirty="0"/>
              <a:t> dan </a:t>
            </a:r>
            <a:r>
              <a:rPr lang="en-ID" sz="2400" dirty="0" err="1"/>
              <a:t>kontrolnya</a:t>
            </a:r>
            <a:r>
              <a:rPr lang="en-ID" sz="2400" dirty="0"/>
              <a:t>, </a:t>
            </a:r>
            <a:r>
              <a:rPr lang="en-ID" sz="2400" dirty="0" err="1"/>
              <a:t>misalnya</a:t>
            </a:r>
            <a:r>
              <a:rPr lang="en-ID" sz="2400" dirty="0"/>
              <a:t>,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mengajukan</a:t>
            </a:r>
            <a:r>
              <a:rPr lang="en-ID" sz="2400" dirty="0"/>
              <a:t> </a:t>
            </a:r>
            <a:r>
              <a:rPr lang="en-ID" sz="2400" dirty="0" err="1"/>
              <a:t>perubahan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melaporkan</a:t>
            </a:r>
            <a:r>
              <a:rPr lang="en-ID" sz="2400" dirty="0"/>
              <a:t> </a:t>
            </a:r>
            <a:r>
              <a:rPr lang="en-ID" sz="2400" dirty="0" err="1"/>
              <a:t>risiko</a:t>
            </a:r>
            <a:r>
              <a:rPr lang="en-ID" sz="2400" dirty="0"/>
              <a:t> </a:t>
            </a:r>
            <a:r>
              <a:rPr lang="en-ID" sz="2400" dirty="0" err="1"/>
              <a:t>baru</a:t>
            </a:r>
            <a:endParaRPr lang="en-ID" sz="2400" dirty="0"/>
          </a:p>
          <a:p>
            <a:pPr algn="just"/>
            <a:endParaRPr lang="en-ID" sz="2400" dirty="0"/>
          </a:p>
          <a:p>
            <a:pPr algn="just"/>
            <a:r>
              <a:rPr lang="en-ID" sz="2400" b="1" dirty="0"/>
              <a:t>Bagian </a:t>
            </a:r>
            <a:r>
              <a:rPr lang="en-ID" sz="2400" b="1" dirty="0" err="1"/>
              <a:t>komponen</a:t>
            </a:r>
            <a:r>
              <a:rPr lang="en-ID" sz="2400" b="1" dirty="0"/>
              <a:t> </a:t>
            </a:r>
            <a:r>
              <a:rPr lang="en-ID" sz="2400" b="1" dirty="0" err="1"/>
              <a:t>dari</a:t>
            </a:r>
            <a:r>
              <a:rPr lang="en-ID" sz="2400" b="1" dirty="0"/>
              <a:t> </a:t>
            </a:r>
            <a:r>
              <a:rPr lang="en-ID" sz="2400" b="1" dirty="0" err="1"/>
              <a:t>piagam</a:t>
            </a:r>
            <a:r>
              <a:rPr lang="en-ID" sz="2400" b="1" dirty="0"/>
              <a:t> </a:t>
            </a:r>
            <a:r>
              <a:rPr lang="en-ID" sz="2400" b="1" dirty="0" err="1"/>
              <a:t>proyek</a:t>
            </a:r>
            <a:r>
              <a:rPr lang="en-ID" sz="2400" b="1" dirty="0"/>
              <a:t> yang </a:t>
            </a:r>
            <a:r>
              <a:rPr lang="en-ID" sz="2400" b="1" dirty="0" err="1"/>
              <a:t>sukses</a:t>
            </a:r>
            <a:r>
              <a:rPr lang="en-ID" sz="2400" b="1" dirty="0"/>
              <a:t> </a:t>
            </a:r>
            <a:r>
              <a:rPr lang="en-ID" sz="2400" b="1" dirty="0" err="1"/>
              <a:t>adalah</a:t>
            </a:r>
            <a:r>
              <a:rPr lang="en-ID" sz="2400" dirty="0"/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yang </a:t>
            </a:r>
            <a:r>
              <a:rPr lang="en-ID" sz="2400" dirty="0" err="1"/>
              <a:t>disepakati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Scope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apa</a:t>
            </a:r>
            <a:r>
              <a:rPr lang="en-ID" sz="2400" dirty="0"/>
              <a:t> yang </a:t>
            </a:r>
            <a:r>
              <a:rPr lang="en-ID" sz="2400" dirty="0" err="1"/>
              <a:t>termasuk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dan </a:t>
            </a:r>
            <a:r>
              <a:rPr lang="en-ID" sz="2400" dirty="0" err="1"/>
              <a:t>apa</a:t>
            </a:r>
            <a:r>
              <a:rPr lang="en-ID" sz="2400" dirty="0"/>
              <a:t> yang </a:t>
            </a:r>
            <a:r>
              <a:rPr lang="en-ID" sz="2400" dirty="0" err="1"/>
              <a:t>dikecualikan</a:t>
            </a:r>
            <a:r>
              <a:rPr lang="en-ID" sz="2400" dirty="0"/>
              <a:t>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Kasus</a:t>
            </a:r>
            <a:r>
              <a:rPr lang="en-ID" sz="2400" dirty="0"/>
              <a:t> </a:t>
            </a:r>
            <a:r>
              <a:rPr lang="en-ID" sz="2400" dirty="0" err="1"/>
              <a:t>bisnis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justifikasi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menjalankan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, </a:t>
            </a:r>
            <a:r>
              <a:rPr lang="en-ID" sz="2400" dirty="0" err="1"/>
              <a:t>bersama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daftar </a:t>
            </a:r>
            <a:r>
              <a:rPr lang="en-ID" sz="2400" dirty="0" err="1"/>
              <a:t>manfaat</a:t>
            </a:r>
            <a:r>
              <a:rPr lang="en-ID" sz="2400" dirty="0"/>
              <a:t> dan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pengukurannya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Peran dan </a:t>
            </a:r>
            <a:r>
              <a:rPr lang="en-ID" sz="2400" dirty="0" err="1"/>
              <a:t>tanggung</a:t>
            </a:r>
            <a:r>
              <a:rPr lang="en-ID" sz="2400" dirty="0"/>
              <a:t> </a:t>
            </a:r>
            <a:r>
              <a:rPr lang="en-ID" sz="2400" dirty="0" err="1"/>
              <a:t>jawab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siapa</a:t>
            </a:r>
            <a:r>
              <a:rPr lang="en-ID" sz="2400" dirty="0"/>
              <a:t>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apa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;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juga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mencantumkan</a:t>
            </a:r>
            <a:r>
              <a:rPr lang="en-ID" sz="2400" dirty="0"/>
              <a:t> </a:t>
            </a:r>
            <a:r>
              <a:rPr lang="en-ID" sz="2400" dirty="0" err="1"/>
              <a:t>pemangku</a:t>
            </a:r>
            <a:r>
              <a:rPr lang="en-ID" sz="2400" dirty="0"/>
              <a:t> </a:t>
            </a:r>
            <a:r>
              <a:rPr lang="en-ID" sz="2400" dirty="0" err="1"/>
              <a:t>kepentingan</a:t>
            </a:r>
            <a:r>
              <a:rPr lang="en-ID" sz="2400" dirty="0"/>
              <a:t>,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yang </a:t>
            </a:r>
            <a:r>
              <a:rPr lang="en-ID" sz="2400" dirty="0" err="1"/>
              <a:t>berkepentingan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84484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5A379-992D-A3F5-E755-067C8C59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8843"/>
            <a:ext cx="10515600" cy="563812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pengelolaan</a:t>
            </a:r>
            <a:r>
              <a:rPr lang="en-ID" sz="2400" dirty="0"/>
              <a:t> </a:t>
            </a:r>
            <a:r>
              <a:rPr lang="en-ID" sz="2400" dirty="0" err="1"/>
              <a:t>komunikasi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apa</a:t>
            </a:r>
            <a:r>
              <a:rPr lang="en-ID" sz="2400" dirty="0"/>
              <a:t> yang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diberikan</a:t>
            </a:r>
            <a:r>
              <a:rPr lang="en-ID" sz="2400" dirty="0"/>
              <a:t> dan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itu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dikomunikasikan</a:t>
            </a:r>
            <a:r>
              <a:rPr lang="en-ID" sz="2400" dirty="0"/>
              <a:t>, </a:t>
            </a:r>
            <a:r>
              <a:rPr lang="en-ID" sz="2400" dirty="0" err="1"/>
              <a:t>termasuk</a:t>
            </a:r>
            <a:r>
              <a:rPr lang="en-ID" sz="2400" dirty="0"/>
              <a:t> </a:t>
            </a:r>
            <a:r>
              <a:rPr lang="en-ID" sz="2400" dirty="0" err="1"/>
              <a:t>laporan</a:t>
            </a:r>
            <a:r>
              <a:rPr lang="en-ID" sz="2400" dirty="0"/>
              <a:t> internal </a:t>
            </a:r>
            <a:r>
              <a:rPr lang="en-ID" sz="2400" dirty="0" err="1"/>
              <a:t>proyek</a:t>
            </a:r>
            <a:r>
              <a:rPr lang="en-ID" sz="2400" dirty="0"/>
              <a:t> (yang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bersifat</a:t>
            </a:r>
            <a:r>
              <a:rPr lang="en-ID" sz="2400" dirty="0"/>
              <a:t> </a:t>
            </a:r>
            <a:r>
              <a:rPr lang="en-ID" sz="2400" dirty="0" err="1"/>
              <a:t>lisan</a:t>
            </a:r>
            <a:r>
              <a:rPr lang="en-ID" sz="2400" dirty="0"/>
              <a:t>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kualitas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kualitas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,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mencapai</a:t>
            </a:r>
            <a:r>
              <a:rPr lang="en-ID" sz="2400" dirty="0"/>
              <a:t> </a:t>
            </a:r>
            <a:r>
              <a:rPr lang="en-ID" sz="2400" dirty="0" err="1"/>
              <a:t>kualitas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dan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diaudit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memastikan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kualitas</a:t>
            </a:r>
            <a:r>
              <a:rPr lang="en-ID" sz="2400" dirty="0"/>
              <a:t> </a:t>
            </a:r>
            <a:r>
              <a:rPr lang="en-ID" sz="2400" dirty="0" err="1"/>
              <a:t>memang</a:t>
            </a:r>
            <a:r>
              <a:rPr lang="en-ID" sz="2400" dirty="0"/>
              <a:t> </a:t>
            </a:r>
            <a:r>
              <a:rPr lang="en-ID" sz="2400" dirty="0" err="1"/>
              <a:t>telah</a:t>
            </a:r>
            <a:r>
              <a:rPr lang="en-ID" sz="2400" dirty="0"/>
              <a:t> </a:t>
            </a:r>
            <a:r>
              <a:rPr lang="en-ID" sz="2400" dirty="0" err="1"/>
              <a:t>tercapai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risiko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risiko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dikendalikan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dan </a:t>
            </a:r>
            <a:r>
              <a:rPr lang="en-ID" sz="2400" dirty="0" err="1"/>
              <a:t>siapa</a:t>
            </a:r>
            <a:r>
              <a:rPr lang="en-ID" sz="2400" dirty="0"/>
              <a:t> yang </a:t>
            </a:r>
            <a:r>
              <a:rPr lang="en-ID" sz="2400" dirty="0" err="1"/>
              <a:t>bertanggung</a:t>
            </a:r>
            <a:r>
              <a:rPr lang="en-ID" sz="2400" dirty="0"/>
              <a:t> </a:t>
            </a:r>
            <a:r>
              <a:rPr lang="en-ID" sz="2400" dirty="0" err="1"/>
              <a:t>jawab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itu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apa</a:t>
            </a:r>
            <a:r>
              <a:rPr lang="en-ID" sz="2400" dirty="0"/>
              <a:t> yang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diproduksi</a:t>
            </a:r>
            <a:r>
              <a:rPr lang="en-ID" sz="2400" dirty="0"/>
              <a:t>, </a:t>
            </a:r>
            <a:r>
              <a:rPr lang="en-ID" sz="2400" dirty="0" err="1"/>
              <a:t>kegiatan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 dan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, </a:t>
            </a:r>
            <a:r>
              <a:rPr lang="en-ID" sz="2400" dirty="0" err="1"/>
              <a:t>terutama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hal</a:t>
            </a:r>
            <a:r>
              <a:rPr lang="en-ID" sz="2400" dirty="0"/>
              <a:t> </a:t>
            </a:r>
            <a:r>
              <a:rPr lang="en-ID" sz="2400" dirty="0" err="1"/>
              <a:t>keuangan</a:t>
            </a:r>
            <a:r>
              <a:rPr lang="en-ID" sz="2400" dirty="0"/>
              <a:t> dan </a:t>
            </a:r>
            <a:r>
              <a:rPr lang="en-ID" sz="2400" dirty="0" err="1"/>
              <a:t>waktu</a:t>
            </a:r>
            <a:r>
              <a:rPr lang="en-ID" sz="2400" dirty="0"/>
              <a:t> </a:t>
            </a:r>
            <a:r>
              <a:rPr lang="en-ID" sz="2400" dirty="0" err="1"/>
              <a:t>staf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792283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0C8D8-6849-7617-406F-825AF3659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696686"/>
            <a:ext cx="9603275" cy="4769659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Prosedur</a:t>
            </a:r>
            <a:r>
              <a:rPr lang="en-ID" sz="2400" dirty="0"/>
              <a:t> </a:t>
            </a:r>
            <a:r>
              <a:rPr lang="en-ID" sz="2400" dirty="0" err="1"/>
              <a:t>kontrol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hal</a:t>
            </a:r>
            <a:r>
              <a:rPr lang="en-ID" sz="2400" dirty="0"/>
              <a:t> lain </a:t>
            </a:r>
            <a:r>
              <a:rPr lang="en-ID" sz="2400" dirty="0" err="1"/>
              <a:t>selain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kecil</a:t>
            </a:r>
            <a:r>
              <a:rPr lang="en-ID" sz="2400" dirty="0"/>
              <a:t>, orang </a:t>
            </a:r>
            <a:r>
              <a:rPr lang="en-ID" sz="2400" dirty="0" err="1"/>
              <a:t>memerlukan</a:t>
            </a:r>
            <a:r>
              <a:rPr lang="en-ID" sz="2400" dirty="0"/>
              <a:t> </a:t>
            </a:r>
            <a:r>
              <a:rPr lang="en-ID" sz="2400" dirty="0" err="1"/>
              <a:t>pernyataan</a:t>
            </a:r>
            <a:r>
              <a:rPr lang="en-ID" sz="2400" dirty="0"/>
              <a:t> </a:t>
            </a:r>
            <a:r>
              <a:rPr lang="en-ID" sz="2400" dirty="0" err="1"/>
              <a:t>prosedur</a:t>
            </a:r>
            <a:r>
              <a:rPr lang="en-ID" sz="2400" dirty="0"/>
              <a:t> yang </a:t>
            </a:r>
            <a:r>
              <a:rPr lang="en-ID" sz="2400" dirty="0" err="1"/>
              <a:t>jelas</a:t>
            </a:r>
            <a:r>
              <a:rPr lang="en-ID" sz="2400" dirty="0"/>
              <a:t>, </a:t>
            </a:r>
            <a:r>
              <a:rPr lang="en-ID" sz="2400" dirty="0" err="1"/>
              <a:t>misalnya</a:t>
            </a:r>
            <a:r>
              <a:rPr lang="en-ID" sz="2400" dirty="0"/>
              <a:t>,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melaporkan</a:t>
            </a:r>
            <a:r>
              <a:rPr lang="en-ID" sz="2400" dirty="0"/>
              <a:t> </a:t>
            </a:r>
            <a:r>
              <a:rPr lang="en-ID" sz="2400" dirty="0" err="1"/>
              <a:t>masalah</a:t>
            </a:r>
            <a:r>
              <a:rPr lang="en-ID" sz="2400" dirty="0"/>
              <a:t>. Bagian </a:t>
            </a:r>
            <a:r>
              <a:rPr lang="en-ID" sz="2400" dirty="0" err="1"/>
              <a:t>ini</a:t>
            </a:r>
            <a:r>
              <a:rPr lang="en-ID" sz="2400" dirty="0"/>
              <a:t> juga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menetapkan</a:t>
            </a:r>
            <a:r>
              <a:rPr lang="en-ID" sz="2400" dirty="0"/>
              <a:t> </a:t>
            </a:r>
            <a:r>
              <a:rPr lang="en-ID" sz="2400" dirty="0" err="1"/>
              <a:t>batasan</a:t>
            </a:r>
            <a:r>
              <a:rPr lang="en-ID" sz="2400" dirty="0"/>
              <a:t> </a:t>
            </a:r>
            <a:r>
              <a:rPr lang="en-ID" sz="2400" dirty="0" err="1"/>
              <a:t>otoritas</a:t>
            </a:r>
            <a:r>
              <a:rPr lang="en-ID" sz="2400" dirty="0"/>
              <a:t> </a:t>
            </a:r>
            <a:r>
              <a:rPr lang="en-ID" sz="2400" dirty="0" err="1"/>
              <a:t>manajer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dan </a:t>
            </a:r>
            <a:r>
              <a:rPr lang="en-ID" sz="2400" dirty="0" err="1"/>
              <a:t>prosedur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merujuk</a:t>
            </a:r>
            <a:r>
              <a:rPr lang="en-ID" sz="2400" dirty="0"/>
              <a:t> </a:t>
            </a:r>
            <a:r>
              <a:rPr lang="en-ID" sz="2400" dirty="0" err="1"/>
              <a:t>apa</a:t>
            </a:r>
            <a:r>
              <a:rPr lang="en-ID" sz="2400" dirty="0"/>
              <a:t> pun di </a:t>
            </a:r>
            <a:r>
              <a:rPr lang="en-ID" sz="2400" dirty="0" err="1"/>
              <a:t>luar</a:t>
            </a:r>
            <a:r>
              <a:rPr lang="en-ID" sz="2400" dirty="0"/>
              <a:t> </a:t>
            </a:r>
            <a:r>
              <a:rPr lang="en-ID" sz="2400" dirty="0" err="1"/>
              <a:t>manajer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Kendala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apapun</a:t>
            </a:r>
            <a:r>
              <a:rPr lang="en-ID" sz="2400" dirty="0"/>
              <a:t> yang </a:t>
            </a:r>
            <a:r>
              <a:rPr lang="en-ID" sz="2400" dirty="0" err="1"/>
              <a:t>mempengaruhi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dijalankan</a:t>
            </a:r>
            <a:r>
              <a:rPr lang="en-ID" sz="2400" dirty="0"/>
              <a:t> dan </a:t>
            </a:r>
            <a:r>
              <a:rPr lang="en-ID" sz="2400" dirty="0" err="1"/>
              <a:t>disampaikan</a:t>
            </a:r>
            <a:r>
              <a:rPr lang="en-ID" sz="2400" dirty="0"/>
              <a:t>,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keamanan</a:t>
            </a:r>
            <a:r>
              <a:rPr lang="en-ID" sz="2400" dirty="0"/>
              <a:t>, </a:t>
            </a:r>
            <a:r>
              <a:rPr lang="en-ID" sz="2400" dirty="0" err="1"/>
              <a:t>tanggal</a:t>
            </a:r>
            <a:r>
              <a:rPr lang="en-ID" sz="2400" dirty="0"/>
              <a:t> </a:t>
            </a:r>
            <a:r>
              <a:rPr lang="en-ID" sz="2400" dirty="0" err="1"/>
              <a:t>pengiriman</a:t>
            </a:r>
            <a:r>
              <a:rPr lang="en-ID" sz="2400" dirty="0"/>
              <a:t> </a:t>
            </a:r>
            <a:r>
              <a:rPr lang="en-ID" sz="2400" dirty="0" err="1"/>
              <a:t>tetap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batasan</a:t>
            </a:r>
            <a:r>
              <a:rPr lang="en-ID" sz="2400" dirty="0"/>
              <a:t> pada </a:t>
            </a:r>
            <a:r>
              <a:rPr lang="en-ID" sz="2400" dirty="0" err="1"/>
              <a:t>jenis</a:t>
            </a:r>
            <a:r>
              <a:rPr lang="en-ID" sz="2400" dirty="0"/>
              <a:t> </a:t>
            </a:r>
            <a:r>
              <a:rPr lang="en-ID" sz="2400" dirty="0" err="1"/>
              <a:t>peralatan</a:t>
            </a:r>
            <a:r>
              <a:rPr lang="en-ID" sz="2400" dirty="0"/>
              <a:t> yang </a:t>
            </a:r>
            <a:r>
              <a:rPr lang="en-ID" sz="2400" dirty="0" err="1"/>
              <a:t>digunakan</a:t>
            </a:r>
            <a:endParaRPr lang="en-ID" sz="2400" dirty="0"/>
          </a:p>
          <a:p>
            <a:pPr algn="just"/>
            <a:r>
              <a:rPr lang="en-ID" sz="2400" dirty="0"/>
              <a:t>NMHS </a:t>
            </a:r>
            <a:r>
              <a:rPr lang="en-ID" sz="2400" dirty="0" err="1"/>
              <a:t>mencari</a:t>
            </a:r>
            <a:r>
              <a:rPr lang="en-ID" sz="2400" dirty="0"/>
              <a:t> </a:t>
            </a:r>
            <a:r>
              <a:rPr lang="en-ID" sz="2400" dirty="0" err="1"/>
              <a:t>bantuan</a:t>
            </a:r>
            <a:r>
              <a:rPr lang="en-ID" sz="2400" dirty="0"/>
              <a:t> </a:t>
            </a:r>
            <a:r>
              <a:rPr lang="en-ID" sz="2400" dirty="0" err="1"/>
              <a:t>kerjasama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memeriksa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donor pada </a:t>
            </a:r>
            <a:r>
              <a:rPr lang="en-ID" sz="2400" dirty="0" err="1"/>
              <a:t>pedoman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perumusan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. Di </a:t>
            </a:r>
            <a:r>
              <a:rPr lang="en-ID" sz="2400" dirty="0" err="1"/>
              <a:t>dalam</a:t>
            </a:r>
            <a:r>
              <a:rPr lang="en-ID" sz="2400" dirty="0"/>
              <a:t> WMO, </a:t>
            </a:r>
            <a:r>
              <a:rPr lang="en-ID" sz="2400" dirty="0" err="1"/>
              <a:t>berbagai</a:t>
            </a:r>
            <a:r>
              <a:rPr lang="en-ID" sz="2400" dirty="0"/>
              <a:t> </a:t>
            </a:r>
            <a:r>
              <a:rPr lang="en-ID" sz="2400" dirty="0" err="1"/>
              <a:t>materi</a:t>
            </a:r>
            <a:r>
              <a:rPr lang="en-ID" sz="2400" dirty="0"/>
              <a:t> </a:t>
            </a:r>
            <a:r>
              <a:rPr lang="en-ID" sz="2400" dirty="0" err="1"/>
              <a:t>panduan</a:t>
            </a:r>
            <a:r>
              <a:rPr lang="en-ID" sz="2400" dirty="0"/>
              <a:t> </a:t>
            </a:r>
            <a:r>
              <a:rPr lang="en-ID" sz="2400" dirty="0" err="1"/>
              <a:t>tersedia</a:t>
            </a:r>
            <a:r>
              <a:rPr lang="en-ID" sz="2400" dirty="0"/>
              <a:t>, </a:t>
            </a:r>
            <a:r>
              <a:rPr lang="en-ID" sz="2400" dirty="0" err="1"/>
              <a:t>misalnya</a:t>
            </a:r>
            <a:r>
              <a:rPr lang="en-ID" sz="2400" dirty="0"/>
              <a:t>, </a:t>
            </a:r>
            <a:r>
              <a:rPr lang="en-ID" sz="2400" dirty="0" err="1"/>
              <a:t>catatan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persiapan</a:t>
            </a:r>
            <a:r>
              <a:rPr lang="en-ID" sz="2400" dirty="0"/>
              <a:t> </a:t>
            </a:r>
            <a:r>
              <a:rPr lang="en-ID" sz="2400" dirty="0" err="1"/>
              <a:t>permintaan</a:t>
            </a:r>
            <a:r>
              <a:rPr lang="en-ID" sz="2400" dirty="0"/>
              <a:t> </a:t>
            </a:r>
            <a:r>
              <a:rPr lang="en-ID" sz="2400" dirty="0" err="1"/>
              <a:t>bantuan</a:t>
            </a:r>
            <a:r>
              <a:rPr lang="en-ID" sz="2400" dirty="0"/>
              <a:t> di </a:t>
            </a:r>
            <a:r>
              <a:rPr lang="en-ID" sz="2400" dirty="0" err="1"/>
              <a:t>bawah</a:t>
            </a:r>
            <a:r>
              <a:rPr lang="en-ID" sz="2400" dirty="0"/>
              <a:t> Program Kerjasama </a:t>
            </a:r>
            <a:r>
              <a:rPr lang="en-ID" sz="2400" dirty="0" err="1"/>
              <a:t>Sukarela</a:t>
            </a:r>
            <a:r>
              <a:rPr lang="en-ID" sz="2400" dirty="0"/>
              <a:t> WMO (</a:t>
            </a:r>
            <a:r>
              <a:rPr lang="en-ID" sz="2400" dirty="0" err="1"/>
              <a:t>lihat</a:t>
            </a:r>
            <a:r>
              <a:rPr lang="en-ID" sz="2400" dirty="0"/>
              <a:t> juga </a:t>
            </a:r>
            <a:r>
              <a:rPr lang="en-ID" sz="2400" dirty="0" err="1"/>
              <a:t>bagian</a:t>
            </a:r>
            <a:r>
              <a:rPr lang="en-ID" sz="2400" dirty="0"/>
              <a:t> 10.4 – </a:t>
            </a:r>
            <a:r>
              <a:rPr lang="en-ID" sz="2400" dirty="0" err="1"/>
              <a:t>Anggaran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8336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930E-4FA7-6205-299C-2747C79C2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590"/>
            <a:ext cx="9603275" cy="463667"/>
          </a:xfrm>
        </p:spPr>
        <p:txBody>
          <a:bodyPr>
            <a:normAutofit/>
          </a:bodyPr>
          <a:lstStyle/>
          <a:p>
            <a:r>
              <a:rPr lang="en-ID" sz="2400" b="1" dirty="0"/>
              <a:t>PROJECT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29BBA-414B-0D3A-6890-F513FC2A5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3"/>
            <a:ext cx="10515600" cy="46856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D" sz="2400" dirty="0" err="1"/>
              <a:t>Bahkan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yang </a:t>
            </a:r>
            <a:r>
              <a:rPr lang="en-ID" sz="2400" dirty="0" err="1"/>
              <a:t>diformulasikan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baik</a:t>
            </a:r>
            <a:r>
              <a:rPr lang="en-ID" sz="2400" dirty="0"/>
              <a:t>,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NMHS </a:t>
            </a:r>
            <a:r>
              <a:rPr lang="en-ID" sz="2400" dirty="0" err="1"/>
              <a:t>seringkali</a:t>
            </a:r>
            <a:r>
              <a:rPr lang="en-ID" sz="2400" dirty="0"/>
              <a:t> </a:t>
            </a:r>
            <a:r>
              <a:rPr lang="en-ID" sz="2400" dirty="0" err="1"/>
              <a:t>kompleks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sifat</a:t>
            </a:r>
            <a:r>
              <a:rPr lang="en-ID" sz="2400" dirty="0"/>
              <a:t> dan </a:t>
            </a:r>
            <a:r>
              <a:rPr lang="en-ID" sz="2400" dirty="0" err="1"/>
              <a:t>variasi</a:t>
            </a:r>
            <a:r>
              <a:rPr lang="en-ID" sz="2400" dirty="0"/>
              <a:t> </a:t>
            </a:r>
            <a:r>
              <a:rPr lang="en-ID" sz="2400" dirty="0" err="1"/>
              <a:t>teknologi</a:t>
            </a:r>
            <a:r>
              <a:rPr lang="en-ID" sz="2400" dirty="0"/>
              <a:t>, </a:t>
            </a:r>
            <a:r>
              <a:rPr lang="en-ID" sz="2400" dirty="0" err="1"/>
              <a:t>keterampilan</a:t>
            </a:r>
            <a:r>
              <a:rPr lang="en-ID" sz="2400" dirty="0"/>
              <a:t> </a:t>
            </a:r>
            <a:r>
              <a:rPr lang="en-ID" sz="2400" dirty="0" err="1"/>
              <a:t>khusus</a:t>
            </a:r>
            <a:r>
              <a:rPr lang="en-ID" sz="2400" dirty="0"/>
              <a:t> yang </a:t>
            </a:r>
            <a:r>
              <a:rPr lang="en-ID" sz="2400" dirty="0" err="1"/>
              <a:t>diperlukan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manajemen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, dan </a:t>
            </a:r>
            <a:r>
              <a:rPr lang="en-ID" sz="2400" dirty="0" err="1"/>
              <a:t>kesulitan</a:t>
            </a:r>
            <a:r>
              <a:rPr lang="en-ID" sz="2400" dirty="0"/>
              <a:t> </a:t>
            </a:r>
            <a:r>
              <a:rPr lang="en-ID" sz="2400" dirty="0" err="1"/>
              <a:t>mengelola</a:t>
            </a:r>
            <a:r>
              <a:rPr lang="en-ID" sz="2400" dirty="0"/>
              <a:t> </a:t>
            </a:r>
            <a:r>
              <a:rPr lang="en-ID" sz="2400" dirty="0" err="1"/>
              <a:t>antarmuka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kontraktor</a:t>
            </a:r>
            <a:r>
              <a:rPr lang="en-ID" sz="2400" dirty="0"/>
              <a:t> mana pun dan mengatasi </a:t>
            </a:r>
            <a:r>
              <a:rPr lang="en-ID" sz="2400" dirty="0" err="1"/>
              <a:t>perkembangan</a:t>
            </a:r>
            <a:r>
              <a:rPr lang="en-ID" sz="2400" dirty="0"/>
              <a:t> yang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terduga</a:t>
            </a:r>
            <a:r>
              <a:rPr lang="en-ID" sz="2400" dirty="0"/>
              <a:t>.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konteks</a:t>
            </a:r>
            <a:r>
              <a:rPr lang="en-ID" sz="2400" dirty="0"/>
              <a:t> Strategi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WMO, </a:t>
            </a:r>
            <a:r>
              <a:rPr lang="en-ID" sz="2400" dirty="0" err="1"/>
              <a:t>implementasi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yang </a:t>
            </a:r>
            <a:r>
              <a:rPr lang="en-ID" sz="2400" dirty="0" err="1"/>
              <a:t>berhasil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NMHS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kecil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sangat </a:t>
            </a:r>
            <a:r>
              <a:rPr lang="en-ID" sz="2400" dirty="0" err="1"/>
              <a:t>menantang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kurangnya</a:t>
            </a:r>
            <a:r>
              <a:rPr lang="en-ID" sz="2400" dirty="0"/>
              <a:t> </a:t>
            </a:r>
            <a:r>
              <a:rPr lang="en-ID" sz="2400" dirty="0" err="1"/>
              <a:t>pengalaman</a:t>
            </a:r>
            <a:r>
              <a:rPr lang="en-ID" sz="2400" dirty="0"/>
              <a:t>, </a:t>
            </a:r>
            <a:r>
              <a:rPr lang="en-ID" sz="2400" dirty="0" err="1"/>
              <a:t>kurangnya</a:t>
            </a:r>
            <a:r>
              <a:rPr lang="en-ID" sz="2400" dirty="0"/>
              <a:t> </a:t>
            </a:r>
            <a:r>
              <a:rPr lang="en-ID" sz="2400" dirty="0" err="1"/>
              <a:t>staf</a:t>
            </a:r>
            <a:r>
              <a:rPr lang="en-ID" sz="2400" dirty="0"/>
              <a:t> </a:t>
            </a:r>
            <a:r>
              <a:rPr lang="en-ID" sz="2400" dirty="0" err="1"/>
              <a:t>ahli</a:t>
            </a:r>
            <a:r>
              <a:rPr lang="en-ID" sz="2400" dirty="0"/>
              <a:t>, dan </a:t>
            </a:r>
            <a:r>
              <a:rPr lang="en-ID" sz="2400" dirty="0" err="1"/>
              <a:t>kesulitan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keseluruhan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/>
              <a:t>Sambil </a:t>
            </a:r>
            <a:r>
              <a:rPr lang="en-ID" sz="2400" dirty="0" err="1"/>
              <a:t>menunggu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panduan</a:t>
            </a:r>
            <a:r>
              <a:rPr lang="en-ID" sz="2400" dirty="0"/>
              <a:t> </a:t>
            </a:r>
            <a:r>
              <a:rPr lang="en-ID" sz="2400" dirty="0" err="1"/>
              <a:t>pelaksanaan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rinci</a:t>
            </a:r>
            <a:r>
              <a:rPr lang="en-ID" sz="2400" dirty="0"/>
              <a:t> </a:t>
            </a:r>
            <a:r>
              <a:rPr lang="en-ID" sz="2400" dirty="0" err="1"/>
              <a:t>khusus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NMHS, </a:t>
            </a:r>
            <a:r>
              <a:rPr lang="en-ID" sz="2400" dirty="0" err="1"/>
              <a:t>ada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materi</a:t>
            </a:r>
            <a:r>
              <a:rPr lang="en-ID" sz="2400" dirty="0"/>
              <a:t> </a:t>
            </a:r>
            <a:r>
              <a:rPr lang="en-ID" sz="2400" dirty="0" err="1"/>
              <a:t>panduan</a:t>
            </a:r>
            <a:r>
              <a:rPr lang="en-ID" sz="2400" dirty="0"/>
              <a:t> </a:t>
            </a:r>
            <a:r>
              <a:rPr lang="en-ID" sz="2400" dirty="0" err="1"/>
              <a:t>umum</a:t>
            </a:r>
            <a:r>
              <a:rPr lang="en-ID" sz="2400" dirty="0"/>
              <a:t> yang </a:t>
            </a:r>
            <a:r>
              <a:rPr lang="en-ID" sz="2400" dirty="0" err="1"/>
              <a:t>ada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ditemukan</a:t>
            </a:r>
            <a:r>
              <a:rPr lang="en-ID" sz="2400" dirty="0"/>
              <a:t> di Internet. </a:t>
            </a:r>
            <a:r>
              <a:rPr lang="en-ID" sz="2400" dirty="0" err="1"/>
              <a:t>Selain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teknik</a:t>
            </a:r>
            <a:r>
              <a:rPr lang="en-ID" sz="2400" dirty="0"/>
              <a:t> </a:t>
            </a:r>
            <a:r>
              <a:rPr lang="en-ID" sz="2400" dirty="0" err="1"/>
              <a:t>manajemen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, </a:t>
            </a:r>
            <a:r>
              <a:rPr lang="en-ID" sz="2400" dirty="0" err="1"/>
              <a:t>staf</a:t>
            </a:r>
            <a:r>
              <a:rPr lang="en-ID" sz="2400" dirty="0"/>
              <a:t> yang </a:t>
            </a:r>
            <a:r>
              <a:rPr lang="en-ID" sz="2400" dirty="0" err="1"/>
              <a:t>ditugaskan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peran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menunjukkan</a:t>
            </a:r>
            <a:r>
              <a:rPr lang="en-ID" sz="2400" dirty="0"/>
              <a:t> </a:t>
            </a:r>
            <a:r>
              <a:rPr lang="en-ID" sz="2400" dirty="0" err="1"/>
              <a:t>kualitas</a:t>
            </a:r>
            <a:r>
              <a:rPr lang="en-ID" sz="2400" dirty="0"/>
              <a:t> </a:t>
            </a:r>
            <a:r>
              <a:rPr lang="en-ID" sz="2400" dirty="0" err="1"/>
              <a:t>pribadi</a:t>
            </a:r>
            <a:r>
              <a:rPr lang="en-ID" sz="2400" dirty="0"/>
              <a:t> yang </a:t>
            </a:r>
            <a:r>
              <a:rPr lang="en-ID" sz="2400" dirty="0" err="1"/>
              <a:t>sistematis</a:t>
            </a:r>
            <a:r>
              <a:rPr lang="en-ID" sz="2400" dirty="0"/>
              <a:t>, </a:t>
            </a:r>
            <a:r>
              <a:rPr lang="en-ID" sz="2400" dirty="0" err="1"/>
              <a:t>terorganisir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baik</a:t>
            </a:r>
            <a:r>
              <a:rPr lang="en-ID" sz="2400" dirty="0"/>
              <a:t>, dan </a:t>
            </a:r>
            <a:r>
              <a:rPr lang="en-ID" sz="2400" dirty="0" err="1"/>
              <a:t>memperhatikan</a:t>
            </a:r>
            <a:r>
              <a:rPr lang="en-ID" sz="2400" dirty="0"/>
              <a:t> detail.</a:t>
            </a:r>
          </a:p>
        </p:txBody>
      </p:sp>
    </p:spTree>
    <p:extLst>
      <p:ext uri="{BB962C8B-B14F-4D97-AF65-F5344CB8AC3E}">
        <p14:creationId xmlns:p14="http://schemas.microsoft.com/office/powerpoint/2010/main" val="2191020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6AF3-131F-8E49-1656-001FE233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ID" sz="2400" b="1" dirty="0"/>
              <a:t>PERFORMANCE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8E539-C7CD-EDB8-72A4-80102EABD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714"/>
            <a:ext cx="10515600" cy="4435249"/>
          </a:xfrm>
        </p:spPr>
        <p:txBody>
          <a:bodyPr>
            <a:normAutofit fontScale="92500"/>
          </a:bodyPr>
          <a:lstStyle/>
          <a:p>
            <a:pPr algn="just"/>
            <a:r>
              <a:rPr lang="en-ID" sz="2400" dirty="0" err="1"/>
              <a:t>Sepanjang</a:t>
            </a:r>
            <a:r>
              <a:rPr lang="en-ID" sz="2400" dirty="0"/>
              <a:t> proses </a:t>
            </a:r>
            <a:r>
              <a:rPr lang="en-ID" sz="2400" dirty="0" err="1"/>
              <a:t>perencanaan</a:t>
            </a:r>
            <a:r>
              <a:rPr lang="en-ID" sz="2400" dirty="0"/>
              <a:t> (dan </a:t>
            </a:r>
            <a:r>
              <a:rPr lang="en-ID" sz="2400" dirty="0" err="1"/>
              <a:t>pelaporan</a:t>
            </a:r>
            <a:r>
              <a:rPr lang="en-ID" sz="2400" dirty="0"/>
              <a:t> </a:t>
            </a:r>
            <a:r>
              <a:rPr lang="en-ID" sz="2400" dirty="0" err="1"/>
              <a:t>selanjutnya</a:t>
            </a:r>
            <a:r>
              <a:rPr lang="en-ID" sz="2400" dirty="0"/>
              <a:t>), NMHS </a:t>
            </a:r>
            <a:r>
              <a:rPr lang="en-ID" sz="2400" dirty="0" err="1"/>
              <a:t>perlu</a:t>
            </a:r>
            <a:r>
              <a:rPr lang="en-ID" sz="2400" dirty="0"/>
              <a:t> </a:t>
            </a:r>
            <a:r>
              <a:rPr lang="en-ID" sz="2400" dirty="0" err="1"/>
              <a:t>memilih</a:t>
            </a:r>
            <a:r>
              <a:rPr lang="en-ID" sz="2400" dirty="0"/>
              <a:t> </a:t>
            </a:r>
            <a:r>
              <a:rPr lang="en-ID" sz="2400" dirty="0" err="1"/>
              <a:t>serangkaian</a:t>
            </a:r>
            <a:r>
              <a:rPr lang="en-ID" sz="2400" dirty="0"/>
              <a:t> </a:t>
            </a:r>
            <a:r>
              <a:rPr lang="en-ID" sz="2400" dirty="0" err="1"/>
              <a:t>ukuran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yang </a:t>
            </a:r>
            <a:r>
              <a:rPr lang="en-ID" sz="2400" dirty="0" err="1"/>
              <a:t>relevan</a:t>
            </a:r>
            <a:r>
              <a:rPr lang="en-ID" sz="2400" dirty="0"/>
              <a:t>.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, </a:t>
            </a:r>
            <a:r>
              <a:rPr lang="en-ID" sz="2400" dirty="0" err="1"/>
              <a:t>sampai</a:t>
            </a:r>
            <a:r>
              <a:rPr lang="en-ID" sz="2400" dirty="0"/>
              <a:t> </a:t>
            </a:r>
            <a:r>
              <a:rPr lang="en-ID" sz="2400" dirty="0" err="1"/>
              <a:t>batas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, </a:t>
            </a:r>
            <a:r>
              <a:rPr lang="en-ID" sz="2400" dirty="0" err="1"/>
              <a:t>bergantung</a:t>
            </a:r>
            <a:r>
              <a:rPr lang="en-ID" sz="2400" dirty="0"/>
              <a:t> pada </a:t>
            </a:r>
            <a:r>
              <a:rPr lang="en-ID" sz="2400" dirty="0" err="1"/>
              <a:t>ukuran</a:t>
            </a:r>
            <a:r>
              <a:rPr lang="en-ID" sz="2400" dirty="0"/>
              <a:t> dan </a:t>
            </a:r>
            <a:r>
              <a:rPr lang="en-ID" sz="2400" dirty="0" err="1"/>
              <a:t>kompleksitas</a:t>
            </a:r>
            <a:r>
              <a:rPr lang="en-ID" sz="2400" dirty="0"/>
              <a:t> NMHS, </a:t>
            </a:r>
            <a:r>
              <a:rPr lang="en-ID" sz="2400" dirty="0" err="1"/>
              <a:t>persyaratan</a:t>
            </a:r>
            <a:r>
              <a:rPr lang="en-ID" sz="2400" dirty="0"/>
              <a:t> proses </a:t>
            </a:r>
            <a:r>
              <a:rPr lang="en-ID" sz="2400" dirty="0" err="1"/>
              <a:t>anggaran</a:t>
            </a:r>
            <a:r>
              <a:rPr lang="en-ID" sz="2400" dirty="0"/>
              <a:t>,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pelaporan</a:t>
            </a:r>
            <a:r>
              <a:rPr lang="en-ID" sz="2400" dirty="0"/>
              <a:t>, dan </a:t>
            </a: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yang </a:t>
            </a:r>
            <a:r>
              <a:rPr lang="en-ID" sz="2400" dirty="0" err="1"/>
              <a:t>tersedia</a:t>
            </a:r>
            <a:r>
              <a:rPr lang="en-ID" sz="2400" dirty="0"/>
              <a:t> </a:t>
            </a:r>
            <a:r>
              <a:rPr lang="en-ID" sz="2400" dirty="0" err="1"/>
              <a:t>bagi</a:t>
            </a:r>
            <a:r>
              <a:rPr lang="en-ID" sz="2400" dirty="0"/>
              <a:t> NMHS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penilaian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contoh</a:t>
            </a:r>
            <a:r>
              <a:rPr lang="en-ID" sz="2400" dirty="0"/>
              <a:t> </a:t>
            </a:r>
            <a:r>
              <a:rPr lang="en-ID" sz="2400" dirty="0" err="1"/>
              <a:t>umum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jenis</a:t>
            </a:r>
            <a:r>
              <a:rPr lang="en-ID" sz="2400" dirty="0"/>
              <a:t> </a:t>
            </a:r>
            <a:r>
              <a:rPr lang="en-ID" sz="2400" dirty="0" err="1"/>
              <a:t>pengukuran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yang </a:t>
            </a:r>
            <a:r>
              <a:rPr lang="en-ID" sz="2400" dirty="0" err="1"/>
              <a:t>sesuai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NMHS </a:t>
            </a:r>
            <a:r>
              <a:rPr lang="en-ID" sz="2400" dirty="0" err="1"/>
              <a:t>adalah</a:t>
            </a:r>
            <a:r>
              <a:rPr lang="en-ID" sz="2400" dirty="0"/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sv-SE" sz="2400" dirty="0"/>
              <a:t>Jumlah stasiun pengamatan;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sv-SE" sz="2400" dirty="0"/>
              <a:t>Kinerja jaringan pengamat dalam hal persentase laporan yang diterima;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sv-SE" sz="2400" dirty="0"/>
              <a:t>Jumlah prakiraan dan peringatan;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826058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D19D9-C2D3-9FD6-97B8-1A3786D9B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6171"/>
            <a:ext cx="10515600" cy="52407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Persentase</a:t>
            </a:r>
            <a:r>
              <a:rPr lang="en-ID" sz="2400" dirty="0"/>
              <a:t> </a:t>
            </a:r>
            <a:r>
              <a:rPr lang="en-ID" sz="2400" dirty="0" err="1"/>
              <a:t>prakiraan</a:t>
            </a:r>
            <a:r>
              <a:rPr lang="en-ID" sz="2400" dirty="0"/>
              <a:t> yang </a:t>
            </a:r>
            <a:r>
              <a:rPr lang="en-ID" sz="2400" dirty="0" err="1"/>
              <a:t>benar</a:t>
            </a:r>
            <a:r>
              <a:rPr lang="en-ID" sz="2400" dirty="0"/>
              <a:t>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Jumlah</a:t>
            </a:r>
            <a:r>
              <a:rPr lang="en-ID" sz="2400" dirty="0"/>
              <a:t> </a:t>
            </a:r>
            <a:r>
              <a:rPr lang="en-ID" sz="2400" dirty="0" err="1"/>
              <a:t>produk</a:t>
            </a:r>
            <a:r>
              <a:rPr lang="en-ID" sz="2400" dirty="0"/>
              <a:t> data </a:t>
            </a:r>
            <a:r>
              <a:rPr lang="en-ID" sz="2400" dirty="0" err="1"/>
              <a:t>iklim</a:t>
            </a:r>
            <a:r>
              <a:rPr lang="en-ID" sz="2400" dirty="0"/>
              <a:t>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Keterampilan</a:t>
            </a:r>
            <a:r>
              <a:rPr lang="en-ID" sz="2400" dirty="0"/>
              <a:t> model </a:t>
            </a:r>
            <a:r>
              <a:rPr lang="en-ID" sz="2400" dirty="0" err="1"/>
              <a:t>prediksi</a:t>
            </a:r>
            <a:r>
              <a:rPr lang="en-ID" sz="2400" dirty="0"/>
              <a:t> </a:t>
            </a:r>
            <a:r>
              <a:rPr lang="en-ID" sz="2400" dirty="0" err="1"/>
              <a:t>numerik</a:t>
            </a:r>
            <a:r>
              <a:rPr lang="en-ID" sz="2400" dirty="0"/>
              <a:t>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Ukuran</a:t>
            </a:r>
            <a:r>
              <a:rPr lang="en-ID" sz="2400" dirty="0"/>
              <a:t> </a:t>
            </a:r>
            <a:r>
              <a:rPr lang="en-ID" sz="2400" dirty="0" err="1"/>
              <a:t>kepuasan</a:t>
            </a:r>
            <a:r>
              <a:rPr lang="en-ID" sz="2400" dirty="0"/>
              <a:t> </a:t>
            </a:r>
            <a:r>
              <a:rPr lang="en-ID" sz="2400" dirty="0" err="1"/>
              <a:t>pengguna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yang </a:t>
            </a:r>
            <a:r>
              <a:rPr lang="en-ID" sz="2400" dirty="0" err="1"/>
              <a:t>diberikan</a:t>
            </a:r>
            <a:r>
              <a:rPr lang="en-ID" sz="2400" dirty="0"/>
              <a:t>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Kemajuan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pencapaian</a:t>
            </a:r>
            <a:r>
              <a:rPr lang="en-ID" sz="2400" dirty="0"/>
              <a:t> </a:t>
            </a:r>
            <a:r>
              <a:rPr lang="en-ID" sz="2400" dirty="0" err="1"/>
              <a:t>inisiatif</a:t>
            </a:r>
            <a:r>
              <a:rPr lang="en-ID" sz="2400" dirty="0"/>
              <a:t> NMHS </a:t>
            </a:r>
            <a:r>
              <a:rPr lang="en-ID" sz="2400" dirty="0" err="1"/>
              <a:t>tertentu</a:t>
            </a:r>
            <a:r>
              <a:rPr lang="en-ID" sz="2400" dirty="0"/>
              <a:t>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Jumlah</a:t>
            </a:r>
            <a:r>
              <a:rPr lang="en-ID" sz="2400" dirty="0"/>
              <a:t> </a:t>
            </a:r>
            <a:r>
              <a:rPr lang="en-ID" sz="2400" dirty="0" err="1"/>
              <a:t>tenaga</a:t>
            </a:r>
            <a:r>
              <a:rPr lang="en-ID" sz="2400" dirty="0"/>
              <a:t> </a:t>
            </a:r>
            <a:r>
              <a:rPr lang="en-ID" sz="2400" dirty="0" err="1"/>
              <a:t>terlatih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4237881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679A1-8A72-554D-2763-CF1AC766F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2371"/>
            <a:ext cx="10515600" cy="459229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D" sz="2400" dirty="0" err="1"/>
              <a:t>Pengaturan</a:t>
            </a:r>
            <a:r>
              <a:rPr lang="en-ID" sz="2400" dirty="0"/>
              <a:t> </a:t>
            </a:r>
            <a:r>
              <a:rPr lang="en-ID" sz="2400" dirty="0" err="1"/>
              <a:t>ukuran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NMHS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demikian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dasar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melaporkan</a:t>
            </a:r>
            <a:r>
              <a:rPr lang="en-ID" sz="2400" dirty="0"/>
              <a:t> </a:t>
            </a:r>
            <a:r>
              <a:rPr lang="en-ID" sz="2400" dirty="0" err="1"/>
              <a:t>kembali</a:t>
            </a:r>
            <a:r>
              <a:rPr lang="en-ID" sz="2400" dirty="0"/>
              <a:t> </a:t>
            </a:r>
            <a:r>
              <a:rPr lang="en-ID" sz="2400" dirty="0" err="1"/>
              <a:t>kepada</a:t>
            </a:r>
            <a:r>
              <a:rPr lang="en-ID" sz="2400" dirty="0"/>
              <a:t> </a:t>
            </a:r>
            <a:r>
              <a:rPr lang="en-ID" sz="2400" dirty="0" err="1"/>
              <a:t>pemerintah</a:t>
            </a:r>
            <a:r>
              <a:rPr lang="en-ID" sz="2400" dirty="0"/>
              <a:t>, </a:t>
            </a:r>
            <a:r>
              <a:rPr lang="en-ID" sz="2400" dirty="0" err="1"/>
              <a:t>pemangku</a:t>
            </a:r>
            <a:r>
              <a:rPr lang="en-ID" sz="2400" dirty="0"/>
              <a:t> </a:t>
            </a:r>
            <a:r>
              <a:rPr lang="en-ID" sz="2400" dirty="0" err="1"/>
              <a:t>kepentingan</a:t>
            </a:r>
            <a:r>
              <a:rPr lang="en-ID" sz="2400" dirty="0"/>
              <a:t>, </a:t>
            </a:r>
            <a:r>
              <a:rPr lang="en-ID" sz="2400" dirty="0" err="1"/>
              <a:t>pengguna</a:t>
            </a:r>
            <a:r>
              <a:rPr lang="en-ID" sz="2400" dirty="0"/>
              <a:t> dan </a:t>
            </a:r>
            <a:r>
              <a:rPr lang="en-ID" sz="2400" dirty="0" err="1"/>
              <a:t>publik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NMHS dan </a:t>
            </a:r>
            <a:r>
              <a:rPr lang="en-ID" sz="2400" dirty="0" err="1"/>
              <a:t>alasan</a:t>
            </a:r>
            <a:r>
              <a:rPr lang="en-ID" sz="2400" dirty="0"/>
              <a:t> </a:t>
            </a:r>
            <a:r>
              <a:rPr lang="en-ID" sz="2400" dirty="0" err="1"/>
              <a:t>penyimpangan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yang </a:t>
            </a:r>
            <a:r>
              <a:rPr lang="en-ID" sz="2400" dirty="0" err="1"/>
              <a:t>direncanakan</a:t>
            </a:r>
            <a:r>
              <a:rPr lang="en-ID" sz="2400" dirty="0"/>
              <a:t>. </a:t>
            </a:r>
            <a:r>
              <a:rPr lang="en-ID" sz="2400" dirty="0" err="1"/>
              <a:t>Untuk</a:t>
            </a:r>
            <a:r>
              <a:rPr lang="en-ID" sz="2400" dirty="0"/>
              <a:t> NMHS,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menyoroti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tambahan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harapan</a:t>
            </a:r>
            <a:r>
              <a:rPr lang="en-ID" sz="2400" dirty="0"/>
              <a:t> </a:t>
            </a:r>
            <a:r>
              <a:rPr lang="en-ID" sz="2400" dirty="0" err="1"/>
              <a:t>pemerintah</a:t>
            </a:r>
            <a:r>
              <a:rPr lang="en-ID" sz="2400" dirty="0"/>
              <a:t>, </a:t>
            </a:r>
            <a:r>
              <a:rPr lang="en-ID" sz="2400" dirty="0" err="1"/>
              <a:t>pengguna</a:t>
            </a:r>
            <a:r>
              <a:rPr lang="en-ID" sz="2400" dirty="0"/>
              <a:t>,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masyarakat</a:t>
            </a:r>
            <a:endParaRPr lang="en-ID" sz="2400" dirty="0"/>
          </a:p>
          <a:p>
            <a:pPr algn="just"/>
            <a:r>
              <a:rPr lang="en-ID" sz="2400" dirty="0" err="1"/>
              <a:t>Ukuran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yang </a:t>
            </a:r>
            <a:r>
              <a:rPr lang="en-ID" sz="2400" dirty="0" err="1"/>
              <a:t>ditetapkan</a:t>
            </a:r>
            <a:r>
              <a:rPr lang="en-ID" sz="2400" dirty="0"/>
              <a:t> pada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juga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berguna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memperjelas</a:t>
            </a:r>
            <a:r>
              <a:rPr lang="en-ID" sz="2400" dirty="0"/>
              <a:t> </a:t>
            </a:r>
            <a:r>
              <a:rPr lang="en-ID" sz="2400" dirty="0" err="1"/>
              <a:t>maksud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dan </a:t>
            </a:r>
            <a:r>
              <a:rPr lang="en-ID" sz="2400" dirty="0" err="1"/>
              <a:t>menyelaraskan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masing-masing </a:t>
            </a:r>
            <a:r>
              <a:rPr lang="en-ID" sz="2400" dirty="0" err="1"/>
              <a:t>manajer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 err="1"/>
              <a:t>Komisi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 WMO dan Program dan </a:t>
            </a:r>
            <a:r>
              <a:rPr lang="en-ID" sz="2400" dirty="0" err="1"/>
              <a:t>publikasi</a:t>
            </a:r>
            <a:r>
              <a:rPr lang="en-ID" sz="2400" dirty="0"/>
              <a:t> WMO </a:t>
            </a:r>
            <a:r>
              <a:rPr lang="en-ID" sz="2400" dirty="0" err="1"/>
              <a:t>tertentu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panduan</a:t>
            </a:r>
            <a:r>
              <a:rPr lang="en-ID" sz="2400" dirty="0"/>
              <a:t>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terperinci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dan </a:t>
            </a:r>
            <a:r>
              <a:rPr lang="en-ID" sz="2400" dirty="0" err="1"/>
              <a:t>contoh</a:t>
            </a:r>
            <a:r>
              <a:rPr lang="en-ID" sz="2400" dirty="0"/>
              <a:t> </a:t>
            </a:r>
            <a:r>
              <a:rPr lang="en-ID" sz="2400" dirty="0" err="1"/>
              <a:t>ukuran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, </a:t>
            </a:r>
            <a:r>
              <a:rPr lang="en-ID" sz="2400" dirty="0" err="1"/>
              <a:t>misalnya</a:t>
            </a:r>
            <a:r>
              <a:rPr lang="en-ID" sz="2400" dirty="0"/>
              <a:t> </a:t>
            </a:r>
            <a:r>
              <a:rPr lang="en-ID" sz="2400" dirty="0" err="1"/>
              <a:t>Pedoman</a:t>
            </a:r>
            <a:r>
              <a:rPr lang="en-ID" sz="2400" dirty="0"/>
              <a:t> </a:t>
            </a:r>
            <a:r>
              <a:rPr lang="en-ID" sz="2400" dirty="0" err="1"/>
              <a:t>Penilaian</a:t>
            </a:r>
            <a:r>
              <a:rPr lang="en-ID" sz="2400" dirty="0"/>
              <a:t> Kinerja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Cuaca</a:t>
            </a:r>
            <a:r>
              <a:rPr lang="en-ID" sz="2400" dirty="0"/>
              <a:t> Publik (WMO/TD-No. 1023)</a:t>
            </a:r>
          </a:p>
        </p:txBody>
      </p:sp>
    </p:spTree>
    <p:extLst>
      <p:ext uri="{BB962C8B-B14F-4D97-AF65-F5344CB8AC3E}">
        <p14:creationId xmlns:p14="http://schemas.microsoft.com/office/powerpoint/2010/main" val="260289840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974</TotalTime>
  <Words>1731</Words>
  <Application>Microsoft Office PowerPoint</Application>
  <PresentationFormat>Widescreen</PresentationFormat>
  <Paragraphs>100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Gill Sans MT</vt:lpstr>
      <vt:lpstr>Wingdings</vt:lpstr>
      <vt:lpstr>Gallery</vt:lpstr>
      <vt:lpstr>REGULASI INTERNASIONAL METEOROLOGI  MINGGU KE tiga BELAS/ M8C PLANNING</vt:lpstr>
      <vt:lpstr>PLANNING</vt:lpstr>
      <vt:lpstr>THE NATURE OF PLANNING</vt:lpstr>
      <vt:lpstr>PowerPoint Presentation</vt:lpstr>
      <vt:lpstr>STRATEGIC PLANS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ANNUAL PLANS</vt:lpstr>
      <vt:lpstr>PowerPoint Presentation</vt:lpstr>
      <vt:lpstr>PROJECT PLANS</vt:lpstr>
      <vt:lpstr>PowerPoint Presentation</vt:lpstr>
      <vt:lpstr>PowerPoint Presentation</vt:lpstr>
      <vt:lpstr>PowerPoint Presentation</vt:lpstr>
      <vt:lpstr>PROJECT IMPLEMENTATION</vt:lpstr>
      <vt:lpstr>PERFORMANCE MEASUREMENT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pdkl.office365</dc:creator>
  <cp:lastModifiedBy>maman.sudarisman</cp:lastModifiedBy>
  <cp:revision>36</cp:revision>
  <dcterms:created xsi:type="dcterms:W3CDTF">2022-12-07T23:58:20Z</dcterms:created>
  <dcterms:modified xsi:type="dcterms:W3CDTF">2026-06-28T04:43:37Z</dcterms:modified>
</cp:coreProperties>
</file>