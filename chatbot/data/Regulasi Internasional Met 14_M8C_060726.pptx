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9" r:id="rId2"/>
    <p:sldId id="337" r:id="rId3"/>
    <p:sldId id="336" r:id="rId4"/>
    <p:sldId id="338" r:id="rId5"/>
    <p:sldId id="339" r:id="rId6"/>
    <p:sldId id="340" r:id="rId7"/>
    <p:sldId id="344" r:id="rId8"/>
    <p:sldId id="360" r:id="rId9"/>
    <p:sldId id="361" r:id="rId10"/>
    <p:sldId id="362" r:id="rId11"/>
    <p:sldId id="3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389"/>
    <a:srgbClr val="13538A"/>
    <a:srgbClr val="FFB870"/>
    <a:srgbClr val="8ED7E8"/>
    <a:srgbClr val="FF9999"/>
    <a:srgbClr val="FF99CC"/>
    <a:srgbClr val="000000"/>
    <a:srgbClr val="37B1E2"/>
    <a:srgbClr val="FF0000"/>
    <a:srgbClr val="1877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6" autoAdjust="0"/>
    <p:restoredTop sz="94569" autoAdjust="0"/>
  </p:normalViewPr>
  <p:slideViewPr>
    <p:cSldViewPr snapToGrid="0">
      <p:cViewPr varScale="1">
        <p:scale>
          <a:sx n="66" d="100"/>
          <a:sy n="66" d="100"/>
        </p:scale>
        <p:origin x="439" y="36"/>
      </p:cViewPr>
      <p:guideLst/>
    </p:cSldViewPr>
  </p:slideViewPr>
  <p:outlineViewPr>
    <p:cViewPr>
      <p:scale>
        <a:sx n="33" d="100"/>
        <a:sy n="33" d="100"/>
      </p:scale>
      <p:origin x="0" y="-30930"/>
    </p:cViewPr>
  </p:outlin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5093F7-73B4-E485-CABD-02D94070DA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F5849AAB-C925-181D-9D0C-E2C14EDB5F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35B976-B687-461B-90D7-B446D5E28000}" type="datetimeFigureOut">
              <a:rPr lang="en-ID" smtClean="0"/>
              <a:t>05/07/2026</a:t>
            </a:fld>
            <a:endParaRPr lang="en-ID"/>
          </a:p>
        </p:txBody>
      </p:sp>
      <p:sp>
        <p:nvSpPr>
          <p:cNvPr id="4" name="Footer Placeholder 3">
            <a:extLst>
              <a:ext uri="{FF2B5EF4-FFF2-40B4-BE49-F238E27FC236}">
                <a16:creationId xmlns:a16="http://schemas.microsoft.com/office/drawing/2014/main" id="{20CB87A5-DCD3-C3BB-10CD-ABA4F914F7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0B6DD907-67DF-C9A3-3C66-2236B5FE6D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0065C2-8903-4DA0-82D9-DCDA03EBD281}" type="slidenum">
              <a:rPr lang="en-ID" smtClean="0"/>
              <a:t>‹#›</a:t>
            </a:fld>
            <a:endParaRPr lang="en-ID"/>
          </a:p>
        </p:txBody>
      </p:sp>
    </p:spTree>
    <p:extLst>
      <p:ext uri="{BB962C8B-B14F-4D97-AF65-F5344CB8AC3E}">
        <p14:creationId xmlns:p14="http://schemas.microsoft.com/office/powerpoint/2010/main" val="1067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9D21C-2BA5-42A4-A6CD-E7914E4B598E}" type="datetimeFigureOut">
              <a:rPr lang="en-ID" smtClean="0"/>
              <a:t>05/07/2026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A6641-EE7E-4117-B6F4-43C6468C9576}" type="slidenum">
              <a:rPr lang="en-ID" smtClean="0"/>
              <a:t>‹#›</a:t>
            </a:fld>
            <a:endParaRPr lang="en-ID"/>
          </a:p>
        </p:txBody>
      </p:sp>
    </p:spTree>
    <p:extLst>
      <p:ext uri="{BB962C8B-B14F-4D97-AF65-F5344CB8AC3E}">
        <p14:creationId xmlns:p14="http://schemas.microsoft.com/office/powerpoint/2010/main" val="375225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Top Corners Rounded 22">
            <a:extLst>
              <a:ext uri="{FF2B5EF4-FFF2-40B4-BE49-F238E27FC236}">
                <a16:creationId xmlns:a16="http://schemas.microsoft.com/office/drawing/2014/main" id="{EE7CF208-0FEC-9C68-357D-F2639812DBCB}"/>
              </a:ext>
            </a:extLst>
          </p:cNvPr>
          <p:cNvSpPr/>
          <p:nvPr userDrawn="1"/>
        </p:nvSpPr>
        <p:spPr>
          <a:xfrm rot="5400000">
            <a:off x="-1421894" y="1696211"/>
            <a:ext cx="6355081" cy="3511297"/>
          </a:xfrm>
          <a:prstGeom prst="round2SameRect">
            <a:avLst>
              <a:gd name="adj1" fmla="val 7295"/>
              <a:gd name="adj2" fmla="val 0"/>
            </a:avLst>
          </a:prstGeom>
          <a:solidFill>
            <a:srgbClr val="0133C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dirty="0"/>
          </a:p>
        </p:txBody>
      </p:sp>
      <p:pic>
        <p:nvPicPr>
          <p:cNvPr id="24" name="Picture 2" descr="warming strip image for GLOBE">
            <a:extLst>
              <a:ext uri="{FF2B5EF4-FFF2-40B4-BE49-F238E27FC236}">
                <a16:creationId xmlns:a16="http://schemas.microsoft.com/office/drawing/2014/main" id="{ACEABCF6-644B-001E-46E5-1E1999CBE4C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94511"/>
          <a:stretch/>
        </p:blipFill>
        <p:spPr bwMode="auto">
          <a:xfrm rot="16200000">
            <a:off x="-2863444" y="3137756"/>
            <a:ext cx="6355081" cy="6282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3EAF36B-5489-6377-628B-3DF40CCACE06}"/>
              </a:ext>
            </a:extLst>
          </p:cNvPr>
          <p:cNvSpPr>
            <a:spLocks noGrp="1"/>
          </p:cNvSpPr>
          <p:nvPr>
            <p:ph type="ctrTitle" hasCustomPrompt="1"/>
          </p:nvPr>
        </p:nvSpPr>
        <p:spPr>
          <a:xfrm>
            <a:off x="5413674" y="2699821"/>
            <a:ext cx="6150130" cy="1999609"/>
          </a:xfrm>
        </p:spPr>
        <p:txBody>
          <a:bodyPr anchor="b"/>
          <a:lstStyle>
            <a:lvl1pPr algn="l">
              <a:defRPr sz="4400">
                <a:solidFill>
                  <a:schemeClr val="tx1"/>
                </a:solidFill>
              </a:defRPr>
            </a:lvl1pPr>
          </a:lstStyle>
          <a:p>
            <a:r>
              <a:rPr lang="en-US" dirty="0" err="1"/>
              <a:t>Judul</a:t>
            </a:r>
            <a:r>
              <a:rPr lang="en-US" dirty="0"/>
              <a:t> </a:t>
            </a:r>
            <a:r>
              <a:rPr lang="en-US" dirty="0" err="1"/>
              <a:t>Paparan</a:t>
            </a:r>
            <a:endParaRPr lang="en-ID" dirty="0"/>
          </a:p>
        </p:txBody>
      </p:sp>
      <p:sp>
        <p:nvSpPr>
          <p:cNvPr id="3" name="Subtitle 2">
            <a:extLst>
              <a:ext uri="{FF2B5EF4-FFF2-40B4-BE49-F238E27FC236}">
                <a16:creationId xmlns:a16="http://schemas.microsoft.com/office/drawing/2014/main" id="{6088CBF1-A75F-987D-40FF-E153BFFC344F}"/>
              </a:ext>
            </a:extLst>
          </p:cNvPr>
          <p:cNvSpPr>
            <a:spLocks noGrp="1"/>
          </p:cNvSpPr>
          <p:nvPr>
            <p:ph type="subTitle" idx="1" hasCustomPrompt="1"/>
          </p:nvPr>
        </p:nvSpPr>
        <p:spPr>
          <a:xfrm>
            <a:off x="5413672" y="4770942"/>
            <a:ext cx="6150130" cy="422612"/>
          </a:xfrm>
          <a:prstGeom prst="roundRect">
            <a:avLst>
              <a:gd name="adj" fmla="val 50000"/>
            </a:avLst>
          </a:prstGeom>
          <a:ln w="19050">
            <a:solidFill>
              <a:srgbClr val="0133CC"/>
            </a:solidFill>
          </a:ln>
        </p:spPr>
        <p:txBody>
          <a:bodyPr anchor="ctr">
            <a:normAutofit/>
          </a:bodyPr>
          <a:lstStyle>
            <a:lvl1pPr marL="0" indent="0" algn="l">
              <a:buNone/>
              <a:defRPr sz="1800" b="1">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Nama </a:t>
            </a:r>
            <a:r>
              <a:rPr lang="en-US" dirty="0" err="1"/>
              <a:t>narasumber</a:t>
            </a:r>
            <a:r>
              <a:rPr lang="en-US" dirty="0"/>
              <a:t>/</a:t>
            </a:r>
            <a:r>
              <a:rPr lang="en-US" dirty="0" err="1"/>
              <a:t>Bidang</a:t>
            </a:r>
            <a:r>
              <a:rPr lang="en-US" dirty="0"/>
              <a:t>/</a:t>
            </a:r>
            <a:r>
              <a:rPr lang="en-US" dirty="0" err="1"/>
              <a:t>Pokja</a:t>
            </a:r>
            <a:endParaRPr lang="en-ID" dirty="0"/>
          </a:p>
        </p:txBody>
      </p:sp>
      <p:pic>
        <p:nvPicPr>
          <p:cNvPr id="9" name="Picture 8">
            <a:extLst>
              <a:ext uri="{FF2B5EF4-FFF2-40B4-BE49-F238E27FC236}">
                <a16:creationId xmlns:a16="http://schemas.microsoft.com/office/drawing/2014/main" id="{DCB95554-5EE2-B95F-9780-0A709E9883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1581" y="416665"/>
            <a:ext cx="962221" cy="1192440"/>
          </a:xfrm>
          <a:prstGeom prst="rect">
            <a:avLst/>
          </a:prstGeom>
        </p:spPr>
      </p:pic>
      <p:sp>
        <p:nvSpPr>
          <p:cNvPr id="28" name="Picture Placeholder 27">
            <a:extLst>
              <a:ext uri="{FF2B5EF4-FFF2-40B4-BE49-F238E27FC236}">
                <a16:creationId xmlns:a16="http://schemas.microsoft.com/office/drawing/2014/main" id="{79F2BDC7-49BC-E7D3-0384-E0ED1591A4E4}"/>
              </a:ext>
            </a:extLst>
          </p:cNvPr>
          <p:cNvSpPr>
            <a:spLocks noGrp="1"/>
          </p:cNvSpPr>
          <p:nvPr>
            <p:ph type="pic" sz="quarter" idx="10" hasCustomPrompt="1"/>
          </p:nvPr>
        </p:nvSpPr>
        <p:spPr>
          <a:xfrm>
            <a:off x="1026522" y="1692676"/>
            <a:ext cx="4074292" cy="4013897"/>
          </a:xfrm>
          <a:prstGeom prst="ellipse">
            <a:avLst/>
          </a:prstGeom>
          <a:effectLst>
            <a:outerShdw blurRad="177800" dist="127000" dir="2400000" algn="tl" rotWithShape="0">
              <a:prstClr val="black">
                <a:alpha val="40000"/>
              </a:prstClr>
            </a:outerShdw>
          </a:effectLst>
        </p:spPr>
        <p:txBody>
          <a:bodyPr>
            <a:prstTxWarp prst="textCircle">
              <a:avLst/>
            </a:prstTxWarp>
          </a:bodyPr>
          <a:lstStyle>
            <a:lvl1pPr>
              <a:defRPr>
                <a:solidFill>
                  <a:schemeClr val="bg1"/>
                </a:solidFill>
              </a:defRPr>
            </a:lvl1pPr>
          </a:lstStyle>
          <a:p>
            <a:r>
              <a:rPr lang="en-US" dirty="0"/>
              <a:t>Masukkan Gambar di Sini</a:t>
            </a:r>
            <a:endParaRPr lang="en-ID" dirty="0"/>
          </a:p>
        </p:txBody>
      </p:sp>
      <p:sp>
        <p:nvSpPr>
          <p:cNvPr id="37" name="Text Placeholder 36">
            <a:extLst>
              <a:ext uri="{FF2B5EF4-FFF2-40B4-BE49-F238E27FC236}">
                <a16:creationId xmlns:a16="http://schemas.microsoft.com/office/drawing/2014/main" id="{8E3F8002-D0D1-3AE8-16DB-F30712A906E4}"/>
              </a:ext>
            </a:extLst>
          </p:cNvPr>
          <p:cNvSpPr>
            <a:spLocks noGrp="1"/>
          </p:cNvSpPr>
          <p:nvPr>
            <p:ph type="body" sz="quarter" idx="13" hasCustomPrompt="1"/>
          </p:nvPr>
        </p:nvSpPr>
        <p:spPr>
          <a:xfrm>
            <a:off x="5413672" y="2273635"/>
            <a:ext cx="6150130" cy="420906"/>
          </a:xfrm>
        </p:spPr>
        <p:txBody>
          <a:bodyPr/>
          <a:lstStyle>
            <a:lvl1pPr marL="0" indent="0">
              <a:buFontTx/>
              <a:buNone/>
              <a:defRPr sz="1600" b="0">
                <a:solidFill>
                  <a:schemeClr val="tx1"/>
                </a:solidFill>
                <a:latin typeface="Century Gothic" panose="020B0502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Nama Acara</a:t>
            </a:r>
            <a:endParaRPr lang="en-ID" dirty="0"/>
          </a:p>
        </p:txBody>
      </p:sp>
      <p:sp>
        <p:nvSpPr>
          <p:cNvPr id="42" name="Text Placeholder 41">
            <a:extLst>
              <a:ext uri="{FF2B5EF4-FFF2-40B4-BE49-F238E27FC236}">
                <a16:creationId xmlns:a16="http://schemas.microsoft.com/office/drawing/2014/main" id="{0FB32C2A-F48B-7CE8-45E3-027AE21175C3}"/>
              </a:ext>
            </a:extLst>
          </p:cNvPr>
          <p:cNvSpPr>
            <a:spLocks noGrp="1"/>
          </p:cNvSpPr>
          <p:nvPr>
            <p:ph type="body" sz="quarter" idx="14" hasCustomPrompt="1"/>
          </p:nvPr>
        </p:nvSpPr>
        <p:spPr>
          <a:xfrm>
            <a:off x="6734664" y="576969"/>
            <a:ext cx="3707650" cy="914400"/>
          </a:xfrm>
        </p:spPr>
        <p:txBody>
          <a:bodyPr>
            <a:normAutofit/>
          </a:bodyPr>
          <a:lstStyle>
            <a:lvl1pPr marL="0" indent="0" algn="r">
              <a:buNone/>
              <a:defRPr sz="1600">
                <a:solidFill>
                  <a:schemeClr val="tx1"/>
                </a:solidFill>
                <a:latin typeface="Century Gothic" panose="020B0502020202020204" pitchFamily="34" charset="0"/>
              </a:defRPr>
            </a:lvl1pPr>
            <a:lvl2pPr marL="457200" indent="0">
              <a:buNone/>
              <a:defRPr/>
            </a:lvl2pPr>
          </a:lstStyle>
          <a:p>
            <a:pPr algn="r"/>
            <a:r>
              <a:rPr lang="en-US" sz="1600" dirty="0" err="1">
                <a:solidFill>
                  <a:schemeClr val="tx1"/>
                </a:solidFill>
              </a:rPr>
              <a:t>Direktorat</a:t>
            </a:r>
            <a:r>
              <a:rPr lang="en-US" sz="1600" dirty="0">
                <a:solidFill>
                  <a:schemeClr val="tx1"/>
                </a:solidFill>
              </a:rPr>
              <a:t> dan </a:t>
            </a:r>
            <a:r>
              <a:rPr lang="en-US" sz="1600" dirty="0" err="1">
                <a:solidFill>
                  <a:schemeClr val="tx1"/>
                </a:solidFill>
              </a:rPr>
              <a:t>Kedeputian</a:t>
            </a:r>
            <a:endParaRPr lang="en-ID" sz="1600" dirty="0">
              <a:solidFill>
                <a:schemeClr val="tx1"/>
              </a:solidFill>
            </a:endParaRPr>
          </a:p>
          <a:p>
            <a:pPr lvl="0"/>
            <a:endParaRPr lang="en-US" dirty="0"/>
          </a:p>
        </p:txBody>
      </p:sp>
      <p:sp>
        <p:nvSpPr>
          <p:cNvPr id="43" name="Text Placeholder 36">
            <a:extLst>
              <a:ext uri="{FF2B5EF4-FFF2-40B4-BE49-F238E27FC236}">
                <a16:creationId xmlns:a16="http://schemas.microsoft.com/office/drawing/2014/main" id="{4333B68F-2E70-A71D-62A8-EEE2B2B79D26}"/>
              </a:ext>
            </a:extLst>
          </p:cNvPr>
          <p:cNvSpPr>
            <a:spLocks noGrp="1"/>
          </p:cNvSpPr>
          <p:nvPr>
            <p:ph type="body" sz="quarter" idx="15" hasCustomPrompt="1"/>
          </p:nvPr>
        </p:nvSpPr>
        <p:spPr>
          <a:xfrm>
            <a:off x="5413672" y="5265066"/>
            <a:ext cx="6150130" cy="420906"/>
          </a:xfrm>
          <a:prstGeom prst="roundRect">
            <a:avLst>
              <a:gd name="adj" fmla="val 50000"/>
            </a:avLst>
          </a:prstGeom>
          <a:ln w="19050">
            <a:solidFill>
              <a:srgbClr val="019900"/>
            </a:solidFill>
          </a:ln>
        </p:spPr>
        <p:txBody>
          <a:bodyPr anchor="ctr"/>
          <a:lstStyle>
            <a:lvl1pPr marL="0" indent="0">
              <a:buFontTx/>
              <a:buNone/>
              <a:defRPr sz="1600" b="0">
                <a:solidFill>
                  <a:srgbClr val="019900"/>
                </a:solidFill>
                <a:latin typeface="Century Gothic" panose="020B0502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Kota, </a:t>
            </a:r>
            <a:r>
              <a:rPr lang="en-US" dirty="0" err="1"/>
              <a:t>tanggal</a:t>
            </a:r>
            <a:endParaRPr lang="en-ID" dirty="0"/>
          </a:p>
        </p:txBody>
      </p:sp>
    </p:spTree>
    <p:extLst>
      <p:ext uri="{BB962C8B-B14F-4D97-AF65-F5344CB8AC3E}">
        <p14:creationId xmlns:p14="http://schemas.microsoft.com/office/powerpoint/2010/main" val="3990660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32" name="Picture 2" descr="warming strip image for GLOBE">
            <a:extLst>
              <a:ext uri="{FF2B5EF4-FFF2-40B4-BE49-F238E27FC236}">
                <a16:creationId xmlns:a16="http://schemas.microsoft.com/office/drawing/2014/main" id="{8CE3226D-8411-20E8-9F04-EEB5883A7E97}"/>
              </a:ext>
            </a:extLst>
          </p:cNvPr>
          <p:cNvPicPr>
            <a:picLocks noChangeAspect="1" noChangeArrowheads="1"/>
          </p:cNvPicPr>
          <p:nvPr userDrawn="1"/>
        </p:nvPicPr>
        <p:blipFill rotWithShape="1">
          <a:blip r:embed="rId2">
            <a:alphaModFix amt="70000"/>
            <a:extLst>
              <a:ext uri="{28A0092B-C50C-407E-A947-70E740481C1C}">
                <a14:useLocalDpi xmlns:a14="http://schemas.microsoft.com/office/drawing/2010/main" val="0"/>
              </a:ext>
            </a:extLst>
          </a:blip>
          <a:srcRect t="94511"/>
          <a:stretch/>
        </p:blipFill>
        <p:spPr bwMode="auto">
          <a:xfrm>
            <a:off x="-12022" y="5581858"/>
            <a:ext cx="12204022" cy="1285071"/>
          </a:xfrm>
          <a:prstGeom prst="rect">
            <a:avLst/>
          </a:prstGeom>
          <a:noFill/>
          <a:extLst>
            <a:ext uri="{909E8E84-426E-40DD-AFC4-6F175D3DCCD1}">
              <a14:hiddenFill xmlns:a14="http://schemas.microsoft.com/office/drawing/2010/main">
                <a:solidFill>
                  <a:srgbClr val="FFFFFF"/>
                </a:solidFill>
              </a14:hiddenFill>
            </a:ext>
          </a:extLst>
        </p:spPr>
      </p:pic>
      <p:sp>
        <p:nvSpPr>
          <p:cNvPr id="29" name="Text Placeholder 41">
            <a:extLst>
              <a:ext uri="{FF2B5EF4-FFF2-40B4-BE49-F238E27FC236}">
                <a16:creationId xmlns:a16="http://schemas.microsoft.com/office/drawing/2014/main" id="{90EF4393-4751-3DC1-3A88-35CECA14BE03}"/>
              </a:ext>
            </a:extLst>
          </p:cNvPr>
          <p:cNvSpPr>
            <a:spLocks noGrp="1"/>
          </p:cNvSpPr>
          <p:nvPr>
            <p:ph type="body" sz="quarter" idx="14" hasCustomPrompt="1"/>
          </p:nvPr>
        </p:nvSpPr>
        <p:spPr>
          <a:xfrm>
            <a:off x="6734664" y="576969"/>
            <a:ext cx="3707650" cy="914400"/>
          </a:xfrm>
        </p:spPr>
        <p:txBody>
          <a:bodyPr>
            <a:normAutofit/>
          </a:bodyPr>
          <a:lstStyle>
            <a:lvl1pPr marL="0" indent="0" algn="r">
              <a:buNone/>
              <a:defRPr sz="1600">
                <a:solidFill>
                  <a:schemeClr val="tx1"/>
                </a:solidFill>
                <a:latin typeface="Century Gothic" panose="020B0502020202020204" pitchFamily="34" charset="0"/>
              </a:defRPr>
            </a:lvl1pPr>
            <a:lvl2pPr marL="457200" indent="0">
              <a:buNone/>
              <a:defRPr/>
            </a:lvl2pPr>
          </a:lstStyle>
          <a:p>
            <a:pPr algn="r"/>
            <a:r>
              <a:rPr lang="en-US" sz="1600" dirty="0" err="1">
                <a:solidFill>
                  <a:schemeClr val="tx1"/>
                </a:solidFill>
              </a:rPr>
              <a:t>Direktorat</a:t>
            </a:r>
            <a:r>
              <a:rPr lang="en-US" sz="1600" dirty="0">
                <a:solidFill>
                  <a:schemeClr val="tx1"/>
                </a:solidFill>
              </a:rPr>
              <a:t> dan </a:t>
            </a:r>
            <a:r>
              <a:rPr lang="en-US" sz="1600" dirty="0" err="1">
                <a:solidFill>
                  <a:schemeClr val="tx1"/>
                </a:solidFill>
              </a:rPr>
              <a:t>Kedeputian</a:t>
            </a:r>
            <a:endParaRPr lang="en-ID" sz="1600" dirty="0">
              <a:solidFill>
                <a:schemeClr val="tx1"/>
              </a:solidFill>
            </a:endParaRPr>
          </a:p>
          <a:p>
            <a:pPr lvl="0"/>
            <a:endParaRPr lang="en-US" dirty="0"/>
          </a:p>
        </p:txBody>
      </p:sp>
      <p:sp>
        <p:nvSpPr>
          <p:cNvPr id="2" name="Title 1">
            <a:extLst>
              <a:ext uri="{FF2B5EF4-FFF2-40B4-BE49-F238E27FC236}">
                <a16:creationId xmlns:a16="http://schemas.microsoft.com/office/drawing/2014/main" id="{D3EAF36B-5489-6377-628B-3DF40CCACE06}"/>
              </a:ext>
            </a:extLst>
          </p:cNvPr>
          <p:cNvSpPr>
            <a:spLocks noGrp="1"/>
          </p:cNvSpPr>
          <p:nvPr>
            <p:ph type="ctrTitle" hasCustomPrompt="1"/>
          </p:nvPr>
        </p:nvSpPr>
        <p:spPr>
          <a:xfrm>
            <a:off x="5065486" y="2351314"/>
            <a:ext cx="6364514" cy="2525477"/>
          </a:xfrm>
        </p:spPr>
        <p:txBody>
          <a:bodyPr anchor="b">
            <a:normAutofit/>
          </a:bodyPr>
          <a:lstStyle>
            <a:lvl1pPr algn="l">
              <a:defRPr sz="3600">
                <a:solidFill>
                  <a:schemeClr val="tx1"/>
                </a:solidFill>
              </a:defRPr>
            </a:lvl1pPr>
          </a:lstStyle>
          <a:p>
            <a:r>
              <a:rPr lang="en-US" dirty="0" err="1"/>
              <a:t>Judul</a:t>
            </a:r>
            <a:r>
              <a:rPr lang="en-US" dirty="0"/>
              <a:t> </a:t>
            </a:r>
            <a:r>
              <a:rPr lang="en-US" dirty="0" err="1"/>
              <a:t>Paparan</a:t>
            </a:r>
            <a:endParaRPr lang="en-ID" dirty="0"/>
          </a:p>
        </p:txBody>
      </p:sp>
      <p:pic>
        <p:nvPicPr>
          <p:cNvPr id="9" name="Picture 8">
            <a:extLst>
              <a:ext uri="{FF2B5EF4-FFF2-40B4-BE49-F238E27FC236}">
                <a16:creationId xmlns:a16="http://schemas.microsoft.com/office/drawing/2014/main" id="{DCB95554-5EE2-B95F-9780-0A709E9883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70979" y="397327"/>
            <a:ext cx="962221" cy="1192440"/>
          </a:xfrm>
          <a:prstGeom prst="rect">
            <a:avLst/>
          </a:prstGeom>
        </p:spPr>
      </p:pic>
      <p:sp>
        <p:nvSpPr>
          <p:cNvPr id="3" name="Subtitle 2">
            <a:extLst>
              <a:ext uri="{FF2B5EF4-FFF2-40B4-BE49-F238E27FC236}">
                <a16:creationId xmlns:a16="http://schemas.microsoft.com/office/drawing/2014/main" id="{6088CBF1-A75F-987D-40FF-E153BFFC344F}"/>
              </a:ext>
            </a:extLst>
          </p:cNvPr>
          <p:cNvSpPr>
            <a:spLocks noGrp="1"/>
          </p:cNvSpPr>
          <p:nvPr>
            <p:ph type="subTitle" idx="1" hasCustomPrompt="1"/>
          </p:nvPr>
        </p:nvSpPr>
        <p:spPr>
          <a:xfrm>
            <a:off x="4864212" y="5025168"/>
            <a:ext cx="6768988" cy="1126403"/>
          </a:xfrm>
          <a:prstGeom prst="roundRect">
            <a:avLst>
              <a:gd name="adj" fmla="val 25518"/>
            </a:avLst>
          </a:prstGeom>
          <a:solidFill>
            <a:srgbClr val="019900"/>
          </a:solidFill>
        </p:spPr>
        <p:txBody>
          <a:bodyPr anchor="ctr">
            <a:normAutofit/>
          </a:bodyPr>
          <a:lstStyle>
            <a:lvl1pPr marL="115888" indent="0" algn="l">
              <a:buNone/>
              <a:defRPr sz="2000" b="1">
                <a:solidFill>
                  <a:schemeClr val="bg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Nama </a:t>
            </a:r>
            <a:r>
              <a:rPr lang="en-US" dirty="0" err="1"/>
              <a:t>narasumber</a:t>
            </a:r>
            <a:r>
              <a:rPr lang="en-US" dirty="0"/>
              <a:t>/</a:t>
            </a:r>
            <a:r>
              <a:rPr lang="en-US" dirty="0" err="1"/>
              <a:t>Bidang</a:t>
            </a:r>
            <a:r>
              <a:rPr lang="en-US" dirty="0"/>
              <a:t>/</a:t>
            </a:r>
            <a:r>
              <a:rPr lang="en-US" dirty="0" err="1"/>
              <a:t>Pokja</a:t>
            </a:r>
            <a:r>
              <a:rPr lang="en-US" dirty="0"/>
              <a:t>, Nama Acara, Kota dan </a:t>
            </a:r>
            <a:r>
              <a:rPr lang="en-US" dirty="0" err="1"/>
              <a:t>Tanggal</a:t>
            </a:r>
            <a:endParaRPr lang="en-US" dirty="0"/>
          </a:p>
        </p:txBody>
      </p:sp>
      <p:sp>
        <p:nvSpPr>
          <p:cNvPr id="28" name="Picture Placeholder 27">
            <a:extLst>
              <a:ext uri="{FF2B5EF4-FFF2-40B4-BE49-F238E27FC236}">
                <a16:creationId xmlns:a16="http://schemas.microsoft.com/office/drawing/2014/main" id="{79F2BDC7-49BC-E7D3-0384-E0ED1591A4E4}"/>
              </a:ext>
            </a:extLst>
          </p:cNvPr>
          <p:cNvSpPr>
            <a:spLocks noGrp="1"/>
          </p:cNvSpPr>
          <p:nvPr>
            <p:ph type="pic" sz="quarter" idx="10" hasCustomPrompt="1"/>
          </p:nvPr>
        </p:nvSpPr>
        <p:spPr>
          <a:xfrm>
            <a:off x="288148" y="253651"/>
            <a:ext cx="4074292" cy="6379378"/>
          </a:xfrm>
          <a:prstGeom prst="roundRect">
            <a:avLst>
              <a:gd name="adj" fmla="val 11966"/>
            </a:avLst>
          </a:prstGeom>
          <a:solidFill>
            <a:srgbClr val="0133CC"/>
          </a:solidFill>
          <a:effectLst>
            <a:outerShdw blurRad="279400" dist="127000" algn="l" rotWithShape="0">
              <a:prstClr val="black">
                <a:alpha val="40000"/>
              </a:prstClr>
            </a:outerShdw>
          </a:effectLst>
        </p:spPr>
        <p:txBody>
          <a:bodyPr>
            <a:normAutofit/>
          </a:bodyPr>
          <a:lstStyle>
            <a:lvl1pPr>
              <a:defRPr sz="1600" b="0">
                <a:solidFill>
                  <a:schemeClr val="bg1"/>
                </a:solidFill>
              </a:defRPr>
            </a:lvl1pPr>
          </a:lstStyle>
          <a:p>
            <a:r>
              <a:rPr lang="en-US" dirty="0"/>
              <a:t>Bisa </a:t>
            </a:r>
            <a:r>
              <a:rPr lang="en-US" dirty="0" err="1"/>
              <a:t>ganti</a:t>
            </a:r>
            <a:r>
              <a:rPr lang="en-US" dirty="0"/>
              <a:t> </a:t>
            </a:r>
            <a:r>
              <a:rPr lang="en-US" dirty="0" err="1"/>
              <a:t>foto</a:t>
            </a:r>
            <a:r>
              <a:rPr lang="en-US" dirty="0"/>
              <a:t>/</a:t>
            </a:r>
            <a:r>
              <a:rPr lang="en-US" dirty="0" err="1"/>
              <a:t>gambar</a:t>
            </a:r>
            <a:r>
              <a:rPr lang="en-US" dirty="0"/>
              <a:t> di </a:t>
            </a:r>
            <a:r>
              <a:rPr lang="en-US" dirty="0" err="1"/>
              <a:t>sini</a:t>
            </a:r>
            <a:endParaRPr lang="en-ID" dirty="0"/>
          </a:p>
        </p:txBody>
      </p:sp>
    </p:spTree>
    <p:extLst>
      <p:ext uri="{BB962C8B-B14F-4D97-AF65-F5344CB8AC3E}">
        <p14:creationId xmlns:p14="http://schemas.microsoft.com/office/powerpoint/2010/main" val="2934826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F36B-5489-6377-628B-3DF40CCACE06}"/>
              </a:ext>
            </a:extLst>
          </p:cNvPr>
          <p:cNvSpPr>
            <a:spLocks noGrp="1"/>
          </p:cNvSpPr>
          <p:nvPr>
            <p:ph type="ctrTitle" hasCustomPrompt="1"/>
          </p:nvPr>
        </p:nvSpPr>
        <p:spPr>
          <a:xfrm>
            <a:off x="1469572" y="2286006"/>
            <a:ext cx="9252857" cy="1690906"/>
          </a:xfrm>
          <a:prstGeom prst="roundRect">
            <a:avLst>
              <a:gd name="adj" fmla="val 24944"/>
            </a:avLst>
          </a:prstGeom>
          <a:solidFill>
            <a:srgbClr val="0133CC"/>
          </a:solidFill>
        </p:spPr>
        <p:txBody>
          <a:bodyPr anchor="ctr">
            <a:noAutofit/>
          </a:bodyPr>
          <a:lstStyle>
            <a:lvl1pPr algn="ctr">
              <a:defRPr sz="3600">
                <a:solidFill>
                  <a:schemeClr val="bg1"/>
                </a:solidFill>
              </a:defRPr>
            </a:lvl1pPr>
          </a:lstStyle>
          <a:p>
            <a:r>
              <a:rPr lang="en-US" dirty="0" err="1"/>
              <a:t>Judul</a:t>
            </a:r>
            <a:r>
              <a:rPr lang="en-US" dirty="0"/>
              <a:t> </a:t>
            </a:r>
            <a:r>
              <a:rPr lang="en-US" dirty="0" err="1"/>
              <a:t>Paparan</a:t>
            </a:r>
            <a:endParaRPr lang="en-ID" dirty="0"/>
          </a:p>
        </p:txBody>
      </p:sp>
      <p:pic>
        <p:nvPicPr>
          <p:cNvPr id="9" name="Picture 8">
            <a:extLst>
              <a:ext uri="{FF2B5EF4-FFF2-40B4-BE49-F238E27FC236}">
                <a16:creationId xmlns:a16="http://schemas.microsoft.com/office/drawing/2014/main" id="{DCB95554-5EE2-B95F-9780-0A709E9883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78181" y="409222"/>
            <a:ext cx="1235639" cy="1531276"/>
          </a:xfrm>
          <a:prstGeom prst="rect">
            <a:avLst/>
          </a:prstGeom>
        </p:spPr>
      </p:pic>
      <p:pic>
        <p:nvPicPr>
          <p:cNvPr id="5" name="Picture 2" descr="warming strip image for GLOBE">
            <a:extLst>
              <a:ext uri="{FF2B5EF4-FFF2-40B4-BE49-F238E27FC236}">
                <a16:creationId xmlns:a16="http://schemas.microsoft.com/office/drawing/2014/main" id="{ADCE7855-3CD4-CD5E-54A6-6531ECB4E43E}"/>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t="94511"/>
          <a:stretch/>
        </p:blipFill>
        <p:spPr bwMode="auto">
          <a:xfrm>
            <a:off x="-12022" y="6579413"/>
            <a:ext cx="12204022" cy="287515"/>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C596E92B-8FD3-5C74-C673-5FF8277BF4FB}"/>
              </a:ext>
            </a:extLst>
          </p:cNvPr>
          <p:cNvSpPr>
            <a:spLocks noGrp="1"/>
          </p:cNvSpPr>
          <p:nvPr>
            <p:ph type="subTitle" idx="1" hasCustomPrompt="1"/>
          </p:nvPr>
        </p:nvSpPr>
        <p:spPr>
          <a:xfrm>
            <a:off x="3020935" y="5048034"/>
            <a:ext cx="6150130" cy="373052"/>
          </a:xfrm>
        </p:spPr>
        <p:txBody>
          <a:bodyPr anchor="ctr">
            <a:normAutofit/>
          </a:bodyPr>
          <a:lstStyle>
            <a:lvl1pPr marL="0" indent="0" algn="ctr">
              <a:buNone/>
              <a:defRPr sz="1800" b="0">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Direktorat</a:t>
            </a:r>
            <a:endParaRPr lang="en-US" dirty="0"/>
          </a:p>
        </p:txBody>
      </p:sp>
      <p:sp>
        <p:nvSpPr>
          <p:cNvPr id="15" name="Text Placeholder 14">
            <a:extLst>
              <a:ext uri="{FF2B5EF4-FFF2-40B4-BE49-F238E27FC236}">
                <a16:creationId xmlns:a16="http://schemas.microsoft.com/office/drawing/2014/main" id="{80823392-4EBA-718A-B45A-D3015FC9E450}"/>
              </a:ext>
            </a:extLst>
          </p:cNvPr>
          <p:cNvSpPr>
            <a:spLocks noGrp="1"/>
          </p:cNvSpPr>
          <p:nvPr>
            <p:ph type="body" sz="quarter" idx="10"/>
          </p:nvPr>
        </p:nvSpPr>
        <p:spPr>
          <a:xfrm>
            <a:off x="1738313" y="4094852"/>
            <a:ext cx="8715375" cy="612775"/>
          </a:xfrm>
          <a:prstGeom prst="roundRect">
            <a:avLst>
              <a:gd name="adj" fmla="val 50000"/>
            </a:avLst>
          </a:prstGeom>
          <a:solidFill>
            <a:srgbClr val="019900"/>
          </a:solidFill>
        </p:spPr>
        <p:txBody>
          <a:bodyPr anchor="ctr"/>
          <a:lstStyle>
            <a:lvl1pPr marL="0" indent="0" algn="ctr">
              <a:buNone/>
              <a:defRPr>
                <a:solidFill>
                  <a:schemeClr val="bg1"/>
                </a:solidFill>
                <a:latin typeface="Century Gothic" panose="020B0502020202020204" pitchFamily="34" charset="0"/>
              </a:defRPr>
            </a:lvl1pPr>
          </a:lstStyle>
          <a:p>
            <a:pPr lvl="0"/>
            <a:r>
              <a:rPr lang="en-US" dirty="0"/>
              <a:t>Click to edit Master text styles</a:t>
            </a:r>
          </a:p>
        </p:txBody>
      </p:sp>
      <p:sp>
        <p:nvSpPr>
          <p:cNvPr id="19" name="Text Placeholder 18">
            <a:extLst>
              <a:ext uri="{FF2B5EF4-FFF2-40B4-BE49-F238E27FC236}">
                <a16:creationId xmlns:a16="http://schemas.microsoft.com/office/drawing/2014/main" id="{24FEF09E-FCD6-5697-8C21-07CB535A9B31}"/>
              </a:ext>
            </a:extLst>
          </p:cNvPr>
          <p:cNvSpPr>
            <a:spLocks noGrp="1"/>
          </p:cNvSpPr>
          <p:nvPr>
            <p:ph type="body" sz="quarter" idx="11" hasCustomPrompt="1"/>
          </p:nvPr>
        </p:nvSpPr>
        <p:spPr>
          <a:xfrm>
            <a:off x="3021013" y="5453147"/>
            <a:ext cx="6149975" cy="350838"/>
          </a:xfrm>
        </p:spPr>
        <p:txBody>
          <a:bodyPr anchor="ctr">
            <a:normAutofit/>
          </a:bodyPr>
          <a:lstStyle>
            <a:lvl1pPr marL="0" indent="0" algn="ctr">
              <a:buNone/>
              <a:defRPr sz="1800" b="0">
                <a:latin typeface="Century Gothic" panose="020B0502020202020204" pitchFamily="34" charset="0"/>
              </a:defRPr>
            </a:lvl1pPr>
          </a:lstStyle>
          <a:p>
            <a:pPr lvl="0"/>
            <a:r>
              <a:rPr lang="en-US" sz="1800" dirty="0" err="1"/>
              <a:t>Kedeputian</a:t>
            </a:r>
            <a:endParaRPr lang="en-ID" dirty="0"/>
          </a:p>
        </p:txBody>
      </p:sp>
      <p:sp>
        <p:nvSpPr>
          <p:cNvPr id="21" name="Text Placeholder 18">
            <a:extLst>
              <a:ext uri="{FF2B5EF4-FFF2-40B4-BE49-F238E27FC236}">
                <a16:creationId xmlns:a16="http://schemas.microsoft.com/office/drawing/2014/main" id="{55AAE83C-284D-5B34-5272-2B461C1BC1B3}"/>
              </a:ext>
            </a:extLst>
          </p:cNvPr>
          <p:cNvSpPr>
            <a:spLocks noGrp="1"/>
          </p:cNvSpPr>
          <p:nvPr>
            <p:ph type="body" sz="quarter" idx="12" hasCustomPrompt="1"/>
          </p:nvPr>
        </p:nvSpPr>
        <p:spPr>
          <a:xfrm>
            <a:off x="3021013" y="5824830"/>
            <a:ext cx="6149975" cy="350838"/>
          </a:xfrm>
        </p:spPr>
        <p:txBody>
          <a:bodyPr anchor="ctr">
            <a:normAutofit/>
          </a:bodyPr>
          <a:lstStyle>
            <a:lvl1pPr marL="0" indent="0" algn="ctr">
              <a:buNone/>
              <a:defRPr sz="1800" b="1">
                <a:latin typeface="Century Gothic" panose="020B0502020202020204" pitchFamily="34" charset="0"/>
              </a:defRPr>
            </a:lvl1pPr>
          </a:lstStyle>
          <a:p>
            <a:pPr lvl="0"/>
            <a:r>
              <a:rPr lang="en-US" sz="1800" dirty="0"/>
              <a:t>Badan </a:t>
            </a:r>
            <a:r>
              <a:rPr lang="en-US" sz="1800" dirty="0" err="1"/>
              <a:t>Meteorologi</a:t>
            </a:r>
            <a:r>
              <a:rPr lang="en-US" sz="1800" dirty="0"/>
              <a:t> </a:t>
            </a:r>
            <a:r>
              <a:rPr lang="en-US" sz="1800" dirty="0" err="1"/>
              <a:t>Klimatologi</a:t>
            </a:r>
            <a:r>
              <a:rPr lang="en-US" sz="1800" dirty="0"/>
              <a:t> dan </a:t>
            </a:r>
            <a:r>
              <a:rPr lang="en-US" sz="1800" dirty="0" err="1"/>
              <a:t>Geofisika</a:t>
            </a:r>
            <a:endParaRPr lang="en-ID" dirty="0"/>
          </a:p>
        </p:txBody>
      </p:sp>
    </p:spTree>
    <p:extLst>
      <p:ext uri="{BB962C8B-B14F-4D97-AF65-F5344CB8AC3E}">
        <p14:creationId xmlns:p14="http://schemas.microsoft.com/office/powerpoint/2010/main" val="1203531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F36B-5489-6377-628B-3DF40CCACE06}"/>
              </a:ext>
            </a:extLst>
          </p:cNvPr>
          <p:cNvSpPr>
            <a:spLocks noGrp="1"/>
          </p:cNvSpPr>
          <p:nvPr>
            <p:ph type="ctrTitle" hasCustomPrompt="1"/>
          </p:nvPr>
        </p:nvSpPr>
        <p:spPr>
          <a:xfrm>
            <a:off x="1665515" y="2902939"/>
            <a:ext cx="8860971" cy="1052122"/>
          </a:xfrm>
          <a:prstGeom prst="roundRect">
            <a:avLst>
              <a:gd name="adj" fmla="val 50000"/>
            </a:avLst>
          </a:prstGeom>
          <a:ln w="19050">
            <a:solidFill>
              <a:srgbClr val="019900"/>
            </a:solidFill>
          </a:ln>
        </p:spPr>
        <p:txBody>
          <a:bodyPr anchor="ctr"/>
          <a:lstStyle>
            <a:lvl1pPr algn="ctr">
              <a:defRPr sz="4400">
                <a:solidFill>
                  <a:schemeClr val="tx1"/>
                </a:solidFill>
              </a:defRPr>
            </a:lvl1pPr>
          </a:lstStyle>
          <a:p>
            <a:r>
              <a:rPr lang="en-US" dirty="0"/>
              <a:t>Sub </a:t>
            </a:r>
            <a:r>
              <a:rPr lang="en-US" dirty="0" err="1"/>
              <a:t>Materi</a:t>
            </a:r>
            <a:endParaRPr lang="en-ID" dirty="0"/>
          </a:p>
        </p:txBody>
      </p:sp>
      <p:sp>
        <p:nvSpPr>
          <p:cNvPr id="18" name="TextBox 17">
            <a:extLst>
              <a:ext uri="{FF2B5EF4-FFF2-40B4-BE49-F238E27FC236}">
                <a16:creationId xmlns:a16="http://schemas.microsoft.com/office/drawing/2014/main" id="{7C117443-6D8D-4E8E-1491-854BCAE24AFF}"/>
              </a:ext>
            </a:extLst>
          </p:cNvPr>
          <p:cNvSpPr txBox="1"/>
          <p:nvPr userDrawn="1"/>
        </p:nvSpPr>
        <p:spPr>
          <a:xfrm>
            <a:off x="210271" y="5668919"/>
            <a:ext cx="676788" cy="1107996"/>
          </a:xfrm>
          <a:prstGeom prst="rect">
            <a:avLst/>
          </a:prstGeom>
          <a:noFill/>
        </p:spPr>
        <p:txBody>
          <a:bodyPr wrap="none" rtlCol="0">
            <a:spAutoFit/>
          </a:bodyPr>
          <a:lstStyle/>
          <a:p>
            <a:r>
              <a:rPr lang="en-US" sz="6600" dirty="0">
                <a:solidFill>
                  <a:schemeClr val="tx1"/>
                </a:solidFill>
              </a:rPr>
              <a:t>…</a:t>
            </a:r>
          </a:p>
        </p:txBody>
      </p:sp>
      <p:cxnSp>
        <p:nvCxnSpPr>
          <p:cNvPr id="20" name="Straight Connector 19">
            <a:extLst>
              <a:ext uri="{FF2B5EF4-FFF2-40B4-BE49-F238E27FC236}">
                <a16:creationId xmlns:a16="http://schemas.microsoft.com/office/drawing/2014/main" id="{E1778F6D-D848-F71C-4F59-1A74BF1D2A2B}"/>
              </a:ext>
            </a:extLst>
          </p:cNvPr>
          <p:cNvCxnSpPr>
            <a:cxnSpLocks/>
            <a:stCxn id="2" idx="3"/>
          </p:cNvCxnSpPr>
          <p:nvPr userDrawn="1"/>
        </p:nvCxnSpPr>
        <p:spPr>
          <a:xfrm>
            <a:off x="10526486" y="3429000"/>
            <a:ext cx="1665514" cy="0"/>
          </a:xfrm>
          <a:prstGeom prst="line">
            <a:avLst/>
          </a:prstGeom>
          <a:ln w="57150">
            <a:solidFill>
              <a:srgbClr val="01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A88CD40-A212-2FC9-7513-6CE55158D755}"/>
              </a:ext>
            </a:extLst>
          </p:cNvPr>
          <p:cNvCxnSpPr>
            <a:cxnSpLocks/>
            <a:endCxn id="2" idx="1"/>
          </p:cNvCxnSpPr>
          <p:nvPr userDrawn="1"/>
        </p:nvCxnSpPr>
        <p:spPr>
          <a:xfrm>
            <a:off x="0" y="3429000"/>
            <a:ext cx="1665515" cy="0"/>
          </a:xfrm>
          <a:prstGeom prst="line">
            <a:avLst/>
          </a:prstGeom>
          <a:ln w="57150">
            <a:solidFill>
              <a:srgbClr val="01990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4BBA83E-8C17-FD6D-A501-54C6A3D127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48311" y="110569"/>
            <a:ext cx="847746" cy="1050575"/>
          </a:xfrm>
          <a:prstGeom prst="rect">
            <a:avLst/>
          </a:prstGeom>
        </p:spPr>
      </p:pic>
      <p:sp>
        <p:nvSpPr>
          <p:cNvPr id="11" name="Subtitle 2">
            <a:extLst>
              <a:ext uri="{FF2B5EF4-FFF2-40B4-BE49-F238E27FC236}">
                <a16:creationId xmlns:a16="http://schemas.microsoft.com/office/drawing/2014/main" id="{DAB1D947-3CFA-44AB-91A8-6F4BFB45CF27}"/>
              </a:ext>
            </a:extLst>
          </p:cNvPr>
          <p:cNvSpPr>
            <a:spLocks noGrp="1"/>
          </p:cNvSpPr>
          <p:nvPr>
            <p:ph type="subTitle" idx="1" hasCustomPrompt="1"/>
          </p:nvPr>
        </p:nvSpPr>
        <p:spPr>
          <a:xfrm>
            <a:off x="3020935" y="4174657"/>
            <a:ext cx="6150130" cy="422612"/>
          </a:xfrm>
        </p:spPr>
        <p:txBody>
          <a:bodyPr>
            <a:normAutofit/>
          </a:bodyPr>
          <a:lstStyle>
            <a:lvl1pPr marL="0" indent="0" algn="ctr">
              <a:buNone/>
              <a:defRPr sz="1800" b="1">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Judul</a:t>
            </a:r>
            <a:r>
              <a:rPr lang="en-US" dirty="0"/>
              <a:t> </a:t>
            </a:r>
            <a:r>
              <a:rPr lang="en-US" dirty="0" err="1"/>
              <a:t>Paparan</a:t>
            </a:r>
            <a:endParaRPr lang="en-ID" dirty="0"/>
          </a:p>
        </p:txBody>
      </p:sp>
      <p:sp>
        <p:nvSpPr>
          <p:cNvPr id="12" name="Text Placeholder 36">
            <a:extLst>
              <a:ext uri="{FF2B5EF4-FFF2-40B4-BE49-F238E27FC236}">
                <a16:creationId xmlns:a16="http://schemas.microsoft.com/office/drawing/2014/main" id="{036AB32E-7115-B529-DDA2-1883C55C8C45}"/>
              </a:ext>
            </a:extLst>
          </p:cNvPr>
          <p:cNvSpPr>
            <a:spLocks noGrp="1"/>
          </p:cNvSpPr>
          <p:nvPr>
            <p:ph type="body" sz="quarter" idx="15" hasCustomPrompt="1"/>
          </p:nvPr>
        </p:nvSpPr>
        <p:spPr>
          <a:xfrm>
            <a:off x="5845927" y="6222917"/>
            <a:ext cx="6150130" cy="420906"/>
          </a:xfrm>
        </p:spPr>
        <p:txBody>
          <a:bodyPr anchor="ctr">
            <a:normAutofit/>
          </a:bodyPr>
          <a:lstStyle>
            <a:lvl1pPr marL="0" indent="0" algn="r">
              <a:buFontTx/>
              <a:buNone/>
              <a:defRPr sz="1200" b="0">
                <a:solidFill>
                  <a:schemeClr val="tx1"/>
                </a:solidFill>
                <a:latin typeface="Century Gothic" panose="020B0502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Nama Acara/Kota, </a:t>
            </a:r>
            <a:r>
              <a:rPr lang="en-US" dirty="0" err="1"/>
              <a:t>tanggal</a:t>
            </a:r>
            <a:endParaRPr lang="en-ID" dirty="0"/>
          </a:p>
        </p:txBody>
      </p:sp>
      <p:sp>
        <p:nvSpPr>
          <p:cNvPr id="13" name="Text Placeholder 36">
            <a:extLst>
              <a:ext uri="{FF2B5EF4-FFF2-40B4-BE49-F238E27FC236}">
                <a16:creationId xmlns:a16="http://schemas.microsoft.com/office/drawing/2014/main" id="{67A00243-8193-F8F8-5219-2CAF7275AFDC}"/>
              </a:ext>
            </a:extLst>
          </p:cNvPr>
          <p:cNvSpPr>
            <a:spLocks noGrp="1"/>
          </p:cNvSpPr>
          <p:nvPr>
            <p:ph type="body" sz="quarter" idx="16" hasCustomPrompt="1"/>
          </p:nvPr>
        </p:nvSpPr>
        <p:spPr>
          <a:xfrm>
            <a:off x="210271" y="214177"/>
            <a:ext cx="6150130" cy="420906"/>
          </a:xfrm>
        </p:spPr>
        <p:txBody>
          <a:bodyPr anchor="ctr">
            <a:normAutofit/>
          </a:bodyPr>
          <a:lstStyle>
            <a:lvl1pPr marL="0" indent="0" algn="l">
              <a:buFontTx/>
              <a:buNone/>
              <a:defRPr sz="1200" b="0">
                <a:solidFill>
                  <a:schemeClr val="tx1"/>
                </a:solidFill>
                <a:latin typeface="Century Gothic" panose="020B0502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err="1"/>
              <a:t>Direktorat</a:t>
            </a:r>
            <a:r>
              <a:rPr lang="en-US" dirty="0"/>
              <a:t> dan </a:t>
            </a:r>
            <a:r>
              <a:rPr lang="en-US" dirty="0" err="1"/>
              <a:t>Kedeputian</a:t>
            </a:r>
            <a:endParaRPr lang="en-ID" dirty="0"/>
          </a:p>
        </p:txBody>
      </p:sp>
    </p:spTree>
    <p:extLst>
      <p:ext uri="{BB962C8B-B14F-4D97-AF65-F5344CB8AC3E}">
        <p14:creationId xmlns:p14="http://schemas.microsoft.com/office/powerpoint/2010/main" val="2886558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93A58-9C80-B21F-2BA5-6884460C1333}"/>
              </a:ext>
            </a:extLst>
          </p:cNvPr>
          <p:cNvSpPr>
            <a:spLocks noGrp="1"/>
          </p:cNvSpPr>
          <p:nvPr>
            <p:ph idx="1"/>
          </p:nvPr>
        </p:nvSpPr>
        <p:spPr>
          <a:xfrm>
            <a:off x="828902" y="1444171"/>
            <a:ext cx="7339577" cy="4642531"/>
          </a:xfr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Text Placeholder 3">
            <a:extLst>
              <a:ext uri="{FF2B5EF4-FFF2-40B4-BE49-F238E27FC236}">
                <a16:creationId xmlns:a16="http://schemas.microsoft.com/office/drawing/2014/main" id="{89C50755-41B9-F2D5-73EE-BE38E8617C89}"/>
              </a:ext>
            </a:extLst>
          </p:cNvPr>
          <p:cNvSpPr>
            <a:spLocks noGrp="1"/>
          </p:cNvSpPr>
          <p:nvPr>
            <p:ph type="body" sz="half" idx="2"/>
          </p:nvPr>
        </p:nvSpPr>
        <p:spPr>
          <a:xfrm>
            <a:off x="8287657" y="1444171"/>
            <a:ext cx="3635829" cy="4642531"/>
          </a:xfrm>
          <a:prstGeom prst="roundRect">
            <a:avLst>
              <a:gd name="adj" fmla="val 4549"/>
            </a:avLst>
          </a:prstGeom>
          <a:solidFill>
            <a:srgbClr val="1D4999"/>
          </a:solidFill>
          <a:ln w="38100">
            <a:noFill/>
          </a:ln>
        </p:spPr>
        <p:txBody>
          <a:bodyPr/>
          <a:lstStyle>
            <a:lvl1pPr marL="0" indent="0">
              <a:lnSpc>
                <a:spcPct val="100000"/>
              </a:lnSpc>
              <a:buNone/>
              <a:defRPr sz="1600">
                <a:solidFill>
                  <a:schemeClr val="bg1"/>
                </a:solidFill>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BD51F81B-FB49-B816-2CF7-CB9E732E22F8}"/>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5" name="Title 1">
            <a:extLst>
              <a:ext uri="{FF2B5EF4-FFF2-40B4-BE49-F238E27FC236}">
                <a16:creationId xmlns:a16="http://schemas.microsoft.com/office/drawing/2014/main" id="{EA14E3DB-FA80-2AED-2C5D-C608DF9ECDF0}"/>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Tree>
    <p:extLst>
      <p:ext uri="{BB962C8B-B14F-4D97-AF65-F5344CB8AC3E}">
        <p14:creationId xmlns:p14="http://schemas.microsoft.com/office/powerpoint/2010/main" val="1164065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93A58-9C80-B21F-2BA5-6884460C1333}"/>
              </a:ext>
            </a:extLst>
          </p:cNvPr>
          <p:cNvSpPr>
            <a:spLocks noGrp="1"/>
          </p:cNvSpPr>
          <p:nvPr>
            <p:ph idx="1"/>
          </p:nvPr>
        </p:nvSpPr>
        <p:spPr>
          <a:xfrm>
            <a:off x="828903" y="1342571"/>
            <a:ext cx="5406573" cy="3730171"/>
          </a:xfr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Text Placeholder 3">
            <a:extLst>
              <a:ext uri="{FF2B5EF4-FFF2-40B4-BE49-F238E27FC236}">
                <a16:creationId xmlns:a16="http://schemas.microsoft.com/office/drawing/2014/main" id="{89C50755-41B9-F2D5-73EE-BE38E8617C89}"/>
              </a:ext>
            </a:extLst>
          </p:cNvPr>
          <p:cNvSpPr>
            <a:spLocks noGrp="1"/>
          </p:cNvSpPr>
          <p:nvPr>
            <p:ph type="body" sz="half" idx="2"/>
          </p:nvPr>
        </p:nvSpPr>
        <p:spPr>
          <a:xfrm>
            <a:off x="828904" y="5278582"/>
            <a:ext cx="10847840" cy="1113904"/>
          </a:xfrm>
          <a:prstGeom prst="roundRect">
            <a:avLst>
              <a:gd name="adj" fmla="val 11443"/>
            </a:avLst>
          </a:prstGeom>
          <a:solidFill>
            <a:srgbClr val="1D4999"/>
          </a:solidFill>
          <a:ln>
            <a:noFill/>
          </a:ln>
        </p:spPr>
        <p:txBody>
          <a:bodyPr/>
          <a:lstStyle>
            <a:lvl1pPr marL="0" indent="0">
              <a:buNone/>
              <a:defRPr sz="1600">
                <a:solidFill>
                  <a:schemeClr val="bg1"/>
                </a:solidFill>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BD51F81B-FB49-B816-2CF7-CB9E732E22F8}"/>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5" name="Title 1">
            <a:extLst>
              <a:ext uri="{FF2B5EF4-FFF2-40B4-BE49-F238E27FC236}">
                <a16:creationId xmlns:a16="http://schemas.microsoft.com/office/drawing/2014/main" id="{EA14E3DB-FA80-2AED-2C5D-C608DF9ECDF0}"/>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
        <p:nvSpPr>
          <p:cNvPr id="2" name="Content Placeholder 2">
            <a:extLst>
              <a:ext uri="{FF2B5EF4-FFF2-40B4-BE49-F238E27FC236}">
                <a16:creationId xmlns:a16="http://schemas.microsoft.com/office/drawing/2014/main" id="{5F37CB02-522B-F890-B270-B8B497F64000}"/>
              </a:ext>
            </a:extLst>
          </p:cNvPr>
          <p:cNvSpPr>
            <a:spLocks noGrp="1"/>
          </p:cNvSpPr>
          <p:nvPr>
            <p:ph idx="13"/>
          </p:nvPr>
        </p:nvSpPr>
        <p:spPr>
          <a:xfrm>
            <a:off x="6270171" y="1342571"/>
            <a:ext cx="5406573" cy="3730171"/>
          </a:xfr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518266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B3BCE3-3607-EA7D-5BF7-FDA9DB19E9C8}"/>
              </a:ext>
            </a:extLst>
          </p:cNvPr>
          <p:cNvSpPr>
            <a:spLocks noGrp="1"/>
          </p:cNvSpPr>
          <p:nvPr>
            <p:ph type="body" idx="1" hasCustomPrompt="1"/>
          </p:nvPr>
        </p:nvSpPr>
        <p:spPr>
          <a:xfrm>
            <a:off x="1471453" y="1307949"/>
            <a:ext cx="2352299" cy="351363"/>
          </a:xfrm>
          <a:prstGeom prst="round2SameRect">
            <a:avLst>
              <a:gd name="adj1" fmla="val 50000"/>
              <a:gd name="adj2" fmla="val 0"/>
            </a:avLst>
          </a:prstGeom>
          <a:noFill/>
          <a:ln w="19050">
            <a:solidFill>
              <a:srgbClr val="0133CC"/>
            </a:solidFill>
          </a:ln>
        </p:spPr>
        <p:txBody>
          <a:bodyPr anchor="ctr">
            <a:normAutofit/>
          </a:bodyPr>
          <a:lstStyle>
            <a:lvl1pPr marL="0" indent="0" algn="ctr">
              <a:buNone/>
              <a:defRPr sz="1100" b="1">
                <a:solidFill>
                  <a:schemeClr val="tx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9" name="Slide Number Placeholder 8">
            <a:extLst>
              <a:ext uri="{FF2B5EF4-FFF2-40B4-BE49-F238E27FC236}">
                <a16:creationId xmlns:a16="http://schemas.microsoft.com/office/drawing/2014/main" id="{957E6F9A-1602-85F9-1DD0-B5520FB7B353}"/>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7" name="Title 1">
            <a:extLst>
              <a:ext uri="{FF2B5EF4-FFF2-40B4-BE49-F238E27FC236}">
                <a16:creationId xmlns:a16="http://schemas.microsoft.com/office/drawing/2014/main" id="{F62421E0-2D11-55FD-4596-6E99F950ABC2}"/>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
        <p:nvSpPr>
          <p:cNvPr id="8" name="Picture Placeholder 7">
            <a:extLst>
              <a:ext uri="{FF2B5EF4-FFF2-40B4-BE49-F238E27FC236}">
                <a16:creationId xmlns:a16="http://schemas.microsoft.com/office/drawing/2014/main" id="{2DC0A8B2-AABC-E71A-1460-0652F32C363A}"/>
              </a:ext>
            </a:extLst>
          </p:cNvPr>
          <p:cNvSpPr>
            <a:spLocks noGrp="1"/>
          </p:cNvSpPr>
          <p:nvPr>
            <p:ph type="pic" sz="quarter" idx="13"/>
          </p:nvPr>
        </p:nvSpPr>
        <p:spPr>
          <a:xfrm>
            <a:off x="914400" y="1659312"/>
            <a:ext cx="3466408" cy="1575061"/>
          </a:xfrm>
        </p:spPr>
        <p:txBody>
          <a:bodyPr/>
          <a:lstStyle/>
          <a:p>
            <a:endParaRPr lang="en-ID"/>
          </a:p>
        </p:txBody>
      </p:sp>
      <p:sp>
        <p:nvSpPr>
          <p:cNvPr id="10" name="Picture Placeholder 7">
            <a:extLst>
              <a:ext uri="{FF2B5EF4-FFF2-40B4-BE49-F238E27FC236}">
                <a16:creationId xmlns:a16="http://schemas.microsoft.com/office/drawing/2014/main" id="{AA13C7A9-FF2A-369E-424C-6105E70E2431}"/>
              </a:ext>
            </a:extLst>
          </p:cNvPr>
          <p:cNvSpPr>
            <a:spLocks noGrp="1"/>
          </p:cNvSpPr>
          <p:nvPr>
            <p:ph type="pic" sz="quarter" idx="14"/>
          </p:nvPr>
        </p:nvSpPr>
        <p:spPr>
          <a:xfrm>
            <a:off x="914399" y="3261128"/>
            <a:ext cx="3466408" cy="1575061"/>
          </a:xfrm>
        </p:spPr>
        <p:txBody>
          <a:bodyPr/>
          <a:lstStyle/>
          <a:p>
            <a:endParaRPr lang="en-ID"/>
          </a:p>
        </p:txBody>
      </p:sp>
      <p:sp>
        <p:nvSpPr>
          <p:cNvPr id="11" name="Picture Placeholder 7">
            <a:extLst>
              <a:ext uri="{FF2B5EF4-FFF2-40B4-BE49-F238E27FC236}">
                <a16:creationId xmlns:a16="http://schemas.microsoft.com/office/drawing/2014/main" id="{BDAD3720-F8E2-109F-E5F9-88FC6D6D7D45}"/>
              </a:ext>
            </a:extLst>
          </p:cNvPr>
          <p:cNvSpPr>
            <a:spLocks noGrp="1"/>
          </p:cNvSpPr>
          <p:nvPr>
            <p:ph type="pic" sz="quarter" idx="15"/>
          </p:nvPr>
        </p:nvSpPr>
        <p:spPr>
          <a:xfrm>
            <a:off x="914399" y="4862945"/>
            <a:ext cx="3466408" cy="1575061"/>
          </a:xfrm>
        </p:spPr>
        <p:txBody>
          <a:bodyPr/>
          <a:lstStyle/>
          <a:p>
            <a:endParaRPr lang="en-ID"/>
          </a:p>
        </p:txBody>
      </p:sp>
      <p:sp>
        <p:nvSpPr>
          <p:cNvPr id="12" name="Picture Placeholder 7">
            <a:extLst>
              <a:ext uri="{FF2B5EF4-FFF2-40B4-BE49-F238E27FC236}">
                <a16:creationId xmlns:a16="http://schemas.microsoft.com/office/drawing/2014/main" id="{EB2EACDE-9124-E665-FD0A-54285519D6E2}"/>
              </a:ext>
            </a:extLst>
          </p:cNvPr>
          <p:cNvSpPr>
            <a:spLocks noGrp="1"/>
          </p:cNvSpPr>
          <p:nvPr>
            <p:ph type="pic" sz="quarter" idx="16"/>
          </p:nvPr>
        </p:nvSpPr>
        <p:spPr>
          <a:xfrm>
            <a:off x="4541520" y="1659312"/>
            <a:ext cx="3466408" cy="1575061"/>
          </a:xfrm>
        </p:spPr>
        <p:txBody>
          <a:bodyPr/>
          <a:lstStyle/>
          <a:p>
            <a:endParaRPr lang="en-ID"/>
          </a:p>
        </p:txBody>
      </p:sp>
      <p:sp>
        <p:nvSpPr>
          <p:cNvPr id="13" name="Picture Placeholder 7">
            <a:extLst>
              <a:ext uri="{FF2B5EF4-FFF2-40B4-BE49-F238E27FC236}">
                <a16:creationId xmlns:a16="http://schemas.microsoft.com/office/drawing/2014/main" id="{8327EA5D-BD33-05C2-A5E9-C87ADC6670F6}"/>
              </a:ext>
            </a:extLst>
          </p:cNvPr>
          <p:cNvSpPr>
            <a:spLocks noGrp="1"/>
          </p:cNvSpPr>
          <p:nvPr>
            <p:ph type="pic" sz="quarter" idx="17"/>
          </p:nvPr>
        </p:nvSpPr>
        <p:spPr>
          <a:xfrm>
            <a:off x="4541519" y="3261128"/>
            <a:ext cx="3466408" cy="1575061"/>
          </a:xfrm>
        </p:spPr>
        <p:txBody>
          <a:bodyPr/>
          <a:lstStyle/>
          <a:p>
            <a:endParaRPr lang="en-ID"/>
          </a:p>
        </p:txBody>
      </p:sp>
      <p:sp>
        <p:nvSpPr>
          <p:cNvPr id="14" name="Picture Placeholder 7">
            <a:extLst>
              <a:ext uri="{FF2B5EF4-FFF2-40B4-BE49-F238E27FC236}">
                <a16:creationId xmlns:a16="http://schemas.microsoft.com/office/drawing/2014/main" id="{5108DD64-B97E-B4BC-1690-A48CDEBDFE98}"/>
              </a:ext>
            </a:extLst>
          </p:cNvPr>
          <p:cNvSpPr>
            <a:spLocks noGrp="1"/>
          </p:cNvSpPr>
          <p:nvPr>
            <p:ph type="pic" sz="quarter" idx="18"/>
          </p:nvPr>
        </p:nvSpPr>
        <p:spPr>
          <a:xfrm>
            <a:off x="4541519" y="4862945"/>
            <a:ext cx="3466408" cy="1575061"/>
          </a:xfrm>
        </p:spPr>
        <p:txBody>
          <a:bodyPr/>
          <a:lstStyle/>
          <a:p>
            <a:endParaRPr lang="en-ID"/>
          </a:p>
        </p:txBody>
      </p:sp>
      <p:sp>
        <p:nvSpPr>
          <p:cNvPr id="15" name="Picture Placeholder 7">
            <a:extLst>
              <a:ext uri="{FF2B5EF4-FFF2-40B4-BE49-F238E27FC236}">
                <a16:creationId xmlns:a16="http://schemas.microsoft.com/office/drawing/2014/main" id="{D41EC28C-3245-DFF7-A621-4DF295D7B511}"/>
              </a:ext>
            </a:extLst>
          </p:cNvPr>
          <p:cNvSpPr>
            <a:spLocks noGrp="1"/>
          </p:cNvSpPr>
          <p:nvPr>
            <p:ph type="pic" sz="quarter" idx="19"/>
          </p:nvPr>
        </p:nvSpPr>
        <p:spPr>
          <a:xfrm>
            <a:off x="8168640" y="1659312"/>
            <a:ext cx="3466408" cy="1575061"/>
          </a:xfrm>
        </p:spPr>
        <p:txBody>
          <a:bodyPr/>
          <a:lstStyle/>
          <a:p>
            <a:endParaRPr lang="en-ID"/>
          </a:p>
        </p:txBody>
      </p:sp>
      <p:sp>
        <p:nvSpPr>
          <p:cNvPr id="16" name="Picture Placeholder 7">
            <a:extLst>
              <a:ext uri="{FF2B5EF4-FFF2-40B4-BE49-F238E27FC236}">
                <a16:creationId xmlns:a16="http://schemas.microsoft.com/office/drawing/2014/main" id="{D34E92A4-2597-86E4-185E-1DFE17659697}"/>
              </a:ext>
            </a:extLst>
          </p:cNvPr>
          <p:cNvSpPr>
            <a:spLocks noGrp="1"/>
          </p:cNvSpPr>
          <p:nvPr>
            <p:ph type="pic" sz="quarter" idx="20"/>
          </p:nvPr>
        </p:nvSpPr>
        <p:spPr>
          <a:xfrm>
            <a:off x="8168639" y="3261128"/>
            <a:ext cx="3466408" cy="1575061"/>
          </a:xfrm>
        </p:spPr>
        <p:txBody>
          <a:bodyPr/>
          <a:lstStyle/>
          <a:p>
            <a:endParaRPr lang="en-ID"/>
          </a:p>
        </p:txBody>
      </p:sp>
      <p:sp>
        <p:nvSpPr>
          <p:cNvPr id="17" name="Picture Placeholder 7">
            <a:extLst>
              <a:ext uri="{FF2B5EF4-FFF2-40B4-BE49-F238E27FC236}">
                <a16:creationId xmlns:a16="http://schemas.microsoft.com/office/drawing/2014/main" id="{B047D35E-0DD7-1630-8CD1-BED6A597F2D3}"/>
              </a:ext>
            </a:extLst>
          </p:cNvPr>
          <p:cNvSpPr>
            <a:spLocks noGrp="1"/>
          </p:cNvSpPr>
          <p:nvPr>
            <p:ph type="pic" sz="quarter" idx="21"/>
          </p:nvPr>
        </p:nvSpPr>
        <p:spPr>
          <a:xfrm>
            <a:off x="8168639" y="4862945"/>
            <a:ext cx="3466408" cy="1575061"/>
          </a:xfrm>
        </p:spPr>
        <p:txBody>
          <a:bodyPr/>
          <a:lstStyle/>
          <a:p>
            <a:endParaRPr lang="en-ID"/>
          </a:p>
        </p:txBody>
      </p:sp>
      <p:sp>
        <p:nvSpPr>
          <p:cNvPr id="18" name="Text Placeholder 2">
            <a:extLst>
              <a:ext uri="{FF2B5EF4-FFF2-40B4-BE49-F238E27FC236}">
                <a16:creationId xmlns:a16="http://schemas.microsoft.com/office/drawing/2014/main" id="{D646D587-50B5-EF83-7E43-C888C0C761DC}"/>
              </a:ext>
            </a:extLst>
          </p:cNvPr>
          <p:cNvSpPr>
            <a:spLocks noGrp="1"/>
          </p:cNvSpPr>
          <p:nvPr>
            <p:ph type="body" idx="22" hasCustomPrompt="1"/>
          </p:nvPr>
        </p:nvSpPr>
        <p:spPr>
          <a:xfrm>
            <a:off x="5098573" y="1294571"/>
            <a:ext cx="2352299" cy="351363"/>
          </a:xfrm>
          <a:prstGeom prst="round2SameRect">
            <a:avLst>
              <a:gd name="adj1" fmla="val 50000"/>
              <a:gd name="adj2" fmla="val 0"/>
            </a:avLst>
          </a:prstGeom>
          <a:noFill/>
          <a:ln w="19050">
            <a:solidFill>
              <a:srgbClr val="0133CC"/>
            </a:solidFill>
          </a:ln>
        </p:spPr>
        <p:txBody>
          <a:bodyPr anchor="ctr">
            <a:normAutofit/>
          </a:bodyPr>
          <a:lstStyle>
            <a:lvl1pPr marL="0" indent="0" algn="ctr">
              <a:buNone/>
              <a:defRPr sz="1100" b="1">
                <a:solidFill>
                  <a:schemeClr val="tx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19" name="Text Placeholder 2">
            <a:extLst>
              <a:ext uri="{FF2B5EF4-FFF2-40B4-BE49-F238E27FC236}">
                <a16:creationId xmlns:a16="http://schemas.microsoft.com/office/drawing/2014/main" id="{68AC5405-55CE-B980-812D-CDF51F0D3B35}"/>
              </a:ext>
            </a:extLst>
          </p:cNvPr>
          <p:cNvSpPr>
            <a:spLocks noGrp="1"/>
          </p:cNvSpPr>
          <p:nvPr>
            <p:ph type="body" idx="23" hasCustomPrompt="1"/>
          </p:nvPr>
        </p:nvSpPr>
        <p:spPr>
          <a:xfrm>
            <a:off x="8779396" y="1294571"/>
            <a:ext cx="2352299" cy="351363"/>
          </a:xfrm>
          <a:prstGeom prst="round2SameRect">
            <a:avLst>
              <a:gd name="adj1" fmla="val 50000"/>
              <a:gd name="adj2" fmla="val 0"/>
            </a:avLst>
          </a:prstGeom>
          <a:noFill/>
          <a:ln w="19050">
            <a:solidFill>
              <a:srgbClr val="0133CC"/>
            </a:solidFill>
          </a:ln>
        </p:spPr>
        <p:txBody>
          <a:bodyPr anchor="ctr">
            <a:normAutofit/>
          </a:bodyPr>
          <a:lstStyle>
            <a:lvl1pPr marL="0" indent="0" algn="ctr">
              <a:buNone/>
              <a:defRPr sz="1100" b="1">
                <a:solidFill>
                  <a:schemeClr val="tx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20" name="Text Placeholder 2">
            <a:extLst>
              <a:ext uri="{FF2B5EF4-FFF2-40B4-BE49-F238E27FC236}">
                <a16:creationId xmlns:a16="http://schemas.microsoft.com/office/drawing/2014/main" id="{8EAEFD58-7964-970A-A213-52470CB103F2}"/>
              </a:ext>
            </a:extLst>
          </p:cNvPr>
          <p:cNvSpPr>
            <a:spLocks noGrp="1"/>
          </p:cNvSpPr>
          <p:nvPr>
            <p:ph type="body" idx="24" hasCustomPrompt="1"/>
          </p:nvPr>
        </p:nvSpPr>
        <p:spPr>
          <a:xfrm rot="16200000">
            <a:off x="-191559" y="2218873"/>
            <a:ext cx="1444174" cy="446314"/>
          </a:xfrm>
          <a:prstGeom prst="roundRect">
            <a:avLst>
              <a:gd name="adj" fmla="val 50000"/>
            </a:avLst>
          </a:prstGeom>
          <a:solidFill>
            <a:srgbClr val="019900"/>
          </a:solidFill>
        </p:spPr>
        <p:txBody>
          <a:bodyPr anchor="ctr">
            <a:normAutofit/>
          </a:bodyPr>
          <a:lstStyle>
            <a:lvl1pPr marL="0" indent="0" algn="ctr">
              <a:buNone/>
              <a:defRPr sz="1100" b="1">
                <a:solidFill>
                  <a:schemeClr val="bg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22" name="Text Placeholder 2">
            <a:extLst>
              <a:ext uri="{FF2B5EF4-FFF2-40B4-BE49-F238E27FC236}">
                <a16:creationId xmlns:a16="http://schemas.microsoft.com/office/drawing/2014/main" id="{00BAEDB6-BA1F-34BF-3C96-6B24113D6688}"/>
              </a:ext>
            </a:extLst>
          </p:cNvPr>
          <p:cNvSpPr>
            <a:spLocks noGrp="1"/>
          </p:cNvSpPr>
          <p:nvPr>
            <p:ph type="body" idx="25" hasCustomPrompt="1"/>
          </p:nvPr>
        </p:nvSpPr>
        <p:spPr>
          <a:xfrm rot="16200000">
            <a:off x="-204112" y="3825501"/>
            <a:ext cx="1444174" cy="446314"/>
          </a:xfrm>
          <a:prstGeom prst="roundRect">
            <a:avLst>
              <a:gd name="adj" fmla="val 50000"/>
            </a:avLst>
          </a:prstGeom>
          <a:solidFill>
            <a:srgbClr val="019900"/>
          </a:solidFill>
        </p:spPr>
        <p:txBody>
          <a:bodyPr anchor="ctr">
            <a:normAutofit/>
          </a:bodyPr>
          <a:lstStyle>
            <a:lvl1pPr marL="0" indent="0" algn="ctr">
              <a:buNone/>
              <a:defRPr sz="1100" b="1">
                <a:solidFill>
                  <a:schemeClr val="bg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23" name="Text Placeholder 2">
            <a:extLst>
              <a:ext uri="{FF2B5EF4-FFF2-40B4-BE49-F238E27FC236}">
                <a16:creationId xmlns:a16="http://schemas.microsoft.com/office/drawing/2014/main" id="{E74D58E6-0C2F-C3B3-D359-295AA639F648}"/>
              </a:ext>
            </a:extLst>
          </p:cNvPr>
          <p:cNvSpPr>
            <a:spLocks noGrp="1"/>
          </p:cNvSpPr>
          <p:nvPr>
            <p:ph type="body" idx="26" hasCustomPrompt="1"/>
          </p:nvPr>
        </p:nvSpPr>
        <p:spPr>
          <a:xfrm rot="16200000">
            <a:off x="-191559" y="5432129"/>
            <a:ext cx="1444174" cy="446314"/>
          </a:xfrm>
          <a:prstGeom prst="roundRect">
            <a:avLst>
              <a:gd name="adj" fmla="val 50000"/>
            </a:avLst>
          </a:prstGeom>
          <a:solidFill>
            <a:srgbClr val="019900"/>
          </a:solidFill>
        </p:spPr>
        <p:txBody>
          <a:bodyPr anchor="ctr">
            <a:normAutofit/>
          </a:bodyPr>
          <a:lstStyle>
            <a:lvl1pPr marL="0" indent="0" algn="ctr">
              <a:buNone/>
              <a:defRPr sz="1100" b="1">
                <a:solidFill>
                  <a:schemeClr val="bg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Tree>
    <p:extLst>
      <p:ext uri="{BB962C8B-B14F-4D97-AF65-F5344CB8AC3E}">
        <p14:creationId xmlns:p14="http://schemas.microsoft.com/office/powerpoint/2010/main" val="1637178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B3BCE3-3607-EA7D-5BF7-FDA9DB19E9C8}"/>
              </a:ext>
            </a:extLst>
          </p:cNvPr>
          <p:cNvSpPr>
            <a:spLocks noGrp="1"/>
          </p:cNvSpPr>
          <p:nvPr>
            <p:ph type="body" idx="1" hasCustomPrompt="1"/>
          </p:nvPr>
        </p:nvSpPr>
        <p:spPr>
          <a:xfrm>
            <a:off x="2346269" y="1307949"/>
            <a:ext cx="2352299" cy="351363"/>
          </a:xfrm>
          <a:prstGeom prst="round2SameRect">
            <a:avLst>
              <a:gd name="adj1" fmla="val 50000"/>
              <a:gd name="adj2" fmla="val 0"/>
            </a:avLst>
          </a:prstGeom>
          <a:noFill/>
          <a:ln w="19050">
            <a:solidFill>
              <a:srgbClr val="0133CC"/>
            </a:solidFill>
          </a:ln>
        </p:spPr>
        <p:txBody>
          <a:bodyPr anchor="ctr">
            <a:normAutofit/>
          </a:bodyPr>
          <a:lstStyle>
            <a:lvl1pPr marL="0" indent="0" algn="ctr">
              <a:buNone/>
              <a:defRPr sz="1100" b="1">
                <a:solidFill>
                  <a:schemeClr val="tx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9" name="Slide Number Placeholder 8">
            <a:extLst>
              <a:ext uri="{FF2B5EF4-FFF2-40B4-BE49-F238E27FC236}">
                <a16:creationId xmlns:a16="http://schemas.microsoft.com/office/drawing/2014/main" id="{957E6F9A-1602-85F9-1DD0-B5520FB7B353}"/>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7" name="Title 1">
            <a:extLst>
              <a:ext uri="{FF2B5EF4-FFF2-40B4-BE49-F238E27FC236}">
                <a16:creationId xmlns:a16="http://schemas.microsoft.com/office/drawing/2014/main" id="{F62421E0-2D11-55FD-4596-6E99F950ABC2}"/>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
        <p:nvSpPr>
          <p:cNvPr id="8" name="Picture Placeholder 7">
            <a:extLst>
              <a:ext uri="{FF2B5EF4-FFF2-40B4-BE49-F238E27FC236}">
                <a16:creationId xmlns:a16="http://schemas.microsoft.com/office/drawing/2014/main" id="{2DC0A8B2-AABC-E71A-1460-0652F32C363A}"/>
              </a:ext>
            </a:extLst>
          </p:cNvPr>
          <p:cNvSpPr>
            <a:spLocks noGrp="1"/>
          </p:cNvSpPr>
          <p:nvPr>
            <p:ph type="pic" sz="quarter" idx="13"/>
          </p:nvPr>
        </p:nvSpPr>
        <p:spPr>
          <a:xfrm>
            <a:off x="948838" y="1659312"/>
            <a:ext cx="5147162" cy="3232002"/>
          </a:xfrm>
        </p:spPr>
        <p:txBody>
          <a:bodyPr/>
          <a:lstStyle/>
          <a:p>
            <a:endParaRPr lang="en-ID"/>
          </a:p>
        </p:txBody>
      </p:sp>
      <p:sp>
        <p:nvSpPr>
          <p:cNvPr id="15" name="Picture Placeholder 7">
            <a:extLst>
              <a:ext uri="{FF2B5EF4-FFF2-40B4-BE49-F238E27FC236}">
                <a16:creationId xmlns:a16="http://schemas.microsoft.com/office/drawing/2014/main" id="{D41EC28C-3245-DFF7-A621-4DF295D7B511}"/>
              </a:ext>
            </a:extLst>
          </p:cNvPr>
          <p:cNvSpPr>
            <a:spLocks noGrp="1"/>
          </p:cNvSpPr>
          <p:nvPr>
            <p:ph type="pic" sz="quarter" idx="19"/>
          </p:nvPr>
        </p:nvSpPr>
        <p:spPr>
          <a:xfrm>
            <a:off x="6487886" y="1659312"/>
            <a:ext cx="5147162" cy="3232002"/>
          </a:xfrm>
        </p:spPr>
        <p:txBody>
          <a:bodyPr/>
          <a:lstStyle/>
          <a:p>
            <a:endParaRPr lang="en-ID"/>
          </a:p>
        </p:txBody>
      </p:sp>
      <p:sp>
        <p:nvSpPr>
          <p:cNvPr id="19" name="Text Placeholder 2">
            <a:extLst>
              <a:ext uri="{FF2B5EF4-FFF2-40B4-BE49-F238E27FC236}">
                <a16:creationId xmlns:a16="http://schemas.microsoft.com/office/drawing/2014/main" id="{68AC5405-55CE-B980-812D-CDF51F0D3B35}"/>
              </a:ext>
            </a:extLst>
          </p:cNvPr>
          <p:cNvSpPr>
            <a:spLocks noGrp="1"/>
          </p:cNvSpPr>
          <p:nvPr>
            <p:ph type="body" idx="23" hasCustomPrompt="1"/>
          </p:nvPr>
        </p:nvSpPr>
        <p:spPr>
          <a:xfrm>
            <a:off x="8126253" y="1307948"/>
            <a:ext cx="2352299" cy="351363"/>
          </a:xfrm>
          <a:prstGeom prst="round2SameRect">
            <a:avLst>
              <a:gd name="adj1" fmla="val 50000"/>
              <a:gd name="adj2" fmla="val 0"/>
            </a:avLst>
          </a:prstGeom>
          <a:noFill/>
          <a:ln w="19050">
            <a:solidFill>
              <a:srgbClr val="0133CC"/>
            </a:solidFill>
          </a:ln>
        </p:spPr>
        <p:txBody>
          <a:bodyPr anchor="ctr">
            <a:normAutofit/>
          </a:bodyPr>
          <a:lstStyle>
            <a:lvl1pPr marL="0" indent="0" algn="ctr">
              <a:buNone/>
              <a:defRPr sz="1100" b="1">
                <a:solidFill>
                  <a:schemeClr val="tx1"/>
                </a:solidFill>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Keterangan</a:t>
            </a:r>
            <a:endParaRPr lang="en-US" dirty="0"/>
          </a:p>
        </p:txBody>
      </p:sp>
      <p:sp>
        <p:nvSpPr>
          <p:cNvPr id="2" name="Text Placeholder 3">
            <a:extLst>
              <a:ext uri="{FF2B5EF4-FFF2-40B4-BE49-F238E27FC236}">
                <a16:creationId xmlns:a16="http://schemas.microsoft.com/office/drawing/2014/main" id="{6D6537CE-744D-CEFB-075D-58691FDAFF5D}"/>
              </a:ext>
            </a:extLst>
          </p:cNvPr>
          <p:cNvSpPr>
            <a:spLocks noGrp="1"/>
          </p:cNvSpPr>
          <p:nvPr>
            <p:ph type="body" sz="half" idx="2"/>
          </p:nvPr>
        </p:nvSpPr>
        <p:spPr>
          <a:xfrm>
            <a:off x="828904" y="5278582"/>
            <a:ext cx="10847840" cy="1113904"/>
          </a:xfrm>
          <a:prstGeom prst="roundRect">
            <a:avLst>
              <a:gd name="adj" fmla="val 11443"/>
            </a:avLst>
          </a:prstGeom>
          <a:solidFill>
            <a:srgbClr val="1D4999"/>
          </a:solidFill>
          <a:ln>
            <a:noFill/>
          </a:ln>
        </p:spPr>
        <p:txBody>
          <a:bodyPr/>
          <a:lstStyle>
            <a:lvl1pPr marL="0" indent="0">
              <a:buNone/>
              <a:defRPr sz="1600">
                <a:solidFill>
                  <a:schemeClr val="bg1"/>
                </a:solidFill>
                <a:latin typeface="Leelawadee UI" panose="020B0502040204020203" pitchFamily="34" charset="-34"/>
                <a:cs typeface="Leelawadee UI" panose="020B0502040204020203" pitchFamily="34" charset="-34"/>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95662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57E6F9A-1602-85F9-1DD0-B5520FB7B353}"/>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7" name="Title 1">
            <a:extLst>
              <a:ext uri="{FF2B5EF4-FFF2-40B4-BE49-F238E27FC236}">
                <a16:creationId xmlns:a16="http://schemas.microsoft.com/office/drawing/2014/main" id="{F62421E0-2D11-55FD-4596-6E99F950ABC2}"/>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
        <p:nvSpPr>
          <p:cNvPr id="8" name="Picture Placeholder 7">
            <a:extLst>
              <a:ext uri="{FF2B5EF4-FFF2-40B4-BE49-F238E27FC236}">
                <a16:creationId xmlns:a16="http://schemas.microsoft.com/office/drawing/2014/main" id="{2DC0A8B2-AABC-E71A-1460-0652F32C363A}"/>
              </a:ext>
            </a:extLst>
          </p:cNvPr>
          <p:cNvSpPr>
            <a:spLocks noGrp="1"/>
          </p:cNvSpPr>
          <p:nvPr>
            <p:ph type="pic" sz="quarter" idx="13"/>
          </p:nvPr>
        </p:nvSpPr>
        <p:spPr>
          <a:xfrm>
            <a:off x="623059" y="1332082"/>
            <a:ext cx="3466408" cy="1684577"/>
          </a:xfrm>
        </p:spPr>
        <p:txBody>
          <a:bodyPr/>
          <a:lstStyle/>
          <a:p>
            <a:endParaRPr lang="en-ID"/>
          </a:p>
        </p:txBody>
      </p:sp>
      <p:sp>
        <p:nvSpPr>
          <p:cNvPr id="11" name="Picture Placeholder 7">
            <a:extLst>
              <a:ext uri="{FF2B5EF4-FFF2-40B4-BE49-F238E27FC236}">
                <a16:creationId xmlns:a16="http://schemas.microsoft.com/office/drawing/2014/main" id="{BDAD3720-F8E2-109F-E5F9-88FC6D6D7D45}"/>
              </a:ext>
            </a:extLst>
          </p:cNvPr>
          <p:cNvSpPr>
            <a:spLocks noGrp="1"/>
          </p:cNvSpPr>
          <p:nvPr>
            <p:ph type="pic" sz="quarter" idx="15"/>
          </p:nvPr>
        </p:nvSpPr>
        <p:spPr>
          <a:xfrm>
            <a:off x="623059" y="4775200"/>
            <a:ext cx="3466408" cy="1684577"/>
          </a:xfrm>
        </p:spPr>
        <p:txBody>
          <a:bodyPr/>
          <a:lstStyle/>
          <a:p>
            <a:endParaRPr lang="en-ID"/>
          </a:p>
        </p:txBody>
      </p:sp>
      <p:sp>
        <p:nvSpPr>
          <p:cNvPr id="12" name="Picture Placeholder 7">
            <a:extLst>
              <a:ext uri="{FF2B5EF4-FFF2-40B4-BE49-F238E27FC236}">
                <a16:creationId xmlns:a16="http://schemas.microsoft.com/office/drawing/2014/main" id="{EB2EACDE-9124-E665-FD0A-54285519D6E2}"/>
              </a:ext>
            </a:extLst>
          </p:cNvPr>
          <p:cNvSpPr>
            <a:spLocks noGrp="1"/>
          </p:cNvSpPr>
          <p:nvPr>
            <p:ph type="pic" sz="quarter" idx="16"/>
          </p:nvPr>
        </p:nvSpPr>
        <p:spPr>
          <a:xfrm>
            <a:off x="4250179" y="1332082"/>
            <a:ext cx="3466408" cy="1684577"/>
          </a:xfrm>
        </p:spPr>
        <p:txBody>
          <a:bodyPr/>
          <a:lstStyle/>
          <a:p>
            <a:endParaRPr lang="en-ID"/>
          </a:p>
        </p:txBody>
      </p:sp>
      <p:sp>
        <p:nvSpPr>
          <p:cNvPr id="14" name="Picture Placeholder 7">
            <a:extLst>
              <a:ext uri="{FF2B5EF4-FFF2-40B4-BE49-F238E27FC236}">
                <a16:creationId xmlns:a16="http://schemas.microsoft.com/office/drawing/2014/main" id="{5108DD64-B97E-B4BC-1690-A48CDEBDFE98}"/>
              </a:ext>
            </a:extLst>
          </p:cNvPr>
          <p:cNvSpPr>
            <a:spLocks noGrp="1"/>
          </p:cNvSpPr>
          <p:nvPr>
            <p:ph type="pic" sz="quarter" idx="18"/>
          </p:nvPr>
        </p:nvSpPr>
        <p:spPr>
          <a:xfrm>
            <a:off x="4250179" y="4775200"/>
            <a:ext cx="3466408" cy="1684577"/>
          </a:xfrm>
        </p:spPr>
        <p:txBody>
          <a:bodyPr/>
          <a:lstStyle/>
          <a:p>
            <a:endParaRPr lang="en-ID"/>
          </a:p>
        </p:txBody>
      </p:sp>
      <p:sp>
        <p:nvSpPr>
          <p:cNvPr id="15" name="Picture Placeholder 7">
            <a:extLst>
              <a:ext uri="{FF2B5EF4-FFF2-40B4-BE49-F238E27FC236}">
                <a16:creationId xmlns:a16="http://schemas.microsoft.com/office/drawing/2014/main" id="{D41EC28C-3245-DFF7-A621-4DF295D7B511}"/>
              </a:ext>
            </a:extLst>
          </p:cNvPr>
          <p:cNvSpPr>
            <a:spLocks noGrp="1"/>
          </p:cNvSpPr>
          <p:nvPr>
            <p:ph type="pic" sz="quarter" idx="19"/>
          </p:nvPr>
        </p:nvSpPr>
        <p:spPr>
          <a:xfrm>
            <a:off x="7877299" y="1332082"/>
            <a:ext cx="3466408" cy="1684577"/>
          </a:xfrm>
        </p:spPr>
        <p:txBody>
          <a:bodyPr/>
          <a:lstStyle/>
          <a:p>
            <a:endParaRPr lang="en-ID"/>
          </a:p>
        </p:txBody>
      </p:sp>
      <p:sp>
        <p:nvSpPr>
          <p:cNvPr id="17" name="Picture Placeholder 7">
            <a:extLst>
              <a:ext uri="{FF2B5EF4-FFF2-40B4-BE49-F238E27FC236}">
                <a16:creationId xmlns:a16="http://schemas.microsoft.com/office/drawing/2014/main" id="{B047D35E-0DD7-1630-8CD1-BED6A597F2D3}"/>
              </a:ext>
            </a:extLst>
          </p:cNvPr>
          <p:cNvSpPr>
            <a:spLocks noGrp="1"/>
          </p:cNvSpPr>
          <p:nvPr>
            <p:ph type="pic" sz="quarter" idx="21"/>
          </p:nvPr>
        </p:nvSpPr>
        <p:spPr>
          <a:xfrm>
            <a:off x="7877299" y="4775200"/>
            <a:ext cx="3466408" cy="1684577"/>
          </a:xfrm>
        </p:spPr>
        <p:txBody>
          <a:bodyPr/>
          <a:lstStyle/>
          <a:p>
            <a:endParaRPr lang="en-ID"/>
          </a:p>
        </p:txBody>
      </p:sp>
      <p:sp>
        <p:nvSpPr>
          <p:cNvPr id="4" name="Text Placeholder 3">
            <a:extLst>
              <a:ext uri="{FF2B5EF4-FFF2-40B4-BE49-F238E27FC236}">
                <a16:creationId xmlns:a16="http://schemas.microsoft.com/office/drawing/2014/main" id="{26CA9F9E-A21C-F58C-019D-C1354B558AD1}"/>
              </a:ext>
            </a:extLst>
          </p:cNvPr>
          <p:cNvSpPr>
            <a:spLocks noGrp="1"/>
          </p:cNvSpPr>
          <p:nvPr>
            <p:ph type="body" sz="quarter" idx="22"/>
          </p:nvPr>
        </p:nvSpPr>
        <p:spPr>
          <a:xfrm>
            <a:off x="623060" y="3076575"/>
            <a:ext cx="10721216" cy="1625600"/>
          </a:xfrm>
        </p:spPr>
        <p:txBody>
          <a:bodyPr>
            <a:normAutofit/>
          </a:bodyPr>
          <a:lstStyle>
            <a:lvl1pPr marL="0" indent="0">
              <a:buNone/>
              <a:defRPr sz="1000" b="0">
                <a:solidFill>
                  <a:schemeClr val="tx1"/>
                </a:solidFill>
                <a:latin typeface="Leelawadee UI" panose="020B0502040204020203" pitchFamily="34" charset="-34"/>
                <a:cs typeface="Leelawadee UI" panose="020B0502040204020203" pitchFamily="34" charset="-34"/>
              </a:defRPr>
            </a:lvl1pPr>
          </a:lstStyle>
          <a:p>
            <a:pPr lvl="0"/>
            <a:r>
              <a:rPr lang="en-US" dirty="0"/>
              <a:t>Click to edit Master text styles</a:t>
            </a:r>
          </a:p>
        </p:txBody>
      </p:sp>
    </p:spTree>
    <p:extLst>
      <p:ext uri="{BB962C8B-B14F-4D97-AF65-F5344CB8AC3E}">
        <p14:creationId xmlns:p14="http://schemas.microsoft.com/office/powerpoint/2010/main" val="2944224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B3769-5C7E-17BA-A47E-90544A426B7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2A6A3808-DB2F-4FA7-209E-326A2F6076F5}"/>
              </a:ext>
            </a:extLst>
          </p:cNvPr>
          <p:cNvSpPr>
            <a:spLocks noGrp="1"/>
          </p:cNvSpPr>
          <p:nvPr>
            <p:ph idx="1"/>
          </p:nvPr>
        </p:nvSpPr>
        <p:spPr/>
        <p:txBody>
          <a:bodyPr/>
          <a:lstStyle>
            <a:lvl1pPr>
              <a:defRPr>
                <a:latin typeface="Source Sans Pro" panose="020B0503030403020204" pitchFamily="34" charset="0"/>
                <a:ea typeface="Source Sans Pro" panose="020B0503030403020204" pitchFamily="34" charset="0"/>
                <a:cs typeface="Leelawadee UI" panose="020B0502040204020203" pitchFamily="34" charset="-34"/>
              </a:defRPr>
            </a:lvl1pPr>
            <a:lvl2pPr>
              <a:defRPr>
                <a:latin typeface="Source Sans Pro" panose="020B0503030403020204" pitchFamily="34" charset="0"/>
                <a:ea typeface="Source Sans Pro" panose="020B0503030403020204" pitchFamily="34" charset="0"/>
                <a:cs typeface="Leelawadee UI" panose="020B0502040204020203" pitchFamily="34" charset="-34"/>
              </a:defRPr>
            </a:lvl2pPr>
            <a:lvl3pPr>
              <a:defRPr>
                <a:latin typeface="Source Sans Pro" panose="020B0503030403020204" pitchFamily="34" charset="0"/>
                <a:ea typeface="Source Sans Pro" panose="020B0503030403020204" pitchFamily="34" charset="0"/>
                <a:cs typeface="Leelawadee UI" panose="020B0502040204020203" pitchFamily="34" charset="-34"/>
              </a:defRPr>
            </a:lvl3pPr>
            <a:lvl4pPr>
              <a:defRPr>
                <a:latin typeface="Source Sans Pro" panose="020B0503030403020204" pitchFamily="34" charset="0"/>
                <a:ea typeface="Source Sans Pro" panose="020B0503030403020204" pitchFamily="34" charset="0"/>
                <a:cs typeface="Leelawadee UI" panose="020B0502040204020203" pitchFamily="34" charset="-34"/>
              </a:defRPr>
            </a:lvl4pPr>
            <a:lvl5pPr>
              <a:defRPr>
                <a:latin typeface="Source Sans Pro" panose="020B0503030403020204" pitchFamily="34" charset="0"/>
                <a:ea typeface="Source Sans Pro" panose="020B0503030403020204" pitchFamily="34" charset="0"/>
                <a:cs typeface="Leelawadee UI" panose="020B0502040204020203" pitchFamily="34" charset="-3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Slide Number Placeholder 5">
            <a:extLst>
              <a:ext uri="{FF2B5EF4-FFF2-40B4-BE49-F238E27FC236}">
                <a16:creationId xmlns:a16="http://schemas.microsoft.com/office/drawing/2014/main" id="{DFDDDEC0-42B6-6212-EF99-E1F5521C10C4}"/>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Tree>
    <p:extLst>
      <p:ext uri="{BB962C8B-B14F-4D97-AF65-F5344CB8AC3E}">
        <p14:creationId xmlns:p14="http://schemas.microsoft.com/office/powerpoint/2010/main" val="242858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F1D47-6C73-425B-736E-C7D66AC981AB}"/>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9DD4A616-0496-CA9D-413A-26FB04A1F4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497C33C9-999D-1326-43C7-A739C3910531}"/>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Tree>
    <p:extLst>
      <p:ext uri="{BB962C8B-B14F-4D97-AF65-F5344CB8AC3E}">
        <p14:creationId xmlns:p14="http://schemas.microsoft.com/office/powerpoint/2010/main" val="394648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8C928-427C-8DDD-3F2E-DFD95AC07C5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63B3C28-DB38-3F79-EBED-74535D594B52}"/>
              </a:ext>
            </a:extLst>
          </p:cNvPr>
          <p:cNvSpPr>
            <a:spLocks noGrp="1"/>
          </p:cNvSpPr>
          <p:nvPr>
            <p:ph sz="half" idx="1"/>
          </p:nvPr>
        </p:nvSpPr>
        <p:spPr>
          <a:xfrm>
            <a:off x="838200" y="1825625"/>
            <a:ext cx="5181600" cy="435133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Content Placeholder 3">
            <a:extLst>
              <a:ext uri="{FF2B5EF4-FFF2-40B4-BE49-F238E27FC236}">
                <a16:creationId xmlns:a16="http://schemas.microsoft.com/office/drawing/2014/main" id="{3D049910-A3DA-C186-706C-247EC71FE29F}"/>
              </a:ext>
            </a:extLst>
          </p:cNvPr>
          <p:cNvSpPr>
            <a:spLocks noGrp="1"/>
          </p:cNvSpPr>
          <p:nvPr>
            <p:ph sz="half" idx="2"/>
          </p:nvPr>
        </p:nvSpPr>
        <p:spPr>
          <a:xfrm>
            <a:off x="6172200" y="1825625"/>
            <a:ext cx="5181600" cy="435133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Slide Number Placeholder 6">
            <a:extLst>
              <a:ext uri="{FF2B5EF4-FFF2-40B4-BE49-F238E27FC236}">
                <a16:creationId xmlns:a16="http://schemas.microsoft.com/office/drawing/2014/main" id="{30378766-1E3B-7B9E-9A40-22229C9AA102}"/>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Tree>
    <p:extLst>
      <p:ext uri="{BB962C8B-B14F-4D97-AF65-F5344CB8AC3E}">
        <p14:creationId xmlns:p14="http://schemas.microsoft.com/office/powerpoint/2010/main" val="413708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B3BCE3-3607-EA7D-5BF7-FDA9DB19E9C8}"/>
              </a:ext>
            </a:extLst>
          </p:cNvPr>
          <p:cNvSpPr>
            <a:spLocks noGrp="1"/>
          </p:cNvSpPr>
          <p:nvPr>
            <p:ph type="body" idx="1"/>
          </p:nvPr>
        </p:nvSpPr>
        <p:spPr>
          <a:xfrm>
            <a:off x="839788" y="1681163"/>
            <a:ext cx="5157787" cy="823912"/>
          </a:xfr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3473E7-A44E-622B-E759-30D3D2D81822}"/>
              </a:ext>
            </a:extLst>
          </p:cNvPr>
          <p:cNvSpPr>
            <a:spLocks noGrp="1"/>
          </p:cNvSpPr>
          <p:nvPr>
            <p:ph sz="half" idx="2"/>
          </p:nvPr>
        </p:nvSpPr>
        <p:spPr>
          <a:xfrm>
            <a:off x="839788" y="2505075"/>
            <a:ext cx="5157787" cy="368458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5F3EE929-FC52-1C5D-6BEB-3AAF4DD5BEAC}"/>
              </a:ext>
            </a:extLst>
          </p:cNvPr>
          <p:cNvSpPr>
            <a:spLocks noGrp="1"/>
          </p:cNvSpPr>
          <p:nvPr>
            <p:ph type="body" sz="quarter" idx="3"/>
          </p:nvPr>
        </p:nvSpPr>
        <p:spPr>
          <a:xfrm>
            <a:off x="6172200" y="1681163"/>
            <a:ext cx="5183188" cy="823912"/>
          </a:xfr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71F01-C8EC-113B-A5CA-9E401F9BA8EE}"/>
              </a:ext>
            </a:extLst>
          </p:cNvPr>
          <p:cNvSpPr>
            <a:spLocks noGrp="1"/>
          </p:cNvSpPr>
          <p:nvPr>
            <p:ph sz="quarter" idx="4"/>
          </p:nvPr>
        </p:nvSpPr>
        <p:spPr>
          <a:xfrm>
            <a:off x="6172200" y="2505075"/>
            <a:ext cx="5183188" cy="368458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9" name="Slide Number Placeholder 8">
            <a:extLst>
              <a:ext uri="{FF2B5EF4-FFF2-40B4-BE49-F238E27FC236}">
                <a16:creationId xmlns:a16="http://schemas.microsoft.com/office/drawing/2014/main" id="{957E6F9A-1602-85F9-1DD0-B5520FB7B353}"/>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
        <p:nvSpPr>
          <p:cNvPr id="7" name="Title 1">
            <a:extLst>
              <a:ext uri="{FF2B5EF4-FFF2-40B4-BE49-F238E27FC236}">
                <a16:creationId xmlns:a16="http://schemas.microsoft.com/office/drawing/2014/main" id="{F62421E0-2D11-55FD-4596-6E99F950ABC2}"/>
              </a:ext>
            </a:extLst>
          </p:cNvPr>
          <p:cNvSpPr>
            <a:spLocks noGrp="1"/>
          </p:cNvSpPr>
          <p:nvPr>
            <p:ph type="title"/>
          </p:nvPr>
        </p:nvSpPr>
        <p:spPr>
          <a:xfrm>
            <a:off x="1233714" y="64713"/>
            <a:ext cx="8900885" cy="796018"/>
          </a:xfrm>
        </p:spPr>
        <p:txBody>
          <a:bodyPr/>
          <a:lstStyle/>
          <a:p>
            <a:r>
              <a:rPr lang="en-US"/>
              <a:t>Click to edit Master title style</a:t>
            </a:r>
            <a:endParaRPr lang="en-ID"/>
          </a:p>
        </p:txBody>
      </p:sp>
    </p:spTree>
    <p:extLst>
      <p:ext uri="{BB962C8B-B14F-4D97-AF65-F5344CB8AC3E}">
        <p14:creationId xmlns:p14="http://schemas.microsoft.com/office/powerpoint/2010/main" val="92490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8444-B70C-FEC0-87F5-2B7CA0189CED}"/>
              </a:ext>
            </a:extLst>
          </p:cNvPr>
          <p:cNvSpPr>
            <a:spLocks noGrp="1"/>
          </p:cNvSpPr>
          <p:nvPr>
            <p:ph type="title"/>
          </p:nvPr>
        </p:nvSpPr>
        <p:spPr/>
        <p:txBody>
          <a:bodyPr/>
          <a:lstStyle/>
          <a:p>
            <a:r>
              <a:rPr lang="en-US"/>
              <a:t>Click to edit Master title style</a:t>
            </a:r>
            <a:endParaRPr lang="en-ID"/>
          </a:p>
        </p:txBody>
      </p:sp>
      <p:sp>
        <p:nvSpPr>
          <p:cNvPr id="5" name="Slide Number Placeholder 4">
            <a:extLst>
              <a:ext uri="{FF2B5EF4-FFF2-40B4-BE49-F238E27FC236}">
                <a16:creationId xmlns:a16="http://schemas.microsoft.com/office/drawing/2014/main" id="{F8DF507A-61CD-B025-8A8D-6827AAB60CAC}"/>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Tree>
    <p:extLst>
      <p:ext uri="{BB962C8B-B14F-4D97-AF65-F5344CB8AC3E}">
        <p14:creationId xmlns:p14="http://schemas.microsoft.com/office/powerpoint/2010/main" val="1139574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FEE03-20D3-3A1F-3868-5E831AD56622}"/>
              </a:ext>
            </a:extLst>
          </p:cNvPr>
          <p:cNvSpPr>
            <a:spLocks noGrp="1"/>
          </p:cNvSpPr>
          <p:nvPr>
            <p:ph type="title"/>
          </p:nvPr>
        </p:nvSpPr>
        <p:spPr>
          <a:xfrm>
            <a:off x="842924" y="1488954"/>
            <a:ext cx="3929102" cy="1261503"/>
          </a:xfrm>
        </p:spPr>
        <p:txBody>
          <a:bodyPr anchor="ctr"/>
          <a:lstStyle>
            <a:lvl1pPr>
              <a:defRPr sz="3200">
                <a:solidFill>
                  <a:schemeClr val="tx1"/>
                </a:solidFill>
              </a:defRPr>
            </a:lvl1pPr>
          </a:lstStyle>
          <a:p>
            <a:r>
              <a:rPr lang="en-US" dirty="0"/>
              <a:t>Click to edit Master title style</a:t>
            </a:r>
            <a:endParaRPr lang="en-ID" dirty="0"/>
          </a:p>
        </p:txBody>
      </p:sp>
      <p:sp>
        <p:nvSpPr>
          <p:cNvPr id="3" name="Picture Placeholder 2">
            <a:extLst>
              <a:ext uri="{FF2B5EF4-FFF2-40B4-BE49-F238E27FC236}">
                <a16:creationId xmlns:a16="http://schemas.microsoft.com/office/drawing/2014/main" id="{20DD722E-D88D-F74A-07DB-A2EA60770361}"/>
              </a:ext>
            </a:extLst>
          </p:cNvPr>
          <p:cNvSpPr>
            <a:spLocks noGrp="1"/>
          </p:cNvSpPr>
          <p:nvPr>
            <p:ph type="pic" idx="1"/>
          </p:nvPr>
        </p:nvSpPr>
        <p:spPr>
          <a:xfrm>
            <a:off x="5183188" y="1488954"/>
            <a:ext cx="5985555" cy="46043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E6880DD6-AADF-45C7-779B-36C351CA8D8F}"/>
              </a:ext>
            </a:extLst>
          </p:cNvPr>
          <p:cNvSpPr>
            <a:spLocks noGrp="1"/>
          </p:cNvSpPr>
          <p:nvPr>
            <p:ph type="body" sz="half" idx="2"/>
          </p:nvPr>
        </p:nvSpPr>
        <p:spPr>
          <a:xfrm>
            <a:off x="839788" y="2815771"/>
            <a:ext cx="3932237" cy="3285445"/>
          </a:xfr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331B67A4-85A5-5FF1-006C-1E3CC6B89DDB}"/>
              </a:ext>
            </a:extLst>
          </p:cNvPr>
          <p:cNvSpPr>
            <a:spLocks noGrp="1"/>
          </p:cNvSpPr>
          <p:nvPr>
            <p:ph type="sldNum" sz="quarter" idx="12"/>
          </p:nvPr>
        </p:nvSpPr>
        <p:spPr/>
        <p:txBody>
          <a:bodyPr/>
          <a:lstStyle>
            <a:lvl1pPr>
              <a:defRPr>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a:p>
        </p:txBody>
      </p:sp>
    </p:spTree>
    <p:extLst>
      <p:ext uri="{BB962C8B-B14F-4D97-AF65-F5344CB8AC3E}">
        <p14:creationId xmlns:p14="http://schemas.microsoft.com/office/powerpoint/2010/main" val="1496563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84C26B23-457E-D60E-69F1-F25D9311FB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1279" y="2917095"/>
            <a:ext cx="2189817" cy="2187792"/>
          </a:xfrm>
          <a:prstGeom prst="rect">
            <a:avLst/>
          </a:prstGeom>
        </p:spPr>
      </p:pic>
      <p:sp>
        <p:nvSpPr>
          <p:cNvPr id="18" name="TextBox 17">
            <a:extLst>
              <a:ext uri="{FF2B5EF4-FFF2-40B4-BE49-F238E27FC236}">
                <a16:creationId xmlns:a16="http://schemas.microsoft.com/office/drawing/2014/main" id="{7C117443-6D8D-4E8E-1491-854BCAE24AFF}"/>
              </a:ext>
            </a:extLst>
          </p:cNvPr>
          <p:cNvSpPr txBox="1"/>
          <p:nvPr userDrawn="1"/>
        </p:nvSpPr>
        <p:spPr>
          <a:xfrm>
            <a:off x="887058" y="1216236"/>
            <a:ext cx="676788" cy="1107996"/>
          </a:xfrm>
          <a:prstGeom prst="rect">
            <a:avLst/>
          </a:prstGeom>
          <a:noFill/>
        </p:spPr>
        <p:txBody>
          <a:bodyPr wrap="none" rtlCol="0">
            <a:spAutoFit/>
          </a:bodyPr>
          <a:lstStyle/>
          <a:p>
            <a:r>
              <a:rPr lang="en-US" sz="6600" dirty="0">
                <a:solidFill>
                  <a:srgbClr val="019900"/>
                </a:solidFill>
              </a:rPr>
              <a:t>…</a:t>
            </a:r>
          </a:p>
        </p:txBody>
      </p:sp>
      <p:pic>
        <p:nvPicPr>
          <p:cNvPr id="10" name="Picture 9">
            <a:extLst>
              <a:ext uri="{FF2B5EF4-FFF2-40B4-BE49-F238E27FC236}">
                <a16:creationId xmlns:a16="http://schemas.microsoft.com/office/drawing/2014/main" id="{84BBA83E-8C17-FD6D-A501-54C6A3D127F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058" y="914400"/>
            <a:ext cx="676788" cy="838714"/>
          </a:xfrm>
          <a:prstGeom prst="rect">
            <a:avLst/>
          </a:prstGeom>
        </p:spPr>
      </p:pic>
      <p:sp>
        <p:nvSpPr>
          <p:cNvPr id="3" name="Subtitle 2">
            <a:extLst>
              <a:ext uri="{FF2B5EF4-FFF2-40B4-BE49-F238E27FC236}">
                <a16:creationId xmlns:a16="http://schemas.microsoft.com/office/drawing/2014/main" id="{637CD185-B51A-AE60-EF93-7BC9D43DCA6C}"/>
              </a:ext>
            </a:extLst>
          </p:cNvPr>
          <p:cNvSpPr txBox="1">
            <a:spLocks/>
          </p:cNvSpPr>
          <p:nvPr userDrawn="1"/>
        </p:nvSpPr>
        <p:spPr>
          <a:xfrm>
            <a:off x="2737721" y="3286681"/>
            <a:ext cx="3154121" cy="5496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1D4999"/>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dirty="0">
                <a:latin typeface="Segoe UI Black" panose="020B0A02040204020203" pitchFamily="34" charset="0"/>
                <a:ea typeface="Segoe UI Black" panose="020B0A02040204020203" pitchFamily="34" charset="0"/>
              </a:rPr>
              <a:t>Badan </a:t>
            </a:r>
            <a:r>
              <a:rPr lang="en-US" sz="1400" dirty="0" err="1">
                <a:latin typeface="Segoe UI Black" panose="020B0A02040204020203" pitchFamily="34" charset="0"/>
                <a:ea typeface="Segoe UI Black" panose="020B0A02040204020203" pitchFamily="34" charset="0"/>
              </a:rPr>
              <a:t>Meteorologi</a:t>
            </a:r>
            <a:r>
              <a:rPr lang="en-US" sz="1400" dirty="0">
                <a:latin typeface="Segoe UI Black" panose="020B0A02040204020203" pitchFamily="34" charset="0"/>
                <a:ea typeface="Segoe UI Black" panose="020B0A02040204020203" pitchFamily="34" charset="0"/>
              </a:rPr>
              <a:t> </a:t>
            </a:r>
            <a:r>
              <a:rPr lang="en-US" sz="1400" dirty="0" err="1">
                <a:latin typeface="Segoe UI Black" panose="020B0A02040204020203" pitchFamily="34" charset="0"/>
                <a:ea typeface="Segoe UI Black" panose="020B0A02040204020203" pitchFamily="34" charset="0"/>
              </a:rPr>
              <a:t>Klimatologi</a:t>
            </a:r>
            <a:r>
              <a:rPr lang="en-US" sz="1400" dirty="0">
                <a:latin typeface="Segoe UI Black" panose="020B0A02040204020203" pitchFamily="34" charset="0"/>
                <a:ea typeface="Segoe UI Black" panose="020B0A02040204020203" pitchFamily="34" charset="0"/>
              </a:rPr>
              <a:t> dan </a:t>
            </a:r>
            <a:r>
              <a:rPr lang="en-US" sz="1400" dirty="0" err="1">
                <a:latin typeface="Segoe UI Black" panose="020B0A02040204020203" pitchFamily="34" charset="0"/>
                <a:ea typeface="Segoe UI Black" panose="020B0A02040204020203" pitchFamily="34" charset="0"/>
              </a:rPr>
              <a:t>Geofisika</a:t>
            </a:r>
            <a:endParaRPr lang="en-ID" sz="1400" dirty="0">
              <a:latin typeface="Segoe UI Black" panose="020B0A02040204020203" pitchFamily="34" charset="0"/>
              <a:ea typeface="Segoe UI Black" panose="020B0A02040204020203" pitchFamily="34" charset="0"/>
            </a:endParaRPr>
          </a:p>
        </p:txBody>
      </p:sp>
      <p:grpSp>
        <p:nvGrpSpPr>
          <p:cNvPr id="9" name="Group 8">
            <a:extLst>
              <a:ext uri="{FF2B5EF4-FFF2-40B4-BE49-F238E27FC236}">
                <a16:creationId xmlns:a16="http://schemas.microsoft.com/office/drawing/2014/main" id="{9D8A6269-657C-6EA0-B782-F2785F033F17}"/>
              </a:ext>
            </a:extLst>
          </p:cNvPr>
          <p:cNvGrpSpPr/>
          <p:nvPr userDrawn="1"/>
        </p:nvGrpSpPr>
        <p:grpSpPr>
          <a:xfrm>
            <a:off x="2842891" y="3843495"/>
            <a:ext cx="1822602" cy="292388"/>
            <a:chOff x="2980777" y="3760025"/>
            <a:chExt cx="1822602" cy="292388"/>
          </a:xfrm>
        </p:grpSpPr>
        <p:pic>
          <p:nvPicPr>
            <p:cNvPr id="4" name="Picture 3">
              <a:extLst>
                <a:ext uri="{FF2B5EF4-FFF2-40B4-BE49-F238E27FC236}">
                  <a16:creationId xmlns:a16="http://schemas.microsoft.com/office/drawing/2014/main" id="{70B54DB6-61B9-4A23-949F-DC3A4059471F}"/>
                </a:ext>
              </a:extLst>
            </p:cNvPr>
            <p:cNvPicPr>
              <a:picLocks noChangeAspect="1"/>
            </p:cNvPicPr>
            <p:nvPr userDrawn="1"/>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248251" y="3787614"/>
              <a:ext cx="245679" cy="245679"/>
            </a:xfrm>
            <a:prstGeom prst="rect">
              <a:avLst/>
            </a:prstGeom>
          </p:spPr>
        </p:pic>
        <p:pic>
          <p:nvPicPr>
            <p:cNvPr id="6" name="Picture 5">
              <a:extLst>
                <a:ext uri="{FF2B5EF4-FFF2-40B4-BE49-F238E27FC236}">
                  <a16:creationId xmlns:a16="http://schemas.microsoft.com/office/drawing/2014/main" id="{B3660C0B-AA82-04DB-7785-B5438A9EB50C}"/>
                </a:ext>
              </a:extLst>
            </p:cNvPr>
            <p:cNvPicPr>
              <a:picLocks noChangeAspect="1"/>
            </p:cNvPicPr>
            <p:nvPr userDrawn="1"/>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509893" y="3787614"/>
              <a:ext cx="245679" cy="245679"/>
            </a:xfrm>
            <a:prstGeom prst="rect">
              <a:avLst/>
            </a:prstGeom>
          </p:spPr>
        </p:pic>
        <p:pic>
          <p:nvPicPr>
            <p:cNvPr id="7" name="Picture 6">
              <a:extLst>
                <a:ext uri="{FF2B5EF4-FFF2-40B4-BE49-F238E27FC236}">
                  <a16:creationId xmlns:a16="http://schemas.microsoft.com/office/drawing/2014/main" id="{E74920FA-DCA3-F242-34E4-1F5FC48F8ED8}"/>
                </a:ext>
              </a:extLst>
            </p:cNvPr>
            <p:cNvPicPr>
              <a:picLocks noChangeAspect="1"/>
            </p:cNvPicPr>
            <p:nvPr userDrawn="1"/>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980777" y="3787615"/>
              <a:ext cx="245679" cy="245679"/>
            </a:xfrm>
            <a:prstGeom prst="rect">
              <a:avLst/>
            </a:prstGeom>
          </p:spPr>
        </p:pic>
        <p:sp>
          <p:nvSpPr>
            <p:cNvPr id="8" name="TextBox 7">
              <a:extLst>
                <a:ext uri="{FF2B5EF4-FFF2-40B4-BE49-F238E27FC236}">
                  <a16:creationId xmlns:a16="http://schemas.microsoft.com/office/drawing/2014/main" id="{D5BA7FC6-9A72-F2BB-D13A-773DC2588692}"/>
                </a:ext>
              </a:extLst>
            </p:cNvPr>
            <p:cNvSpPr txBox="1"/>
            <p:nvPr userDrawn="1"/>
          </p:nvSpPr>
          <p:spPr>
            <a:xfrm>
              <a:off x="3740666" y="3760025"/>
              <a:ext cx="1062713" cy="292388"/>
            </a:xfrm>
            <a:prstGeom prst="rect">
              <a:avLst/>
            </a:prstGeom>
            <a:noFill/>
          </p:spPr>
          <p:txBody>
            <a:bodyPr wrap="square" rtlCol="0">
              <a:spAutoFit/>
            </a:bodyPr>
            <a:lstStyle/>
            <a:p>
              <a:r>
                <a:rPr lang="en-US" sz="1300" b="0" dirty="0">
                  <a:solidFill>
                    <a:schemeClr val="tx1"/>
                  </a:solidFill>
                  <a:latin typeface="Abadi" panose="020B0604020104020204" pitchFamily="34" charset="0"/>
                  <a:cs typeface="Leelawadee UI" panose="020B0502040204020203" pitchFamily="34" charset="-34"/>
                </a:rPr>
                <a:t>@infoBMKG</a:t>
              </a:r>
              <a:endParaRPr lang="en-ID" sz="1300" b="0" dirty="0">
                <a:solidFill>
                  <a:schemeClr val="tx1"/>
                </a:solidFill>
                <a:latin typeface="Abadi" panose="020B0604020104020204" pitchFamily="34" charset="0"/>
                <a:cs typeface="Leelawadee UI" panose="020B0502040204020203" pitchFamily="34" charset="-34"/>
              </a:endParaRPr>
            </a:p>
          </p:txBody>
        </p:sp>
      </p:grpSp>
      <p:grpSp>
        <p:nvGrpSpPr>
          <p:cNvPr id="19" name="Group 18">
            <a:extLst>
              <a:ext uri="{FF2B5EF4-FFF2-40B4-BE49-F238E27FC236}">
                <a16:creationId xmlns:a16="http://schemas.microsoft.com/office/drawing/2014/main" id="{E15B720F-92EF-67DE-0688-5A88B7CB6438}"/>
              </a:ext>
            </a:extLst>
          </p:cNvPr>
          <p:cNvGrpSpPr/>
          <p:nvPr userDrawn="1"/>
        </p:nvGrpSpPr>
        <p:grpSpPr>
          <a:xfrm>
            <a:off x="2848538" y="4178327"/>
            <a:ext cx="1276410" cy="276999"/>
            <a:chOff x="2500195" y="3330046"/>
            <a:chExt cx="1276410" cy="276999"/>
          </a:xfrm>
        </p:grpSpPr>
        <p:pic>
          <p:nvPicPr>
            <p:cNvPr id="14" name="Picture 13">
              <a:extLst>
                <a:ext uri="{FF2B5EF4-FFF2-40B4-BE49-F238E27FC236}">
                  <a16:creationId xmlns:a16="http://schemas.microsoft.com/office/drawing/2014/main" id="{658FFCD0-27F2-AB11-9C64-3B82584F7F5D}"/>
                </a:ext>
              </a:extLst>
            </p:cNvPr>
            <p:cNvPicPr>
              <a:picLocks noChangeAspect="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500195" y="3345706"/>
              <a:ext cx="245680" cy="245680"/>
            </a:xfrm>
            <a:prstGeom prst="rect">
              <a:avLst/>
            </a:prstGeom>
          </p:spPr>
        </p:pic>
        <p:sp>
          <p:nvSpPr>
            <p:cNvPr id="15" name="TextBox 14">
              <a:extLst>
                <a:ext uri="{FF2B5EF4-FFF2-40B4-BE49-F238E27FC236}">
                  <a16:creationId xmlns:a16="http://schemas.microsoft.com/office/drawing/2014/main" id="{A4CE85D9-0472-AEB8-CB24-BC9820659F99}"/>
                </a:ext>
              </a:extLst>
            </p:cNvPr>
            <p:cNvSpPr txBox="1"/>
            <p:nvPr userDrawn="1"/>
          </p:nvSpPr>
          <p:spPr>
            <a:xfrm>
              <a:off x="2713892" y="3330046"/>
              <a:ext cx="1062713" cy="276999"/>
            </a:xfrm>
            <a:prstGeom prst="rect">
              <a:avLst/>
            </a:prstGeom>
            <a:noFill/>
          </p:spPr>
          <p:txBody>
            <a:bodyPr wrap="square" rtlCol="0">
              <a:spAutoFit/>
            </a:bodyPr>
            <a:lstStyle/>
            <a:p>
              <a:r>
                <a:rPr lang="en-US" sz="1200" b="0" dirty="0">
                  <a:solidFill>
                    <a:schemeClr val="tx1"/>
                  </a:solidFill>
                  <a:latin typeface="Abadi" panose="020B0604020104020204" pitchFamily="34" charset="0"/>
                  <a:cs typeface="Leelawadee UI" panose="020B0502040204020203" pitchFamily="34" charset="-34"/>
                </a:rPr>
                <a:t>(021)196</a:t>
              </a:r>
              <a:endParaRPr lang="en-ID" sz="1200" b="0" dirty="0">
                <a:solidFill>
                  <a:schemeClr val="tx1"/>
                </a:solidFill>
                <a:latin typeface="Abadi" panose="020B0604020104020204" pitchFamily="34" charset="0"/>
                <a:cs typeface="Leelawadee UI" panose="020B0502040204020203" pitchFamily="34" charset="-34"/>
              </a:endParaRPr>
            </a:p>
          </p:txBody>
        </p:sp>
      </p:grpSp>
      <p:grpSp>
        <p:nvGrpSpPr>
          <p:cNvPr id="21" name="Group 20">
            <a:extLst>
              <a:ext uri="{FF2B5EF4-FFF2-40B4-BE49-F238E27FC236}">
                <a16:creationId xmlns:a16="http://schemas.microsoft.com/office/drawing/2014/main" id="{4904A733-F882-4608-F42E-AF1626E4D56D}"/>
              </a:ext>
            </a:extLst>
          </p:cNvPr>
          <p:cNvGrpSpPr/>
          <p:nvPr userDrawn="1"/>
        </p:nvGrpSpPr>
        <p:grpSpPr>
          <a:xfrm>
            <a:off x="2842891" y="4477073"/>
            <a:ext cx="1735216" cy="292388"/>
            <a:chOff x="2494548" y="3628792"/>
            <a:chExt cx="1735216" cy="292388"/>
          </a:xfrm>
        </p:grpSpPr>
        <p:pic>
          <p:nvPicPr>
            <p:cNvPr id="16" name="Picture 15">
              <a:extLst>
                <a:ext uri="{FF2B5EF4-FFF2-40B4-BE49-F238E27FC236}">
                  <a16:creationId xmlns:a16="http://schemas.microsoft.com/office/drawing/2014/main" id="{78EAFBE1-346E-29AC-1D62-988F7B30D61B}"/>
                </a:ext>
              </a:extLst>
            </p:cNvPr>
            <p:cNvPicPr>
              <a:picLocks noChangeAspect="1"/>
            </p:cNvPicPr>
            <p:nvPr userDrawn="1"/>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494548" y="3641805"/>
              <a:ext cx="266363" cy="266363"/>
            </a:xfrm>
            <a:prstGeom prst="rect">
              <a:avLst/>
            </a:prstGeom>
          </p:spPr>
        </p:pic>
        <p:sp>
          <p:nvSpPr>
            <p:cNvPr id="17" name="TextBox 16">
              <a:extLst>
                <a:ext uri="{FF2B5EF4-FFF2-40B4-BE49-F238E27FC236}">
                  <a16:creationId xmlns:a16="http://schemas.microsoft.com/office/drawing/2014/main" id="{1A7B9852-A3B5-B3C6-5736-E0B52C7CD4D6}"/>
                </a:ext>
              </a:extLst>
            </p:cNvPr>
            <p:cNvSpPr txBox="1"/>
            <p:nvPr userDrawn="1"/>
          </p:nvSpPr>
          <p:spPr>
            <a:xfrm>
              <a:off x="2722342" y="3628792"/>
              <a:ext cx="1507422" cy="292388"/>
            </a:xfrm>
            <a:prstGeom prst="rect">
              <a:avLst/>
            </a:prstGeom>
            <a:noFill/>
          </p:spPr>
          <p:txBody>
            <a:bodyPr wrap="square" rtlCol="0">
              <a:spAutoFit/>
            </a:bodyPr>
            <a:lstStyle/>
            <a:p>
              <a:r>
                <a:rPr lang="en-US" sz="1300" b="0" dirty="0">
                  <a:solidFill>
                    <a:schemeClr val="tx1"/>
                  </a:solidFill>
                  <a:latin typeface="Abadi" panose="020B0604020104020204" pitchFamily="34" charset="0"/>
                  <a:cs typeface="Leelawadee UI" panose="020B0502040204020203" pitchFamily="34" charset="-34"/>
                </a:rPr>
                <a:t>www.bmkg.go.id</a:t>
              </a:r>
              <a:endParaRPr lang="en-ID" sz="1300" b="0" dirty="0">
                <a:solidFill>
                  <a:schemeClr val="tx1"/>
                </a:solidFill>
                <a:latin typeface="Abadi" panose="020B0604020104020204" pitchFamily="34" charset="0"/>
                <a:cs typeface="Leelawadee UI" panose="020B0502040204020203" pitchFamily="34" charset="-34"/>
              </a:endParaRPr>
            </a:p>
          </p:txBody>
        </p:sp>
      </p:grpSp>
      <p:sp>
        <p:nvSpPr>
          <p:cNvPr id="22" name="Title 1">
            <a:extLst>
              <a:ext uri="{FF2B5EF4-FFF2-40B4-BE49-F238E27FC236}">
                <a16:creationId xmlns:a16="http://schemas.microsoft.com/office/drawing/2014/main" id="{56460C67-60FA-938E-AC2B-4868135DEE8A}"/>
              </a:ext>
            </a:extLst>
          </p:cNvPr>
          <p:cNvSpPr txBox="1">
            <a:spLocks/>
          </p:cNvSpPr>
          <p:nvPr userDrawn="1"/>
        </p:nvSpPr>
        <p:spPr>
          <a:xfrm>
            <a:off x="887058" y="2083605"/>
            <a:ext cx="5477456" cy="1168836"/>
          </a:xfrm>
          <a:prstGeom prst="roundRect">
            <a:avLst>
              <a:gd name="adj" fmla="val 0"/>
            </a:avLst>
          </a:prstGeom>
          <a:ln w="19050">
            <a:noFill/>
          </a:ln>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spc="300">
                <a:solidFill>
                  <a:schemeClr val="tx1"/>
                </a:solidFill>
                <a:latin typeface="+mj-lt"/>
                <a:ea typeface="+mj-ea"/>
                <a:cs typeface="+mj-cs"/>
              </a:defRPr>
            </a:lvl1pPr>
          </a:lstStyle>
          <a:p>
            <a:r>
              <a:rPr lang="en-US" dirty="0" err="1">
                <a:latin typeface="Segoe UI Black" panose="020B0A02040204020203" pitchFamily="34" charset="0"/>
                <a:ea typeface="Segoe UI Black" panose="020B0A02040204020203" pitchFamily="34" charset="0"/>
              </a:rPr>
              <a:t>Terimakasih</a:t>
            </a:r>
            <a:r>
              <a:rPr lang="en-US" dirty="0">
                <a:latin typeface="Segoe UI Black" panose="020B0A02040204020203" pitchFamily="34" charset="0"/>
                <a:ea typeface="Segoe UI Black" panose="020B0A02040204020203" pitchFamily="34" charset="0"/>
              </a:rPr>
              <a:t>!</a:t>
            </a:r>
            <a:endParaRPr lang="en-ID" dirty="0">
              <a:latin typeface="Segoe UI Black" panose="020B0A02040204020203" pitchFamily="34" charset="0"/>
              <a:ea typeface="Segoe UI Black" panose="020B0A02040204020203" pitchFamily="34" charset="0"/>
            </a:endParaRPr>
          </a:p>
        </p:txBody>
      </p:sp>
      <p:sp>
        <p:nvSpPr>
          <p:cNvPr id="24" name="Rectangle: Top Corners Rounded 23">
            <a:extLst>
              <a:ext uri="{FF2B5EF4-FFF2-40B4-BE49-F238E27FC236}">
                <a16:creationId xmlns:a16="http://schemas.microsoft.com/office/drawing/2014/main" id="{1E01AE2D-074F-D5E3-E64F-65D6B808B1F4}"/>
              </a:ext>
            </a:extLst>
          </p:cNvPr>
          <p:cNvSpPr/>
          <p:nvPr userDrawn="1"/>
        </p:nvSpPr>
        <p:spPr>
          <a:xfrm flipV="1">
            <a:off x="6765616" y="0"/>
            <a:ext cx="4996869" cy="587828"/>
          </a:xfrm>
          <a:prstGeom prst="round2SameRect">
            <a:avLst>
              <a:gd name="adj1" fmla="val 50000"/>
              <a:gd name="adj2" fmla="val 0"/>
            </a:avLst>
          </a:prstGeom>
          <a:solidFill>
            <a:srgbClr val="019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Top Corners Rounded 24">
            <a:extLst>
              <a:ext uri="{FF2B5EF4-FFF2-40B4-BE49-F238E27FC236}">
                <a16:creationId xmlns:a16="http://schemas.microsoft.com/office/drawing/2014/main" id="{329946CD-1422-C86D-67A9-BA51F7A19BC0}"/>
              </a:ext>
            </a:extLst>
          </p:cNvPr>
          <p:cNvSpPr/>
          <p:nvPr userDrawn="1"/>
        </p:nvSpPr>
        <p:spPr>
          <a:xfrm>
            <a:off x="6765616" y="6270172"/>
            <a:ext cx="4996869" cy="587828"/>
          </a:xfrm>
          <a:prstGeom prst="round2SameRect">
            <a:avLst>
              <a:gd name="adj1" fmla="val 50000"/>
              <a:gd name="adj2" fmla="val 0"/>
            </a:avLst>
          </a:prstGeom>
          <a:solidFill>
            <a:srgbClr val="0133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Picture Placeholder 26">
            <a:extLst>
              <a:ext uri="{FF2B5EF4-FFF2-40B4-BE49-F238E27FC236}">
                <a16:creationId xmlns:a16="http://schemas.microsoft.com/office/drawing/2014/main" id="{A1F3BFBA-A252-8AAB-ECA2-D127A61742F0}"/>
              </a:ext>
            </a:extLst>
          </p:cNvPr>
          <p:cNvSpPr>
            <a:spLocks noGrp="1"/>
          </p:cNvSpPr>
          <p:nvPr userDrawn="1">
            <p:ph type="pic" sz="quarter" idx="10"/>
          </p:nvPr>
        </p:nvSpPr>
        <p:spPr>
          <a:xfrm>
            <a:off x="6764636" y="914400"/>
            <a:ext cx="4996869" cy="5108575"/>
          </a:xfrm>
          <a:prstGeom prst="roundRect">
            <a:avLst>
              <a:gd name="adj" fmla="val 4734"/>
            </a:avLst>
          </a:prstGeom>
        </p:spPr>
        <p:txBody>
          <a:bodyPr/>
          <a:lstStyle/>
          <a:p>
            <a:endParaRPr lang="en-ID"/>
          </a:p>
        </p:txBody>
      </p:sp>
    </p:spTree>
    <p:extLst>
      <p:ext uri="{BB962C8B-B14F-4D97-AF65-F5344CB8AC3E}">
        <p14:creationId xmlns:p14="http://schemas.microsoft.com/office/powerpoint/2010/main" val="631201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852097-4069-403C-AA19-65391FF796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48311" y="110569"/>
            <a:ext cx="847746" cy="1050575"/>
          </a:xfrm>
          <a:prstGeom prst="rect">
            <a:avLst/>
          </a:prstGeom>
        </p:spPr>
      </p:pic>
      <p:sp>
        <p:nvSpPr>
          <p:cNvPr id="6" name="Rectangle 5">
            <a:extLst>
              <a:ext uri="{FF2B5EF4-FFF2-40B4-BE49-F238E27FC236}">
                <a16:creationId xmlns:a16="http://schemas.microsoft.com/office/drawing/2014/main" id="{044B4490-D6CA-4F9E-8E16-045ACDAAB9B2}"/>
              </a:ext>
            </a:extLst>
          </p:cNvPr>
          <p:cNvSpPr/>
          <p:nvPr userDrawn="1"/>
        </p:nvSpPr>
        <p:spPr>
          <a:xfrm>
            <a:off x="0" y="6538687"/>
            <a:ext cx="4463142" cy="326571"/>
          </a:xfrm>
          <a:prstGeom prst="rect">
            <a:avLst/>
          </a:prstGeom>
          <a:solidFill>
            <a:schemeClr val="bg1"/>
          </a:solidFill>
          <a:ln>
            <a:solidFill>
              <a:srgbClr val="2171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F86E7EE7-89C2-428A-B852-AEF5DDA214B4}"/>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67166" y="6579805"/>
            <a:ext cx="245679" cy="245679"/>
          </a:xfrm>
          <a:prstGeom prst="rect">
            <a:avLst/>
          </a:prstGeom>
        </p:spPr>
      </p:pic>
      <p:pic>
        <p:nvPicPr>
          <p:cNvPr id="9" name="Picture 8">
            <a:extLst>
              <a:ext uri="{FF2B5EF4-FFF2-40B4-BE49-F238E27FC236}">
                <a16:creationId xmlns:a16="http://schemas.microsoft.com/office/drawing/2014/main" id="{D90A7619-B135-487C-880D-1CB55357A9D4}"/>
              </a:ext>
            </a:extLst>
          </p:cNvPr>
          <p:cNvPicPr>
            <a:picLocks noChangeAspect="1"/>
          </p:cNvPicPr>
          <p:nvPr userDrawn="1"/>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28808" y="6579805"/>
            <a:ext cx="245679" cy="245679"/>
          </a:xfrm>
          <a:prstGeom prst="rect">
            <a:avLst/>
          </a:prstGeom>
        </p:spPr>
      </p:pic>
      <p:pic>
        <p:nvPicPr>
          <p:cNvPr id="10" name="Picture 9">
            <a:extLst>
              <a:ext uri="{FF2B5EF4-FFF2-40B4-BE49-F238E27FC236}">
                <a16:creationId xmlns:a16="http://schemas.microsoft.com/office/drawing/2014/main" id="{D3F39674-F627-40C6-8A6C-A0A2B72745BA}"/>
              </a:ext>
            </a:extLst>
          </p:cNvPr>
          <p:cNvPicPr>
            <a:picLocks noChangeAspect="1"/>
          </p:cNvPicPr>
          <p:nvPr userDrawn="1"/>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9692" y="6579806"/>
            <a:ext cx="245679" cy="245679"/>
          </a:xfrm>
          <a:prstGeom prst="rect">
            <a:avLst/>
          </a:prstGeom>
        </p:spPr>
      </p:pic>
      <p:sp>
        <p:nvSpPr>
          <p:cNvPr id="11" name="TextBox 10">
            <a:extLst>
              <a:ext uri="{FF2B5EF4-FFF2-40B4-BE49-F238E27FC236}">
                <a16:creationId xmlns:a16="http://schemas.microsoft.com/office/drawing/2014/main" id="{99A0777D-12A7-40B3-89C9-7DE7E6CC40A9}"/>
              </a:ext>
            </a:extLst>
          </p:cNvPr>
          <p:cNvSpPr txBox="1"/>
          <p:nvPr userDrawn="1"/>
        </p:nvSpPr>
        <p:spPr>
          <a:xfrm>
            <a:off x="831659" y="6579805"/>
            <a:ext cx="1062713" cy="276999"/>
          </a:xfrm>
          <a:prstGeom prst="rect">
            <a:avLst/>
          </a:prstGeom>
          <a:noFill/>
        </p:spPr>
        <p:txBody>
          <a:bodyPr wrap="square" rtlCol="0">
            <a:spAutoFit/>
          </a:bodyPr>
          <a:lstStyle/>
          <a:p>
            <a:r>
              <a:rPr lang="en-US" sz="1200" b="0" dirty="0">
                <a:solidFill>
                  <a:srgbClr val="1D4999"/>
                </a:solidFill>
              </a:rPr>
              <a:t>@infoBMKG</a:t>
            </a:r>
            <a:endParaRPr lang="en-ID" sz="1200" b="0" dirty="0">
              <a:solidFill>
                <a:srgbClr val="1D4999"/>
              </a:solidFill>
            </a:endParaRPr>
          </a:p>
        </p:txBody>
      </p:sp>
      <p:pic>
        <p:nvPicPr>
          <p:cNvPr id="12" name="Picture 11">
            <a:extLst>
              <a:ext uri="{FF2B5EF4-FFF2-40B4-BE49-F238E27FC236}">
                <a16:creationId xmlns:a16="http://schemas.microsoft.com/office/drawing/2014/main" id="{75FC4A31-0F0D-4963-87E6-8B0AD11F6536}"/>
              </a:ext>
            </a:extLst>
          </p:cNvPr>
          <p:cNvPicPr>
            <a:picLocks noChangeAspect="1"/>
          </p:cNvPicPr>
          <p:nvPr userDrawn="1"/>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850455" y="6582523"/>
            <a:ext cx="245680" cy="245680"/>
          </a:xfrm>
          <a:prstGeom prst="rect">
            <a:avLst/>
          </a:prstGeom>
        </p:spPr>
      </p:pic>
      <p:sp>
        <p:nvSpPr>
          <p:cNvPr id="13" name="TextBox 12">
            <a:extLst>
              <a:ext uri="{FF2B5EF4-FFF2-40B4-BE49-F238E27FC236}">
                <a16:creationId xmlns:a16="http://schemas.microsoft.com/office/drawing/2014/main" id="{D73E3AE1-87DE-40CD-96E3-86D5E69E94A1}"/>
              </a:ext>
            </a:extLst>
          </p:cNvPr>
          <p:cNvSpPr txBox="1"/>
          <p:nvPr userDrawn="1"/>
        </p:nvSpPr>
        <p:spPr>
          <a:xfrm>
            <a:off x="2045418" y="6585444"/>
            <a:ext cx="1062713" cy="276999"/>
          </a:xfrm>
          <a:prstGeom prst="rect">
            <a:avLst/>
          </a:prstGeom>
          <a:noFill/>
        </p:spPr>
        <p:txBody>
          <a:bodyPr wrap="square" rtlCol="0">
            <a:spAutoFit/>
          </a:bodyPr>
          <a:lstStyle/>
          <a:p>
            <a:r>
              <a:rPr lang="en-US" sz="1200" b="0" dirty="0">
                <a:solidFill>
                  <a:srgbClr val="1D4999"/>
                </a:solidFill>
              </a:rPr>
              <a:t>(021)196</a:t>
            </a:r>
            <a:endParaRPr lang="en-ID" sz="1200" b="0" dirty="0">
              <a:solidFill>
                <a:srgbClr val="1D4999"/>
              </a:solidFill>
            </a:endParaRPr>
          </a:p>
        </p:txBody>
      </p:sp>
      <p:pic>
        <p:nvPicPr>
          <p:cNvPr id="14" name="Picture 13">
            <a:extLst>
              <a:ext uri="{FF2B5EF4-FFF2-40B4-BE49-F238E27FC236}">
                <a16:creationId xmlns:a16="http://schemas.microsoft.com/office/drawing/2014/main" id="{E71D4784-49C9-4987-842F-66982B25B69D}"/>
              </a:ext>
            </a:extLst>
          </p:cNvPr>
          <p:cNvPicPr>
            <a:picLocks noChangeAspect="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815904" y="6573432"/>
            <a:ext cx="266363" cy="266363"/>
          </a:xfrm>
          <a:prstGeom prst="rect">
            <a:avLst/>
          </a:prstGeom>
        </p:spPr>
      </p:pic>
      <p:sp>
        <p:nvSpPr>
          <p:cNvPr id="15" name="TextBox 14">
            <a:extLst>
              <a:ext uri="{FF2B5EF4-FFF2-40B4-BE49-F238E27FC236}">
                <a16:creationId xmlns:a16="http://schemas.microsoft.com/office/drawing/2014/main" id="{DAF66B97-439A-40CF-B9FD-92B51D923D92}"/>
              </a:ext>
            </a:extLst>
          </p:cNvPr>
          <p:cNvSpPr txBox="1"/>
          <p:nvPr userDrawn="1"/>
        </p:nvSpPr>
        <p:spPr>
          <a:xfrm>
            <a:off x="3032720" y="6571838"/>
            <a:ext cx="1507422" cy="276999"/>
          </a:xfrm>
          <a:prstGeom prst="rect">
            <a:avLst/>
          </a:prstGeom>
          <a:noFill/>
        </p:spPr>
        <p:txBody>
          <a:bodyPr wrap="square" rtlCol="0">
            <a:spAutoFit/>
          </a:bodyPr>
          <a:lstStyle/>
          <a:p>
            <a:r>
              <a:rPr lang="en-US" sz="1200" b="0" dirty="0">
                <a:solidFill>
                  <a:srgbClr val="1D4999"/>
                </a:solidFill>
              </a:rPr>
              <a:t>www.bmkg.go.id</a:t>
            </a:r>
            <a:endParaRPr lang="en-ID" sz="1200" b="0" dirty="0">
              <a:solidFill>
                <a:srgbClr val="1D4999"/>
              </a:solidFill>
            </a:endParaRPr>
          </a:p>
        </p:txBody>
      </p:sp>
      <p:sp>
        <p:nvSpPr>
          <p:cNvPr id="17" name="Slide Number Placeholder 2">
            <a:extLst>
              <a:ext uri="{FF2B5EF4-FFF2-40B4-BE49-F238E27FC236}">
                <a16:creationId xmlns:a16="http://schemas.microsoft.com/office/drawing/2014/main" id="{1DB8DADE-1EAD-4B62-A190-DAEEFC811962}"/>
              </a:ext>
            </a:extLst>
          </p:cNvPr>
          <p:cNvSpPr>
            <a:spLocks noGrp="1"/>
          </p:cNvSpPr>
          <p:nvPr>
            <p:ph type="sldNum" sz="quarter" idx="10"/>
          </p:nvPr>
        </p:nvSpPr>
        <p:spPr>
          <a:xfrm>
            <a:off x="11743168" y="6203794"/>
            <a:ext cx="446314" cy="325856"/>
          </a:xfrm>
        </p:spPr>
        <p:txBody>
          <a:bodyPr/>
          <a:lstStyle/>
          <a:p>
            <a:fld id="{EDCAD221-FD27-42A4-A8EF-97D10159B0EB}" type="slidenum">
              <a:rPr lang="en-ID" smtClean="0"/>
              <a:pPr/>
              <a:t>‹#›</a:t>
            </a:fld>
            <a:endParaRPr lang="en-ID" dirty="0"/>
          </a:p>
        </p:txBody>
      </p:sp>
      <p:pic>
        <p:nvPicPr>
          <p:cNvPr id="18" name="Picture 2" descr="warming strip image for GLOBE">
            <a:extLst>
              <a:ext uri="{FF2B5EF4-FFF2-40B4-BE49-F238E27FC236}">
                <a16:creationId xmlns:a16="http://schemas.microsoft.com/office/drawing/2014/main" id="{86C79D81-7CFD-44D3-9054-1A0AFCDB4486}"/>
              </a:ext>
            </a:extLst>
          </p:cNvPr>
          <p:cNvPicPr>
            <a:picLocks noChangeAspect="1" noChangeArrowheads="1"/>
          </p:cNvPicPr>
          <p:nvPr userDrawn="1"/>
        </p:nvPicPr>
        <p:blipFill rotWithShape="1">
          <a:blip r:embed="rId8">
            <a:extLst>
              <a:ext uri="{28A0092B-C50C-407E-A947-70E740481C1C}">
                <a14:useLocalDpi xmlns:a14="http://schemas.microsoft.com/office/drawing/2010/main" val="0"/>
              </a:ext>
            </a:extLst>
          </a:blip>
          <a:srcRect t="94511"/>
          <a:stretch/>
        </p:blipFill>
        <p:spPr bwMode="auto">
          <a:xfrm>
            <a:off x="4463142" y="6531429"/>
            <a:ext cx="7728857" cy="326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588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78DC9-FC57-4E3F-9BC1-E5CA51A8693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1D4B336-34B3-4EAC-9427-8AE1ED8AFFD2}"/>
              </a:ext>
            </a:extLst>
          </p:cNvPr>
          <p:cNvSpPr>
            <a:spLocks noGrp="1"/>
          </p:cNvSpPr>
          <p:nvPr>
            <p:ph type="sldNum" sz="quarter" idx="10"/>
          </p:nvPr>
        </p:nvSpPr>
        <p:spPr/>
        <p:txBody>
          <a:bodyPr/>
          <a:lstStyle/>
          <a:p>
            <a:fld id="{EDCAD221-FD27-42A4-A8EF-97D10159B0EB}" type="slidenum">
              <a:rPr lang="en-ID" smtClean="0"/>
              <a:pPr/>
              <a:t>‹#›</a:t>
            </a:fld>
            <a:endParaRPr lang="en-ID" dirty="0"/>
          </a:p>
        </p:txBody>
      </p:sp>
    </p:spTree>
    <p:extLst>
      <p:ext uri="{BB962C8B-B14F-4D97-AF65-F5344CB8AC3E}">
        <p14:creationId xmlns:p14="http://schemas.microsoft.com/office/powerpoint/2010/main" val="90612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7.png"/><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6.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475202-1276-DADD-8A23-CD470EDD2DB1}"/>
              </a:ext>
            </a:extLst>
          </p:cNvPr>
          <p:cNvSpPr/>
          <p:nvPr userDrawn="1"/>
        </p:nvSpPr>
        <p:spPr>
          <a:xfrm>
            <a:off x="0" y="6538687"/>
            <a:ext cx="4463142" cy="326571"/>
          </a:xfrm>
          <a:prstGeom prst="rect">
            <a:avLst/>
          </a:prstGeom>
          <a:noFill/>
          <a:ln>
            <a:solidFill>
              <a:srgbClr val="2171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050" name="Picture 2" descr="warming strip image for GLOBE">
            <a:extLst>
              <a:ext uri="{FF2B5EF4-FFF2-40B4-BE49-F238E27FC236}">
                <a16:creationId xmlns:a16="http://schemas.microsoft.com/office/drawing/2014/main" id="{463A25E1-383D-8FC9-2156-1F460F0C8BA5}"/>
              </a:ext>
            </a:extLst>
          </p:cNvPr>
          <p:cNvPicPr>
            <a:picLocks noChangeAspect="1" noChangeArrowheads="1"/>
          </p:cNvPicPr>
          <p:nvPr userDrawn="1"/>
        </p:nvPicPr>
        <p:blipFill rotWithShape="1">
          <a:blip r:embed="rId20">
            <a:extLst>
              <a:ext uri="{28A0092B-C50C-407E-A947-70E740481C1C}">
                <a14:useLocalDpi xmlns:a14="http://schemas.microsoft.com/office/drawing/2010/main" val="0"/>
              </a:ext>
            </a:extLst>
          </a:blip>
          <a:srcRect t="94511"/>
          <a:stretch/>
        </p:blipFill>
        <p:spPr bwMode="auto">
          <a:xfrm>
            <a:off x="4463142" y="6531429"/>
            <a:ext cx="7728857" cy="326571"/>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Top Corners Rounded 47">
            <a:extLst>
              <a:ext uri="{FF2B5EF4-FFF2-40B4-BE49-F238E27FC236}">
                <a16:creationId xmlns:a16="http://schemas.microsoft.com/office/drawing/2014/main" id="{E55D1FC2-25D4-5F04-7C43-6947ACC6938E}"/>
              </a:ext>
            </a:extLst>
          </p:cNvPr>
          <p:cNvSpPr/>
          <p:nvPr userDrawn="1"/>
        </p:nvSpPr>
        <p:spPr>
          <a:xfrm rot="5400000">
            <a:off x="5032453" y="-4946704"/>
            <a:ext cx="747234" cy="10812137"/>
          </a:xfrm>
          <a:prstGeom prst="round2SameRect">
            <a:avLst>
              <a:gd name="adj1" fmla="val 50000"/>
              <a:gd name="adj2" fmla="val 0"/>
            </a:avLst>
          </a:prstGeom>
          <a:solidFill>
            <a:srgbClr val="0133CC"/>
          </a:solidFill>
          <a:ln>
            <a:noFill/>
          </a:ln>
          <a:effectLst>
            <a:outerShdw blurRad="215900" dist="1016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 name="Text Placeholder 2">
            <a:extLst>
              <a:ext uri="{FF2B5EF4-FFF2-40B4-BE49-F238E27FC236}">
                <a16:creationId xmlns:a16="http://schemas.microsoft.com/office/drawing/2014/main" id="{C793F9B2-D9AD-E133-8238-0007A7ADD84D}"/>
              </a:ext>
            </a:extLst>
          </p:cNvPr>
          <p:cNvSpPr>
            <a:spLocks noGrp="1"/>
          </p:cNvSpPr>
          <p:nvPr>
            <p:ph type="body" idx="1"/>
          </p:nvPr>
        </p:nvSpPr>
        <p:spPr>
          <a:xfrm>
            <a:off x="838200" y="1436914"/>
            <a:ext cx="10515600" cy="474004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pic>
        <p:nvPicPr>
          <p:cNvPr id="8" name="Picture 7">
            <a:extLst>
              <a:ext uri="{FF2B5EF4-FFF2-40B4-BE49-F238E27FC236}">
                <a16:creationId xmlns:a16="http://schemas.microsoft.com/office/drawing/2014/main" id="{E2E2E0FD-4AA5-5710-B7A2-76CA080A30AE}"/>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11207653" y="150523"/>
            <a:ext cx="746146" cy="924667"/>
          </a:xfrm>
          <a:prstGeom prst="rect">
            <a:avLst/>
          </a:prstGeom>
        </p:spPr>
      </p:pic>
      <p:sp>
        <p:nvSpPr>
          <p:cNvPr id="2" name="Title Placeholder 1">
            <a:extLst>
              <a:ext uri="{FF2B5EF4-FFF2-40B4-BE49-F238E27FC236}">
                <a16:creationId xmlns:a16="http://schemas.microsoft.com/office/drawing/2014/main" id="{C83CD38B-72E1-8D91-CECA-CFDECF7C791E}"/>
              </a:ext>
            </a:extLst>
          </p:cNvPr>
          <p:cNvSpPr>
            <a:spLocks noGrp="1"/>
          </p:cNvSpPr>
          <p:nvPr>
            <p:ph type="title"/>
          </p:nvPr>
        </p:nvSpPr>
        <p:spPr>
          <a:xfrm>
            <a:off x="1245736" y="220210"/>
            <a:ext cx="8900885" cy="478308"/>
          </a:xfrm>
          <a:prstGeom prst="rect">
            <a:avLst/>
          </a:prstGeom>
        </p:spPr>
        <p:txBody>
          <a:bodyPr vert="horz" lIns="91440" tIns="45720" rIns="91440" bIns="45720" rtlCol="0" anchor="ctr">
            <a:noAutofit/>
          </a:bodyPr>
          <a:lstStyle/>
          <a:p>
            <a:r>
              <a:rPr lang="en-US" dirty="0"/>
              <a:t>Click to edit Master title style</a:t>
            </a:r>
            <a:endParaRPr lang="en-ID" dirty="0"/>
          </a:p>
        </p:txBody>
      </p:sp>
      <p:pic>
        <p:nvPicPr>
          <p:cNvPr id="19" name="Picture 18">
            <a:extLst>
              <a:ext uri="{FF2B5EF4-FFF2-40B4-BE49-F238E27FC236}">
                <a16:creationId xmlns:a16="http://schemas.microsoft.com/office/drawing/2014/main" id="{D17C54E7-BCF2-697C-25C6-DE31B86522EC}"/>
              </a:ext>
            </a:extLst>
          </p:cNvPr>
          <p:cNvPicPr>
            <a:picLocks noChangeAspect="1"/>
          </p:cNvPicPr>
          <p:nvPr userDrawn="1"/>
        </p:nvPicPr>
        <p:blipFill>
          <a:blip r:embed="rId2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67166" y="6579805"/>
            <a:ext cx="245679" cy="245679"/>
          </a:xfrm>
          <a:prstGeom prst="rect">
            <a:avLst/>
          </a:prstGeom>
        </p:spPr>
      </p:pic>
      <p:pic>
        <p:nvPicPr>
          <p:cNvPr id="23" name="Picture 22">
            <a:extLst>
              <a:ext uri="{FF2B5EF4-FFF2-40B4-BE49-F238E27FC236}">
                <a16:creationId xmlns:a16="http://schemas.microsoft.com/office/drawing/2014/main" id="{A5314518-B2B1-1D53-23D7-DB2616328733}"/>
              </a:ext>
            </a:extLst>
          </p:cNvPr>
          <p:cNvPicPr>
            <a:picLocks noChangeAspect="1"/>
          </p:cNvPicPr>
          <p:nvPr userDrawn="1"/>
        </p:nvPicPr>
        <p:blipFill>
          <a:blip r:embed="rId2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28808" y="6579805"/>
            <a:ext cx="245679" cy="245679"/>
          </a:xfrm>
          <a:prstGeom prst="rect">
            <a:avLst/>
          </a:prstGeom>
        </p:spPr>
      </p:pic>
      <p:pic>
        <p:nvPicPr>
          <p:cNvPr id="25" name="Picture 24">
            <a:extLst>
              <a:ext uri="{FF2B5EF4-FFF2-40B4-BE49-F238E27FC236}">
                <a16:creationId xmlns:a16="http://schemas.microsoft.com/office/drawing/2014/main" id="{A64C7448-78D7-C8FD-ABEE-1BD7C8782478}"/>
              </a:ext>
            </a:extLst>
          </p:cNvPr>
          <p:cNvPicPr>
            <a:picLocks noChangeAspect="1"/>
          </p:cNvPicPr>
          <p:nvPr userDrawn="1"/>
        </p:nvPicPr>
        <p:blipFill>
          <a:blip r:embed="rId2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9692" y="6579806"/>
            <a:ext cx="245679" cy="245679"/>
          </a:xfrm>
          <a:prstGeom prst="rect">
            <a:avLst/>
          </a:prstGeom>
        </p:spPr>
      </p:pic>
      <p:sp>
        <p:nvSpPr>
          <p:cNvPr id="26" name="TextBox 25">
            <a:extLst>
              <a:ext uri="{FF2B5EF4-FFF2-40B4-BE49-F238E27FC236}">
                <a16:creationId xmlns:a16="http://schemas.microsoft.com/office/drawing/2014/main" id="{3C4C6064-02FD-28F7-231A-148DF1DF30E5}"/>
              </a:ext>
            </a:extLst>
          </p:cNvPr>
          <p:cNvSpPr txBox="1"/>
          <p:nvPr userDrawn="1"/>
        </p:nvSpPr>
        <p:spPr>
          <a:xfrm>
            <a:off x="831659" y="6579805"/>
            <a:ext cx="1062713" cy="276999"/>
          </a:xfrm>
          <a:prstGeom prst="rect">
            <a:avLst/>
          </a:prstGeom>
          <a:noFill/>
        </p:spPr>
        <p:txBody>
          <a:bodyPr wrap="square" rtlCol="0">
            <a:spAutoFit/>
          </a:bodyPr>
          <a:lstStyle/>
          <a:p>
            <a:r>
              <a:rPr lang="en-US" sz="1200" b="0" dirty="0">
                <a:solidFill>
                  <a:srgbClr val="1D4999"/>
                </a:solidFill>
              </a:rPr>
              <a:t>@infoBMKG</a:t>
            </a:r>
            <a:endParaRPr lang="en-ID" sz="1200" b="0" dirty="0">
              <a:solidFill>
                <a:srgbClr val="1D4999"/>
              </a:solidFill>
            </a:endParaRPr>
          </a:p>
        </p:txBody>
      </p:sp>
      <p:pic>
        <p:nvPicPr>
          <p:cNvPr id="28" name="Picture 27">
            <a:extLst>
              <a:ext uri="{FF2B5EF4-FFF2-40B4-BE49-F238E27FC236}">
                <a16:creationId xmlns:a16="http://schemas.microsoft.com/office/drawing/2014/main" id="{6725B804-1770-D564-3AE3-FCAF692763F9}"/>
              </a:ext>
            </a:extLst>
          </p:cNvPr>
          <p:cNvPicPr>
            <a:picLocks noChangeAspect="1"/>
          </p:cNvPicPr>
          <p:nvPr userDrawn="1"/>
        </p:nvPicPr>
        <p:blipFill>
          <a:blip r:embed="rId2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850455" y="6582523"/>
            <a:ext cx="245680" cy="245680"/>
          </a:xfrm>
          <a:prstGeom prst="rect">
            <a:avLst/>
          </a:prstGeom>
        </p:spPr>
      </p:pic>
      <p:sp>
        <p:nvSpPr>
          <p:cNvPr id="29" name="TextBox 28">
            <a:extLst>
              <a:ext uri="{FF2B5EF4-FFF2-40B4-BE49-F238E27FC236}">
                <a16:creationId xmlns:a16="http://schemas.microsoft.com/office/drawing/2014/main" id="{BE2805A2-86A4-5F31-7768-2D6801DDE590}"/>
              </a:ext>
            </a:extLst>
          </p:cNvPr>
          <p:cNvSpPr txBox="1"/>
          <p:nvPr userDrawn="1"/>
        </p:nvSpPr>
        <p:spPr>
          <a:xfrm>
            <a:off x="2045418" y="6585444"/>
            <a:ext cx="1062713" cy="276999"/>
          </a:xfrm>
          <a:prstGeom prst="rect">
            <a:avLst/>
          </a:prstGeom>
          <a:noFill/>
        </p:spPr>
        <p:txBody>
          <a:bodyPr wrap="square" rtlCol="0">
            <a:spAutoFit/>
          </a:bodyPr>
          <a:lstStyle/>
          <a:p>
            <a:r>
              <a:rPr lang="en-US" sz="1200" b="0" dirty="0">
                <a:solidFill>
                  <a:srgbClr val="1D4999"/>
                </a:solidFill>
              </a:rPr>
              <a:t>(021)196</a:t>
            </a:r>
            <a:endParaRPr lang="en-ID" sz="1200" b="0" dirty="0">
              <a:solidFill>
                <a:srgbClr val="1D4999"/>
              </a:solidFill>
            </a:endParaRPr>
          </a:p>
        </p:txBody>
      </p:sp>
      <p:pic>
        <p:nvPicPr>
          <p:cNvPr id="31" name="Picture 30">
            <a:extLst>
              <a:ext uri="{FF2B5EF4-FFF2-40B4-BE49-F238E27FC236}">
                <a16:creationId xmlns:a16="http://schemas.microsoft.com/office/drawing/2014/main" id="{4D317283-CFB4-B9B9-F64A-B2B9713E50E1}"/>
              </a:ext>
            </a:extLst>
          </p:cNvPr>
          <p:cNvPicPr>
            <a:picLocks noChangeAspect="1"/>
          </p:cNvPicPr>
          <p:nvPr userDrawn="1"/>
        </p:nvPicPr>
        <p:blipFill>
          <a:blip r:embed="rId2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815904" y="6573432"/>
            <a:ext cx="266363" cy="266363"/>
          </a:xfrm>
          <a:prstGeom prst="rect">
            <a:avLst/>
          </a:prstGeom>
        </p:spPr>
      </p:pic>
      <p:sp>
        <p:nvSpPr>
          <p:cNvPr id="32" name="TextBox 31">
            <a:extLst>
              <a:ext uri="{FF2B5EF4-FFF2-40B4-BE49-F238E27FC236}">
                <a16:creationId xmlns:a16="http://schemas.microsoft.com/office/drawing/2014/main" id="{292C8387-61C5-EC71-A3C6-C4C146CCBFD5}"/>
              </a:ext>
            </a:extLst>
          </p:cNvPr>
          <p:cNvSpPr txBox="1"/>
          <p:nvPr userDrawn="1"/>
        </p:nvSpPr>
        <p:spPr>
          <a:xfrm>
            <a:off x="3032720" y="6571838"/>
            <a:ext cx="1507422" cy="276999"/>
          </a:xfrm>
          <a:prstGeom prst="rect">
            <a:avLst/>
          </a:prstGeom>
          <a:noFill/>
        </p:spPr>
        <p:txBody>
          <a:bodyPr wrap="square" rtlCol="0">
            <a:spAutoFit/>
          </a:bodyPr>
          <a:lstStyle/>
          <a:p>
            <a:r>
              <a:rPr lang="en-US" sz="1200" b="0" dirty="0">
                <a:solidFill>
                  <a:srgbClr val="1D4999"/>
                </a:solidFill>
              </a:rPr>
              <a:t>www.bmkg.go.id</a:t>
            </a:r>
            <a:endParaRPr lang="en-ID" sz="1200" b="0" dirty="0">
              <a:solidFill>
                <a:srgbClr val="1D4999"/>
              </a:solidFill>
            </a:endParaRPr>
          </a:p>
        </p:txBody>
      </p:sp>
      <p:sp>
        <p:nvSpPr>
          <p:cNvPr id="47" name="Rectangle 46">
            <a:extLst>
              <a:ext uri="{FF2B5EF4-FFF2-40B4-BE49-F238E27FC236}">
                <a16:creationId xmlns:a16="http://schemas.microsoft.com/office/drawing/2014/main" id="{25027132-515B-B831-E446-8476EC005E8C}"/>
              </a:ext>
            </a:extLst>
          </p:cNvPr>
          <p:cNvSpPr/>
          <p:nvPr userDrawn="1"/>
        </p:nvSpPr>
        <p:spPr>
          <a:xfrm>
            <a:off x="1" y="85748"/>
            <a:ext cx="850221" cy="747233"/>
          </a:xfrm>
          <a:prstGeom prst="rect">
            <a:avLst/>
          </a:prstGeom>
          <a:solidFill>
            <a:srgbClr val="0199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Slide Number Placeholder 5">
            <a:extLst>
              <a:ext uri="{FF2B5EF4-FFF2-40B4-BE49-F238E27FC236}">
                <a16:creationId xmlns:a16="http://schemas.microsoft.com/office/drawing/2014/main" id="{5C67741F-0EF6-DCE6-C2B8-79AE8D938651}"/>
              </a:ext>
            </a:extLst>
          </p:cNvPr>
          <p:cNvSpPr>
            <a:spLocks noGrp="1"/>
          </p:cNvSpPr>
          <p:nvPr>
            <p:ph type="sldNum" sz="quarter" idx="4"/>
          </p:nvPr>
        </p:nvSpPr>
        <p:spPr>
          <a:xfrm>
            <a:off x="11743168" y="6203794"/>
            <a:ext cx="446314" cy="325856"/>
          </a:xfrm>
          <a:prstGeom prst="rect">
            <a:avLst/>
          </a:prstGeom>
        </p:spPr>
        <p:txBody>
          <a:bodyPr vert="horz" lIns="91440" tIns="45720" rIns="91440" bIns="45720" rtlCol="0" anchor="ctr"/>
          <a:lstStyle>
            <a:lvl1pPr algn="r">
              <a:defRPr sz="1200">
                <a:solidFill>
                  <a:sysClr val="windowText" lastClr="000000"/>
                </a:solidFill>
                <a:latin typeface="Leelawadee UI" panose="020B0502040204020203" pitchFamily="34" charset="-34"/>
                <a:cs typeface="Leelawadee UI" panose="020B0502040204020203" pitchFamily="34" charset="-34"/>
              </a:defRPr>
            </a:lvl1pPr>
          </a:lstStyle>
          <a:p>
            <a:fld id="{EDCAD221-FD27-42A4-A8EF-97D10159B0EB}" type="slidenum">
              <a:rPr lang="en-ID" smtClean="0"/>
              <a:pPr/>
              <a:t>‹#›</a:t>
            </a:fld>
            <a:endParaRPr lang="en-ID" dirty="0"/>
          </a:p>
        </p:txBody>
      </p:sp>
    </p:spTree>
    <p:extLst>
      <p:ext uri="{BB962C8B-B14F-4D97-AF65-F5344CB8AC3E}">
        <p14:creationId xmlns:p14="http://schemas.microsoft.com/office/powerpoint/2010/main" val="615561606"/>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2" r:id="rId3"/>
    <p:sldLayoutId id="2147483661" r:id="rId4"/>
    <p:sldLayoutId id="2147483656" r:id="rId5"/>
    <p:sldLayoutId id="2147483660" r:id="rId6"/>
    <p:sldLayoutId id="2147483663" r:id="rId7"/>
    <p:sldLayoutId id="2147483666" r:id="rId8"/>
    <p:sldLayoutId id="2147483664" r:id="rId9"/>
    <p:sldLayoutId id="2147483650" r:id="rId10"/>
    <p:sldLayoutId id="2147483651" r:id="rId11"/>
    <p:sldLayoutId id="2147483652" r:id="rId12"/>
    <p:sldLayoutId id="2147483653" r:id="rId13"/>
    <p:sldLayoutId id="2147483654" r:id="rId14"/>
    <p:sldLayoutId id="2147483657" r:id="rId15"/>
    <p:sldLayoutId id="2147483665" r:id="rId16"/>
    <p:sldLayoutId id="2147483682" r:id="rId17"/>
    <p:sldLayoutId id="2147483683" r:id="rId18"/>
  </p:sldLayoutIdLst>
  <p:hf hdr="0" ftr="0" dt="0"/>
  <p:txStyles>
    <p:titleStyle>
      <a:lvl1pPr algn="l" defTabSz="914400" rtl="0" eaLnBrk="1" latinLnBrk="0" hangingPunct="1">
        <a:lnSpc>
          <a:spcPct val="90000"/>
        </a:lnSpc>
        <a:spcBef>
          <a:spcPct val="0"/>
        </a:spcBef>
        <a:buNone/>
        <a:defRPr sz="2800" kern="1200">
          <a:solidFill>
            <a:schemeClr val="bg1"/>
          </a:solidFill>
          <a:latin typeface="Segoe UI Black" panose="020B0A02040204020203" pitchFamily="34" charset="0"/>
          <a:ea typeface="Segoe UI Black" panose="020B0A02040204020203"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b="1" kern="1200">
          <a:solidFill>
            <a:srgbClr val="1D4999"/>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library.wmo.int/records/item/31935-guide-to-public-weather-services-practices?offset=27" TargetMode="Externa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A77901-EB00-6AA8-39F4-BB295CCC88AD}"/>
              </a:ext>
            </a:extLst>
          </p:cNvPr>
          <p:cNvSpPr>
            <a:spLocks noGrp="1"/>
          </p:cNvSpPr>
          <p:nvPr>
            <p:ph type="ctrTitle"/>
          </p:nvPr>
        </p:nvSpPr>
        <p:spPr>
          <a:xfrm>
            <a:off x="491816" y="1435392"/>
            <a:ext cx="10831965" cy="1755763"/>
          </a:xfrm>
        </p:spPr>
        <p:txBody>
          <a:bodyPr anchor="ctr">
            <a:normAutofit/>
          </a:bodyPr>
          <a:lstStyle/>
          <a:p>
            <a:r>
              <a:rPr lang="en-US" sz="4400" b="1" dirty="0"/>
              <a:t>WMO-No.834 : </a:t>
            </a:r>
            <a:br>
              <a:rPr lang="en-US" sz="4400" b="1" dirty="0"/>
            </a:br>
            <a:r>
              <a:rPr lang="en-US" sz="4000" dirty="0"/>
              <a:t>Guide to Public Weather Services Practices</a:t>
            </a:r>
            <a:endParaRPr lang="en-ID" sz="4400" b="1" dirty="0">
              <a:latin typeface="Segoe UI Black" panose="020B0A02040204020203" pitchFamily="34" charset="0"/>
              <a:ea typeface="Segoe UI Black" panose="020B0A02040204020203" pitchFamily="34" charset="0"/>
            </a:endParaRPr>
          </a:p>
        </p:txBody>
      </p:sp>
      <p:sp>
        <p:nvSpPr>
          <p:cNvPr id="4" name="Subtitle 3">
            <a:extLst>
              <a:ext uri="{FF2B5EF4-FFF2-40B4-BE49-F238E27FC236}">
                <a16:creationId xmlns:a16="http://schemas.microsoft.com/office/drawing/2014/main" id="{1F7BE5DF-D076-DEB6-EE4E-2143DC0E2B31}"/>
              </a:ext>
            </a:extLst>
          </p:cNvPr>
          <p:cNvSpPr>
            <a:spLocks noGrp="1"/>
          </p:cNvSpPr>
          <p:nvPr>
            <p:ph type="subTitle" idx="1"/>
          </p:nvPr>
        </p:nvSpPr>
        <p:spPr>
          <a:xfrm>
            <a:off x="325226" y="1099924"/>
            <a:ext cx="6768988" cy="582335"/>
          </a:xfrm>
          <a:noFill/>
        </p:spPr>
        <p:txBody>
          <a:bodyPr>
            <a:normAutofit fontScale="85000" lnSpcReduction="10000"/>
          </a:bodyPr>
          <a:lstStyle/>
          <a:p>
            <a:r>
              <a:rPr lang="en-US" dirty="0">
                <a:solidFill>
                  <a:schemeClr val="tx1"/>
                </a:solidFill>
              </a:rPr>
              <a:t>INTERNATIONAL REGULATIONS, </a:t>
            </a:r>
            <a:r>
              <a:rPr lang="en-US" dirty="0" err="1">
                <a:solidFill>
                  <a:schemeClr val="tx1"/>
                </a:solidFill>
              </a:rPr>
              <a:t>Minggu</a:t>
            </a:r>
            <a:r>
              <a:rPr lang="en-US" dirty="0">
                <a:solidFill>
                  <a:schemeClr val="tx1"/>
                </a:solidFill>
              </a:rPr>
              <a:t> </a:t>
            </a:r>
            <a:r>
              <a:rPr lang="en-US" dirty="0" err="1">
                <a:solidFill>
                  <a:schemeClr val="tx1"/>
                </a:solidFill>
              </a:rPr>
              <a:t>ke</a:t>
            </a:r>
            <a:r>
              <a:rPr lang="en-US" dirty="0">
                <a:solidFill>
                  <a:schemeClr val="tx1"/>
                </a:solidFill>
              </a:rPr>
              <a:t> </a:t>
            </a:r>
            <a:r>
              <a:rPr lang="en-US" dirty="0" err="1">
                <a:solidFill>
                  <a:schemeClr val="tx1"/>
                </a:solidFill>
              </a:rPr>
              <a:t>Empat</a:t>
            </a:r>
            <a:r>
              <a:rPr lang="en-US" dirty="0">
                <a:solidFill>
                  <a:schemeClr val="tx1"/>
                </a:solidFill>
              </a:rPr>
              <a:t> Belas /M8C</a:t>
            </a:r>
            <a:endParaRPr lang="en-ID" dirty="0">
              <a:solidFill>
                <a:schemeClr val="tx1"/>
              </a:solidFill>
              <a:latin typeface="Century Gothic" panose="020B0502020202020204" pitchFamily="34" charset="0"/>
            </a:endParaRPr>
          </a:p>
        </p:txBody>
      </p:sp>
      <p:pic>
        <p:nvPicPr>
          <p:cNvPr id="7" name="Picture Placeholder 6">
            <a:extLst>
              <a:ext uri="{FF2B5EF4-FFF2-40B4-BE49-F238E27FC236}">
                <a16:creationId xmlns:a16="http://schemas.microsoft.com/office/drawing/2014/main" id="{EC08717F-E54A-2A5D-07F2-5057C8205D0C}"/>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r="11335"/>
          <a:stretch/>
        </p:blipFill>
        <p:spPr>
          <a:xfrm>
            <a:off x="750099" y="3199634"/>
            <a:ext cx="6528842" cy="3287295"/>
          </a:xfrm>
        </p:spPr>
      </p:pic>
      <p:sp>
        <p:nvSpPr>
          <p:cNvPr id="8" name="TextBox 7">
            <a:extLst>
              <a:ext uri="{FF2B5EF4-FFF2-40B4-BE49-F238E27FC236}">
                <a16:creationId xmlns:a16="http://schemas.microsoft.com/office/drawing/2014/main" id="{5D5770DE-9FC7-4E22-83B8-570933EE5795}"/>
              </a:ext>
            </a:extLst>
          </p:cNvPr>
          <p:cNvSpPr txBox="1"/>
          <p:nvPr/>
        </p:nvSpPr>
        <p:spPr>
          <a:xfrm>
            <a:off x="6405419" y="-417451"/>
            <a:ext cx="1415772" cy="1569660"/>
          </a:xfrm>
          <a:prstGeom prst="rect">
            <a:avLst/>
          </a:prstGeom>
          <a:noFill/>
        </p:spPr>
        <p:txBody>
          <a:bodyPr wrap="none" rtlCol="0">
            <a:spAutoFit/>
          </a:bodyPr>
          <a:lstStyle/>
          <a:p>
            <a:r>
              <a:rPr lang="en-US" sz="9600" dirty="0">
                <a:solidFill>
                  <a:srgbClr val="0133CC"/>
                </a:solidFill>
              </a:rPr>
              <a:t>…..</a:t>
            </a:r>
            <a:endParaRPr lang="en-ID" sz="9600" dirty="0">
              <a:solidFill>
                <a:srgbClr val="0133CC"/>
              </a:solidFill>
            </a:endParaRPr>
          </a:p>
        </p:txBody>
      </p:sp>
      <p:cxnSp>
        <p:nvCxnSpPr>
          <p:cNvPr id="10" name="Straight Connector 9">
            <a:extLst>
              <a:ext uri="{FF2B5EF4-FFF2-40B4-BE49-F238E27FC236}">
                <a16:creationId xmlns:a16="http://schemas.microsoft.com/office/drawing/2014/main" id="{03E0A3C9-8FA7-49AF-94E4-3A3EC02244D3}"/>
              </a:ext>
            </a:extLst>
          </p:cNvPr>
          <p:cNvCxnSpPr>
            <a:cxnSpLocks/>
          </p:cNvCxnSpPr>
          <p:nvPr/>
        </p:nvCxnSpPr>
        <p:spPr>
          <a:xfrm>
            <a:off x="8048829" y="4610470"/>
            <a:ext cx="3840480" cy="0"/>
          </a:xfrm>
          <a:prstGeom prst="line">
            <a:avLst/>
          </a:prstGeom>
          <a:ln w="28575">
            <a:solidFill>
              <a:srgbClr val="019900"/>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E5B4D3DC-5C4B-47A0-AE61-5A9F990108E4}"/>
              </a:ext>
            </a:extLst>
          </p:cNvPr>
          <p:cNvSpPr>
            <a:spLocks noGrp="1"/>
          </p:cNvSpPr>
          <p:nvPr>
            <p:ph type="body" sz="quarter" idx="14"/>
          </p:nvPr>
        </p:nvSpPr>
        <p:spPr>
          <a:xfrm>
            <a:off x="7924888" y="4802464"/>
            <a:ext cx="4306698" cy="874915"/>
          </a:xfrm>
        </p:spPr>
        <p:txBody>
          <a:bodyPr>
            <a:normAutofit/>
          </a:bodyPr>
          <a:lstStyle/>
          <a:p>
            <a:pPr algn="l"/>
            <a:r>
              <a:rPr lang="en-US" sz="1800" dirty="0"/>
              <a:t>DR. </a:t>
            </a:r>
            <a:r>
              <a:rPr lang="en-US" sz="1800" dirty="0" err="1"/>
              <a:t>fachri</a:t>
            </a:r>
            <a:r>
              <a:rPr lang="en-US" sz="1800" dirty="0"/>
              <a:t> </a:t>
            </a:r>
            <a:r>
              <a:rPr lang="en-US" sz="1800" dirty="0" err="1"/>
              <a:t>Radjab</a:t>
            </a:r>
            <a:r>
              <a:rPr lang="en-US" sz="1800" dirty="0"/>
              <a:t> </a:t>
            </a:r>
          </a:p>
          <a:p>
            <a:pPr algn="l"/>
            <a:r>
              <a:rPr lang="en-US" sz="1800" dirty="0"/>
              <a:t>Maman </a:t>
            </a:r>
            <a:r>
              <a:rPr lang="en-US" sz="1800" dirty="0" err="1"/>
              <a:t>Sudarisman</a:t>
            </a:r>
            <a:endParaRPr lang="en-US" sz="1800" dirty="0"/>
          </a:p>
          <a:p>
            <a:pPr algn="l"/>
            <a:endParaRPr lang="en-ID" sz="1800" dirty="0"/>
          </a:p>
        </p:txBody>
      </p:sp>
      <p:sp>
        <p:nvSpPr>
          <p:cNvPr id="13" name="Text Placeholder 5">
            <a:extLst>
              <a:ext uri="{FF2B5EF4-FFF2-40B4-BE49-F238E27FC236}">
                <a16:creationId xmlns:a16="http://schemas.microsoft.com/office/drawing/2014/main" id="{5CDF794E-86BB-4C7D-BA5B-3EE3AE3DFE2F}"/>
              </a:ext>
            </a:extLst>
          </p:cNvPr>
          <p:cNvSpPr txBox="1">
            <a:spLocks/>
          </p:cNvSpPr>
          <p:nvPr/>
        </p:nvSpPr>
        <p:spPr>
          <a:xfrm>
            <a:off x="7815720" y="3952915"/>
            <a:ext cx="4306698" cy="374372"/>
          </a:xfrm>
          <a:prstGeom prst="rect">
            <a:avLst/>
          </a:prstGeom>
          <a:noFill/>
        </p:spPr>
        <p:txBody>
          <a:bodyPr vert="horz" lIns="91440" tIns="45720" rIns="91440" bIns="45720" rtlCol="0" anchor="ctr">
            <a:normAutofit/>
          </a:bodyPr>
          <a:lstStyle>
            <a:defPPr>
              <a:defRPr lang="en-US"/>
            </a:defPPr>
            <a:lvl1pPr marL="115888" indent="0">
              <a:lnSpc>
                <a:spcPct val="100000"/>
              </a:lnSpc>
              <a:spcBef>
                <a:spcPts val="1000"/>
              </a:spcBef>
              <a:buFont typeface="Arial" panose="020B0604020202020204" pitchFamily="34" charset="0"/>
              <a:buNone/>
              <a:defRPr sz="2000" b="1">
                <a:latin typeface="Century Gothic" panose="020B0502020202020204" pitchFamily="34" charset="0"/>
              </a:defRPr>
            </a:lvl1pPr>
            <a:lvl2pPr indent="0" algn="ctr">
              <a:lnSpc>
                <a:spcPct val="100000"/>
              </a:lnSpc>
              <a:spcBef>
                <a:spcPts val="500"/>
              </a:spcBef>
              <a:buFont typeface="Arial" panose="020B0604020202020204" pitchFamily="34" charset="0"/>
              <a:buNone/>
              <a:defRPr sz="2000"/>
            </a:lvl2pPr>
            <a:lvl3pPr indent="0" algn="ctr">
              <a:lnSpc>
                <a:spcPct val="100000"/>
              </a:lnSpc>
              <a:spcBef>
                <a:spcPts val="500"/>
              </a:spcBef>
              <a:buFont typeface="Arial" panose="020B0604020202020204" pitchFamily="34" charset="0"/>
              <a:buNone/>
            </a:lvl3pPr>
            <a:lvl4pPr indent="0" algn="ctr">
              <a:lnSpc>
                <a:spcPct val="100000"/>
              </a:lnSpc>
              <a:spcBef>
                <a:spcPts val="500"/>
              </a:spcBef>
              <a:buFont typeface="Arial" panose="020B0604020202020204" pitchFamily="34" charset="0"/>
              <a:buNone/>
              <a:defRPr sz="1600"/>
            </a:lvl4pPr>
            <a:lvl5pPr indent="0" algn="ctr">
              <a:lnSpc>
                <a:spcPct val="10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en-US" sz="1600" b="0" dirty="0" err="1"/>
              <a:t>Pertemuan</a:t>
            </a:r>
            <a:r>
              <a:rPr lang="en-US" sz="1600" b="0" dirty="0"/>
              <a:t> 14- Selasa, 06 Juli  2026</a:t>
            </a:r>
            <a:endParaRPr lang="en-ID" sz="1600" b="0" dirty="0"/>
          </a:p>
        </p:txBody>
      </p:sp>
    </p:spTree>
    <p:extLst>
      <p:ext uri="{BB962C8B-B14F-4D97-AF65-F5344CB8AC3E}">
        <p14:creationId xmlns:p14="http://schemas.microsoft.com/office/powerpoint/2010/main" val="77513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F0EB-05BA-4F1F-8B26-BD4DDB70DEA9}"/>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8AD087D1-51A5-45B0-8666-09C83E027461}"/>
              </a:ext>
            </a:extLst>
          </p:cNvPr>
          <p:cNvSpPr>
            <a:spLocks noGrp="1"/>
          </p:cNvSpPr>
          <p:nvPr>
            <p:ph idx="1"/>
          </p:nvPr>
        </p:nvSpPr>
        <p:spPr>
          <a:xfrm>
            <a:off x="838200" y="1043709"/>
            <a:ext cx="10515600" cy="5242791"/>
          </a:xfrm>
        </p:spPr>
        <p:txBody>
          <a:bodyPr anchor="ctr">
            <a:normAutofit lnSpcReduction="10000"/>
          </a:bodyPr>
          <a:lstStyle/>
          <a:p>
            <a:pPr marL="514350" indent="-514350">
              <a:buFont typeface="+mj-lt"/>
              <a:buAutoNum type="arabicPeriod"/>
            </a:pPr>
            <a:r>
              <a:rPr lang="en-US" sz="3200" dirty="0"/>
              <a:t>INTRODUCTION</a:t>
            </a:r>
          </a:p>
          <a:p>
            <a:pPr marL="514350" indent="-514350">
              <a:buFont typeface="+mj-lt"/>
              <a:buAutoNum type="arabicPeriod"/>
            </a:pPr>
            <a:r>
              <a:rPr lang="en-US" sz="3200" dirty="0"/>
              <a:t>BENEFITS OF PUBLIC WEATHER SERVICES</a:t>
            </a:r>
          </a:p>
          <a:p>
            <a:pPr marL="514350" indent="-514350">
              <a:buFont typeface="+mj-lt"/>
              <a:buAutoNum type="arabicPeriod"/>
            </a:pPr>
            <a:r>
              <a:rPr lang="en-US" sz="3200" dirty="0"/>
              <a:t>ROLE OF PUBLIC WEATHER SERVICES</a:t>
            </a:r>
          </a:p>
          <a:p>
            <a:pPr marL="514350" indent="-514350">
              <a:buFont typeface="+mj-lt"/>
              <a:buAutoNum type="arabicPeriod"/>
            </a:pPr>
            <a:r>
              <a:rPr lang="en-US" sz="3200" dirty="0"/>
              <a:t>USER FOCUS AND SERVICE DELIVERY</a:t>
            </a:r>
          </a:p>
          <a:p>
            <a:pPr marL="514350" indent="-514350">
              <a:buFont typeface="+mj-lt"/>
              <a:buAutoNum type="arabicPeriod"/>
            </a:pPr>
            <a:r>
              <a:rPr lang="en-US" sz="3200" dirty="0"/>
              <a:t>WEATHER WARNING SERVICES</a:t>
            </a:r>
          </a:p>
          <a:p>
            <a:pPr marL="514350" indent="-514350">
              <a:buFont typeface="+mj-lt"/>
              <a:buAutoNum type="arabicPeriod"/>
            </a:pPr>
            <a:r>
              <a:rPr lang="en-US" sz="3200" dirty="0"/>
              <a:t>WEATHER FORECAST AND INFORMATION SERVICES</a:t>
            </a:r>
          </a:p>
          <a:p>
            <a:pPr marL="514350" indent="-514350">
              <a:buFont typeface="+mj-lt"/>
              <a:buAutoNum type="arabicPeriod"/>
            </a:pPr>
            <a:r>
              <a:rPr lang="en-US" sz="3200" dirty="0"/>
              <a:t>DISSEMINATION AND PRESENTATION</a:t>
            </a:r>
          </a:p>
          <a:p>
            <a:pPr marL="514350" indent="-514350">
              <a:buFont typeface="+mj-lt"/>
              <a:buAutoNum type="arabicPeriod"/>
            </a:pPr>
            <a:r>
              <a:rPr lang="en-US" sz="3200" dirty="0"/>
              <a:t>VERIFICATION, SERVICE EVALUATION AND IMPROVEMENT</a:t>
            </a:r>
          </a:p>
        </p:txBody>
      </p:sp>
      <p:sp>
        <p:nvSpPr>
          <p:cNvPr id="4" name="Slide Number Placeholder 3">
            <a:extLst>
              <a:ext uri="{FF2B5EF4-FFF2-40B4-BE49-F238E27FC236}">
                <a16:creationId xmlns:a16="http://schemas.microsoft.com/office/drawing/2014/main" id="{7D713C12-405B-47FB-AEF6-7EF80FB20E38}"/>
              </a:ext>
            </a:extLst>
          </p:cNvPr>
          <p:cNvSpPr>
            <a:spLocks noGrp="1"/>
          </p:cNvSpPr>
          <p:nvPr>
            <p:ph type="sldNum" sz="quarter" idx="12"/>
          </p:nvPr>
        </p:nvSpPr>
        <p:spPr/>
        <p:txBody>
          <a:bodyPr/>
          <a:lstStyle/>
          <a:p>
            <a:fld id="{EDCAD221-FD27-42A4-A8EF-97D10159B0EB}" type="slidenum">
              <a:rPr lang="en-ID" smtClean="0"/>
              <a:pPr/>
              <a:t>2</a:t>
            </a:fld>
            <a:endParaRPr lang="en-ID"/>
          </a:p>
        </p:txBody>
      </p:sp>
    </p:spTree>
    <p:extLst>
      <p:ext uri="{BB962C8B-B14F-4D97-AF65-F5344CB8AC3E}">
        <p14:creationId xmlns:p14="http://schemas.microsoft.com/office/powerpoint/2010/main" val="1662534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6437-C21E-4924-B7CC-662ECB46B979}"/>
              </a:ext>
            </a:extLst>
          </p:cNvPr>
          <p:cNvSpPr>
            <a:spLocks noGrp="1"/>
          </p:cNvSpPr>
          <p:nvPr>
            <p:ph type="title"/>
          </p:nvPr>
        </p:nvSpPr>
        <p:spPr/>
        <p:txBody>
          <a:bodyPr/>
          <a:lstStyle/>
          <a:p>
            <a:r>
              <a:rPr lang="en-US" dirty="0"/>
              <a:t>INTRODUCTION</a:t>
            </a:r>
          </a:p>
        </p:txBody>
      </p:sp>
      <p:sp>
        <p:nvSpPr>
          <p:cNvPr id="4" name="Slide Number Placeholder 3">
            <a:extLst>
              <a:ext uri="{FF2B5EF4-FFF2-40B4-BE49-F238E27FC236}">
                <a16:creationId xmlns:a16="http://schemas.microsoft.com/office/drawing/2014/main" id="{227745D1-381E-421C-9655-9E04F668C7A3}"/>
              </a:ext>
            </a:extLst>
          </p:cNvPr>
          <p:cNvSpPr>
            <a:spLocks noGrp="1"/>
          </p:cNvSpPr>
          <p:nvPr>
            <p:ph type="sldNum" sz="quarter" idx="12"/>
          </p:nvPr>
        </p:nvSpPr>
        <p:spPr/>
        <p:txBody>
          <a:bodyPr/>
          <a:lstStyle/>
          <a:p>
            <a:fld id="{EDCAD221-FD27-42A4-A8EF-97D10159B0EB}" type="slidenum">
              <a:rPr lang="en-ID" smtClean="0"/>
              <a:pPr/>
              <a:t>3</a:t>
            </a:fld>
            <a:endParaRPr lang="en-ID"/>
          </a:p>
        </p:txBody>
      </p:sp>
      <p:sp>
        <p:nvSpPr>
          <p:cNvPr id="6" name="Rectangle 5">
            <a:extLst>
              <a:ext uri="{FF2B5EF4-FFF2-40B4-BE49-F238E27FC236}">
                <a16:creationId xmlns:a16="http://schemas.microsoft.com/office/drawing/2014/main" id="{16AD2F49-AD1A-497E-9A64-F53C6E28278B}"/>
              </a:ext>
            </a:extLst>
          </p:cNvPr>
          <p:cNvSpPr/>
          <p:nvPr/>
        </p:nvSpPr>
        <p:spPr>
          <a:xfrm>
            <a:off x="4854519" y="2668839"/>
            <a:ext cx="5434790" cy="1569660"/>
          </a:xfrm>
          <a:prstGeom prst="rect">
            <a:avLst/>
          </a:prstGeom>
        </p:spPr>
        <p:txBody>
          <a:bodyPr wrap="square">
            <a:spAutoFit/>
          </a:bodyPr>
          <a:lstStyle/>
          <a:p>
            <a:pPr algn="just"/>
            <a:r>
              <a:rPr lang="en-US" sz="1600" dirty="0">
                <a:latin typeface="Tahoma" panose="020B0604030504040204" pitchFamily="34" charset="0"/>
                <a:ea typeface="Tahoma" panose="020B0604030504040204" pitchFamily="34" charset="0"/>
                <a:cs typeface="Tahoma" panose="020B0604030504040204" pitchFamily="34" charset="0"/>
              </a:rPr>
              <a:t>This guide main purpose is to assist WMO Members with the development and improvement of weather services to the general public. It contains information about those practices and procedures which are of greatest importance for providing meteorological services to the public.</a:t>
            </a:r>
          </a:p>
        </p:txBody>
      </p:sp>
      <p:sp>
        <p:nvSpPr>
          <p:cNvPr id="7" name="Rectangle 6">
            <a:extLst>
              <a:ext uri="{FF2B5EF4-FFF2-40B4-BE49-F238E27FC236}">
                <a16:creationId xmlns:a16="http://schemas.microsoft.com/office/drawing/2014/main" id="{D60A4A40-8C5C-4816-819C-24D29E53D944}"/>
              </a:ext>
            </a:extLst>
          </p:cNvPr>
          <p:cNvSpPr/>
          <p:nvPr/>
        </p:nvSpPr>
        <p:spPr>
          <a:xfrm>
            <a:off x="4854519" y="4359203"/>
            <a:ext cx="5434790" cy="523220"/>
          </a:xfrm>
          <a:prstGeom prst="rect">
            <a:avLst/>
          </a:prstGeom>
        </p:spPr>
        <p:txBody>
          <a:bodyPr wrap="square">
            <a:spAutoFit/>
          </a:bodyPr>
          <a:lstStyle/>
          <a:p>
            <a:r>
              <a:rPr lang="en-US" sz="1400" b="1" dirty="0">
                <a:latin typeface="Arial" panose="020B0604020202020204" pitchFamily="34" charset="0"/>
                <a:cs typeface="Arial" panose="020B0604020202020204" pitchFamily="34" charset="0"/>
              </a:rPr>
              <a:t>Source: </a:t>
            </a:r>
            <a:r>
              <a:rPr lang="en-US" sz="1400" b="1" dirty="0">
                <a:latin typeface="Arial" panose="020B0604020202020204" pitchFamily="34" charset="0"/>
                <a:cs typeface="Arial" panose="020B0604020202020204" pitchFamily="34" charset="0"/>
                <a:hlinkClick r:id="rId2"/>
              </a:rPr>
              <a:t>https://library.wmo.int/records/item/31935-guide-to-public-weather-services-practices?offset=27</a:t>
            </a:r>
            <a:r>
              <a:rPr lang="en-US" sz="1400" b="1" dirty="0">
                <a:latin typeface="Arial" panose="020B0604020202020204" pitchFamily="34" charset="0"/>
                <a:cs typeface="Arial" panose="020B0604020202020204" pitchFamily="34" charset="0"/>
              </a:rPr>
              <a:t> </a:t>
            </a:r>
          </a:p>
        </p:txBody>
      </p:sp>
      <p:pic>
        <p:nvPicPr>
          <p:cNvPr id="10" name="Picture 9">
            <a:extLst>
              <a:ext uri="{FF2B5EF4-FFF2-40B4-BE49-F238E27FC236}">
                <a16:creationId xmlns:a16="http://schemas.microsoft.com/office/drawing/2014/main" id="{C2787B83-1E2E-430E-A0FA-355102550B47}"/>
              </a:ext>
            </a:extLst>
          </p:cNvPr>
          <p:cNvPicPr>
            <a:picLocks noChangeAspect="1"/>
          </p:cNvPicPr>
          <p:nvPr/>
        </p:nvPicPr>
        <p:blipFill>
          <a:blip r:embed="rId3"/>
          <a:stretch>
            <a:fillRect/>
          </a:stretch>
        </p:blipFill>
        <p:spPr>
          <a:xfrm>
            <a:off x="831050" y="1239249"/>
            <a:ext cx="3517294" cy="4964545"/>
          </a:xfrm>
          <a:prstGeom prst="rect">
            <a:avLst/>
          </a:prstGeom>
        </p:spPr>
      </p:pic>
    </p:spTree>
    <p:extLst>
      <p:ext uri="{BB962C8B-B14F-4D97-AF65-F5344CB8AC3E}">
        <p14:creationId xmlns:p14="http://schemas.microsoft.com/office/powerpoint/2010/main" val="518303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059171-1767-45E4-94C4-EF2FB1A22A2E}"/>
              </a:ext>
            </a:extLst>
          </p:cNvPr>
          <p:cNvSpPr/>
          <p:nvPr/>
        </p:nvSpPr>
        <p:spPr>
          <a:xfrm>
            <a:off x="0" y="948270"/>
            <a:ext cx="10854267" cy="863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929E38-AFBD-4CE5-946A-027C33C7C11F}"/>
              </a:ext>
            </a:extLst>
          </p:cNvPr>
          <p:cNvSpPr>
            <a:spLocks noGrp="1"/>
          </p:cNvSpPr>
          <p:nvPr>
            <p:ph type="title"/>
          </p:nvPr>
        </p:nvSpPr>
        <p:spPr/>
        <p:txBody>
          <a:bodyPr/>
          <a:lstStyle/>
          <a:p>
            <a:r>
              <a:rPr lang="en-US" dirty="0"/>
              <a:t>WMO Public Weather Services </a:t>
            </a:r>
            <a:r>
              <a:rPr lang="en-US" dirty="0" err="1"/>
              <a:t>Programme</a:t>
            </a:r>
            <a:endParaRPr lang="en-US" dirty="0"/>
          </a:p>
        </p:txBody>
      </p:sp>
      <p:sp>
        <p:nvSpPr>
          <p:cNvPr id="4" name="Slide Number Placeholder 3">
            <a:extLst>
              <a:ext uri="{FF2B5EF4-FFF2-40B4-BE49-F238E27FC236}">
                <a16:creationId xmlns:a16="http://schemas.microsoft.com/office/drawing/2014/main" id="{BF7456A8-3E30-4EA0-983A-BCB2E02DF00F}"/>
              </a:ext>
            </a:extLst>
          </p:cNvPr>
          <p:cNvSpPr>
            <a:spLocks noGrp="1"/>
          </p:cNvSpPr>
          <p:nvPr>
            <p:ph type="sldNum" sz="quarter" idx="12"/>
          </p:nvPr>
        </p:nvSpPr>
        <p:spPr/>
        <p:txBody>
          <a:bodyPr/>
          <a:lstStyle/>
          <a:p>
            <a:fld id="{EDCAD221-FD27-42A4-A8EF-97D10159B0EB}" type="slidenum">
              <a:rPr lang="en-ID" smtClean="0"/>
              <a:pPr/>
              <a:t>4</a:t>
            </a:fld>
            <a:endParaRPr lang="en-ID"/>
          </a:p>
        </p:txBody>
      </p:sp>
      <p:sp>
        <p:nvSpPr>
          <p:cNvPr id="8" name="Title 2">
            <a:extLst>
              <a:ext uri="{FF2B5EF4-FFF2-40B4-BE49-F238E27FC236}">
                <a16:creationId xmlns:a16="http://schemas.microsoft.com/office/drawing/2014/main" id="{D9D8834E-2A38-4351-BEDF-811D1442A255}"/>
              </a:ext>
            </a:extLst>
          </p:cNvPr>
          <p:cNvSpPr txBox="1">
            <a:spLocks/>
          </p:cNvSpPr>
          <p:nvPr/>
        </p:nvSpPr>
        <p:spPr>
          <a:xfrm>
            <a:off x="253383" y="1954447"/>
            <a:ext cx="10600884" cy="698517"/>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2800" kern="1200">
                <a:solidFill>
                  <a:schemeClr val="bg1"/>
                </a:solidFill>
                <a:latin typeface="Segoe UI Black" panose="020B0A02040204020203" pitchFamily="34" charset="0"/>
                <a:ea typeface="Segoe UI Black" panose="020B0A02040204020203" pitchFamily="34" charset="0"/>
                <a:cs typeface="+mj-cs"/>
              </a:defRPr>
            </a:lvl1pPr>
          </a:lstStyle>
          <a:p>
            <a:pPr>
              <a:lnSpc>
                <a:spcPct val="170000"/>
              </a:lnSpc>
            </a:pPr>
            <a:r>
              <a:rPr lang="en-US" sz="2000" b="1" dirty="0">
                <a:solidFill>
                  <a:schemeClr val="tx1"/>
                </a:solidFill>
                <a:latin typeface="Century Gothic" panose="020B0502020202020204" pitchFamily="34" charset="0"/>
              </a:rPr>
              <a:t>The main long-term objectives of the PWS </a:t>
            </a:r>
            <a:r>
              <a:rPr lang="en-US" sz="2000" b="1" dirty="0" err="1">
                <a:solidFill>
                  <a:schemeClr val="tx1"/>
                </a:solidFill>
                <a:latin typeface="Century Gothic" panose="020B0502020202020204" pitchFamily="34" charset="0"/>
              </a:rPr>
              <a:t>Programme</a:t>
            </a:r>
            <a:r>
              <a:rPr lang="en-US" sz="2000" b="1" dirty="0">
                <a:solidFill>
                  <a:schemeClr val="tx1"/>
                </a:solidFill>
                <a:latin typeface="Century Gothic" panose="020B0502020202020204" pitchFamily="34" charset="0"/>
              </a:rPr>
              <a:t> are:</a:t>
            </a:r>
            <a:endParaRPr lang="en-US" sz="2000" dirty="0">
              <a:solidFill>
                <a:schemeClr val="tx1"/>
              </a:solidFill>
              <a:latin typeface="Century Gothic" panose="020B0502020202020204" pitchFamily="34" charset="0"/>
            </a:endParaRPr>
          </a:p>
        </p:txBody>
      </p:sp>
      <p:sp>
        <p:nvSpPr>
          <p:cNvPr id="29" name="Rectangle 28">
            <a:extLst>
              <a:ext uri="{FF2B5EF4-FFF2-40B4-BE49-F238E27FC236}">
                <a16:creationId xmlns:a16="http://schemas.microsoft.com/office/drawing/2014/main" id="{87CBA8EE-A35D-481B-8217-75062ABE936F}"/>
              </a:ext>
            </a:extLst>
          </p:cNvPr>
          <p:cNvSpPr/>
          <p:nvPr/>
        </p:nvSpPr>
        <p:spPr>
          <a:xfrm>
            <a:off x="119035" y="1098657"/>
            <a:ext cx="10484310" cy="584775"/>
          </a:xfrm>
          <a:prstGeom prst="rect">
            <a:avLst/>
          </a:prstGeom>
        </p:spPr>
        <p:txBody>
          <a:bodyPr wrap="square">
            <a:spAutoFit/>
          </a:bodyPr>
          <a:lstStyle/>
          <a:p>
            <a:pPr algn="just"/>
            <a:r>
              <a:rPr lang="en-US" sz="1600" dirty="0">
                <a:latin typeface="Tahoma" panose="020B0604030504040204" pitchFamily="34" charset="0"/>
                <a:ea typeface="Tahoma" panose="020B0604030504040204" pitchFamily="34" charset="0"/>
                <a:cs typeface="Tahoma" panose="020B0604030504040204" pitchFamily="34" charset="0"/>
              </a:rPr>
              <a:t>The </a:t>
            </a:r>
            <a:r>
              <a:rPr lang="en-US" sz="1600" b="1" dirty="0">
                <a:latin typeface="Tahoma" panose="020B0604030504040204" pitchFamily="34" charset="0"/>
                <a:ea typeface="Tahoma" panose="020B0604030504040204" pitchFamily="34" charset="0"/>
                <a:cs typeface="Tahoma" panose="020B0604030504040204" pitchFamily="34" charset="0"/>
              </a:rPr>
              <a:t>purpose</a:t>
            </a:r>
            <a:r>
              <a:rPr lang="en-US" sz="1600" dirty="0">
                <a:latin typeface="Tahoma" panose="020B0604030504040204" pitchFamily="34" charset="0"/>
                <a:ea typeface="Tahoma" panose="020B0604030504040204" pitchFamily="34" charset="0"/>
                <a:cs typeface="Tahoma" panose="020B0604030504040204" pitchFamily="34" charset="0"/>
              </a:rPr>
              <a:t> of the WMO PWS </a:t>
            </a:r>
            <a:r>
              <a:rPr lang="en-US" sz="1600" dirty="0" err="1">
                <a:latin typeface="Tahoma" panose="020B0604030504040204" pitchFamily="34" charset="0"/>
                <a:ea typeface="Tahoma" panose="020B0604030504040204" pitchFamily="34" charset="0"/>
                <a:cs typeface="Tahoma" panose="020B0604030504040204" pitchFamily="34" charset="0"/>
              </a:rPr>
              <a:t>Programme</a:t>
            </a:r>
            <a:r>
              <a:rPr lang="en-US" sz="1600" dirty="0">
                <a:latin typeface="Tahoma" panose="020B0604030504040204" pitchFamily="34" charset="0"/>
                <a:ea typeface="Tahoma" panose="020B0604030504040204" pitchFamily="34" charset="0"/>
                <a:cs typeface="Tahoma" panose="020B0604030504040204" pitchFamily="34" charset="0"/>
              </a:rPr>
              <a:t> is to assist WMO Members to provide reliable and effective weather and related services for the </a:t>
            </a:r>
            <a:r>
              <a:rPr lang="en-US" sz="1600" b="1" dirty="0">
                <a:latin typeface="Tahoma" panose="020B0604030504040204" pitchFamily="34" charset="0"/>
                <a:ea typeface="Tahoma" panose="020B0604030504040204" pitchFamily="34" charset="0"/>
                <a:cs typeface="Tahoma" panose="020B0604030504040204" pitchFamily="34" charset="0"/>
              </a:rPr>
              <a:t>benefit of the public</a:t>
            </a:r>
            <a:r>
              <a:rPr lang="en-US" sz="1600" dirty="0">
                <a:latin typeface="Tahoma" panose="020B0604030504040204" pitchFamily="34" charset="0"/>
                <a:ea typeface="Tahoma" panose="020B0604030504040204" pitchFamily="34" charset="0"/>
                <a:cs typeface="Tahoma" panose="020B0604030504040204" pitchFamily="34" charset="0"/>
              </a:rPr>
              <a:t>.</a:t>
            </a:r>
            <a:endParaRPr lang="en-US" sz="1600" b="1"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9A587308-BF6F-4CBE-B667-3ED15FFB2BE3}"/>
              </a:ext>
            </a:extLst>
          </p:cNvPr>
          <p:cNvSpPr txBox="1"/>
          <p:nvPr/>
        </p:nvSpPr>
        <p:spPr>
          <a:xfrm>
            <a:off x="253383" y="2612941"/>
            <a:ext cx="10466340" cy="2117183"/>
          </a:xfrm>
          <a:prstGeom prst="rect">
            <a:avLst/>
          </a:prstGeom>
          <a:noFill/>
        </p:spPr>
        <p:txBody>
          <a:bodyPr wrap="square" rtlCol="0">
            <a:spAutoFit/>
          </a:bodyPr>
          <a:lstStyle/>
          <a:p>
            <a:pPr marL="342900" indent="-342900" algn="just">
              <a:lnSpc>
                <a:spcPct val="150000"/>
              </a:lnSpc>
              <a:buFont typeface="+mj-lt"/>
              <a:buAutoNum type="arabicParenR"/>
            </a:pPr>
            <a:r>
              <a:rPr lang="en-US" dirty="0">
                <a:latin typeface="Century Gothic" panose="020B0502020202020204" pitchFamily="34" charset="0"/>
                <a:ea typeface="Tahoma" panose="020B0604030504040204" pitchFamily="34" charset="0"/>
                <a:cs typeface="Tahoma" panose="020B0604030504040204" pitchFamily="34" charset="0"/>
              </a:rPr>
              <a:t>To strengthen Members’ capabilities to meet the needs of the community through the provision of comprehensive weather and related services, with particular emphasis on public safety and welfare; </a:t>
            </a:r>
          </a:p>
          <a:p>
            <a:pPr marL="342900" indent="-342900" algn="just">
              <a:lnSpc>
                <a:spcPct val="150000"/>
              </a:lnSpc>
              <a:buFont typeface="+mj-lt"/>
              <a:buAutoNum type="arabicParenR"/>
            </a:pPr>
            <a:r>
              <a:rPr lang="en-US" dirty="0">
                <a:latin typeface="Century Gothic" panose="020B0502020202020204" pitchFamily="34" charset="0"/>
                <a:ea typeface="Tahoma" panose="020B0604030504040204" pitchFamily="34" charset="0"/>
                <a:cs typeface="Tahoma" panose="020B0604030504040204" pitchFamily="34" charset="0"/>
              </a:rPr>
              <a:t>To foster a better understanding by the public of the capabilities of national Meteorological Services and how best to use their services.</a:t>
            </a:r>
          </a:p>
        </p:txBody>
      </p:sp>
      <p:sp>
        <p:nvSpPr>
          <p:cNvPr id="9" name="Rectangle 8">
            <a:extLst>
              <a:ext uri="{FF2B5EF4-FFF2-40B4-BE49-F238E27FC236}">
                <a16:creationId xmlns:a16="http://schemas.microsoft.com/office/drawing/2014/main" id="{BCB142C1-3C4A-4AFE-B916-267F4A6E7619}"/>
              </a:ext>
            </a:extLst>
          </p:cNvPr>
          <p:cNvSpPr/>
          <p:nvPr/>
        </p:nvSpPr>
        <p:spPr>
          <a:xfrm>
            <a:off x="253383" y="5253354"/>
            <a:ext cx="10600884" cy="646331"/>
          </a:xfrm>
          <a:prstGeom prst="rect">
            <a:avLst/>
          </a:prstGeom>
        </p:spPr>
        <p:txBody>
          <a:bodyPr wrap="square">
            <a:spAutoFit/>
          </a:bodyPr>
          <a:lstStyle/>
          <a:p>
            <a:r>
              <a:rPr lang="en-US" b="1" dirty="0">
                <a:latin typeface="Tahoma" panose="020B0604030504040204" pitchFamily="34" charset="0"/>
                <a:ea typeface="Tahoma" panose="020B0604030504040204" pitchFamily="34" charset="0"/>
                <a:cs typeface="Tahoma" panose="020B0604030504040204" pitchFamily="34" charset="0"/>
              </a:rPr>
              <a:t>Basic services </a:t>
            </a:r>
            <a:r>
              <a:rPr lang="en-US" dirty="0">
                <a:latin typeface="Tahoma" panose="020B0604030504040204" pitchFamily="34" charset="0"/>
                <a:ea typeface="Tahoma" panose="020B0604030504040204" pitchFamily="34" charset="0"/>
                <a:cs typeface="Tahoma" panose="020B0604030504040204" pitchFamily="34" charset="0"/>
              </a:rPr>
              <a:t>funded by governments commonly take the form of weather warnings, forecasts and other information products which are distributed to the public through various media.</a:t>
            </a:r>
          </a:p>
        </p:txBody>
      </p:sp>
    </p:spTree>
    <p:extLst>
      <p:ext uri="{BB962C8B-B14F-4D97-AF65-F5344CB8AC3E}">
        <p14:creationId xmlns:p14="http://schemas.microsoft.com/office/powerpoint/2010/main" val="2689106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66941-D828-4F62-BBFA-363053125866}"/>
              </a:ext>
            </a:extLst>
          </p:cNvPr>
          <p:cNvSpPr>
            <a:spLocks noGrp="1"/>
          </p:cNvSpPr>
          <p:nvPr>
            <p:ph type="title"/>
          </p:nvPr>
        </p:nvSpPr>
        <p:spPr/>
        <p:txBody>
          <a:bodyPr/>
          <a:lstStyle/>
          <a:p>
            <a:r>
              <a:rPr lang="en-US" dirty="0"/>
              <a:t>BENEFITS OF PUBLIC WEATHER SERVICES</a:t>
            </a:r>
          </a:p>
        </p:txBody>
      </p:sp>
      <p:sp>
        <p:nvSpPr>
          <p:cNvPr id="4" name="Slide Number Placeholder 3">
            <a:extLst>
              <a:ext uri="{FF2B5EF4-FFF2-40B4-BE49-F238E27FC236}">
                <a16:creationId xmlns:a16="http://schemas.microsoft.com/office/drawing/2014/main" id="{8CA24614-2B71-4A70-80BA-4FE27CDCF778}"/>
              </a:ext>
            </a:extLst>
          </p:cNvPr>
          <p:cNvSpPr>
            <a:spLocks noGrp="1"/>
          </p:cNvSpPr>
          <p:nvPr>
            <p:ph type="sldNum" sz="quarter" idx="12"/>
          </p:nvPr>
        </p:nvSpPr>
        <p:spPr>
          <a:xfrm>
            <a:off x="11743168" y="6203794"/>
            <a:ext cx="446314" cy="325856"/>
          </a:xfrm>
        </p:spPr>
        <p:txBody>
          <a:bodyPr/>
          <a:lstStyle/>
          <a:p>
            <a:fld id="{EDCAD221-FD27-42A4-A8EF-97D10159B0EB}" type="slidenum">
              <a:rPr lang="en-ID" smtClean="0"/>
              <a:pPr/>
              <a:t>5</a:t>
            </a:fld>
            <a:endParaRPr lang="en-ID"/>
          </a:p>
        </p:txBody>
      </p:sp>
      <p:sp>
        <p:nvSpPr>
          <p:cNvPr id="56" name="Rectangle 55">
            <a:extLst>
              <a:ext uri="{FF2B5EF4-FFF2-40B4-BE49-F238E27FC236}">
                <a16:creationId xmlns:a16="http://schemas.microsoft.com/office/drawing/2014/main" id="{727DE82B-48B9-41F1-907B-73122870B00A}"/>
              </a:ext>
            </a:extLst>
          </p:cNvPr>
          <p:cNvSpPr/>
          <p:nvPr/>
        </p:nvSpPr>
        <p:spPr>
          <a:xfrm>
            <a:off x="0" y="948270"/>
            <a:ext cx="10854267" cy="133311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8BC516F-AD43-4E61-9095-7DE9EC8EE2C1}"/>
              </a:ext>
            </a:extLst>
          </p:cNvPr>
          <p:cNvSpPr/>
          <p:nvPr/>
        </p:nvSpPr>
        <p:spPr>
          <a:xfrm>
            <a:off x="119035" y="1098657"/>
            <a:ext cx="10669038" cy="1077218"/>
          </a:xfrm>
          <a:prstGeom prst="rect">
            <a:avLst/>
          </a:prstGeom>
        </p:spPr>
        <p:txBody>
          <a:bodyPr wrap="square">
            <a:spAutoFit/>
          </a:bodyPr>
          <a:lstStyle/>
          <a:p>
            <a:pPr algn="just"/>
            <a:r>
              <a:rPr lang="en-US" sz="1600" dirty="0">
                <a:latin typeface="Tahoma" panose="020B0604030504040204" pitchFamily="34" charset="0"/>
                <a:ea typeface="Tahoma" panose="020B0604030504040204" pitchFamily="34" charset="0"/>
                <a:cs typeface="Tahoma" panose="020B0604030504040204" pitchFamily="34" charset="0"/>
              </a:rPr>
              <a:t>The importance of the </a:t>
            </a:r>
            <a:r>
              <a:rPr lang="en-US" sz="1600" b="1" dirty="0">
                <a:latin typeface="Tahoma" panose="020B0604030504040204" pitchFamily="34" charset="0"/>
                <a:ea typeface="Tahoma" panose="020B0604030504040204" pitchFamily="34" charset="0"/>
                <a:cs typeface="Tahoma" panose="020B0604030504040204" pitchFamily="34" charset="0"/>
              </a:rPr>
              <a:t>contribution of public weather services </a:t>
            </a:r>
            <a:r>
              <a:rPr lang="en-US" sz="1600" dirty="0">
                <a:latin typeface="Tahoma" panose="020B0604030504040204" pitchFamily="34" charset="0"/>
                <a:ea typeface="Tahoma" panose="020B0604030504040204" pitchFamily="34" charset="0"/>
                <a:cs typeface="Tahoma" panose="020B0604030504040204" pitchFamily="34" charset="0"/>
              </a:rPr>
              <a:t>to the safety and well-being of the world’s peoples is illustrated not only by </a:t>
            </a:r>
            <a:r>
              <a:rPr lang="en-US" sz="1600" b="1" dirty="0">
                <a:latin typeface="Tahoma" panose="020B0604030504040204" pitchFamily="34" charset="0"/>
                <a:ea typeface="Tahoma" panose="020B0604030504040204" pitchFamily="34" charset="0"/>
                <a:cs typeface="Tahoma" panose="020B0604030504040204" pitchFamily="34" charset="0"/>
              </a:rPr>
              <a:t>economic gains</a:t>
            </a:r>
            <a:r>
              <a:rPr lang="en-US" sz="1600" dirty="0">
                <a:latin typeface="Tahoma" panose="020B0604030504040204" pitchFamily="34" charset="0"/>
                <a:ea typeface="Tahoma" panose="020B0604030504040204" pitchFamily="34" charset="0"/>
                <a:cs typeface="Tahoma" panose="020B0604030504040204" pitchFamily="34" charset="0"/>
              </a:rPr>
              <a:t>, but especially in the </a:t>
            </a:r>
            <a:r>
              <a:rPr lang="en-US" sz="1600" b="1" dirty="0">
                <a:latin typeface="Tahoma" panose="020B0604030504040204" pitchFamily="34" charset="0"/>
                <a:ea typeface="Tahoma" panose="020B0604030504040204" pitchFamily="34" charset="0"/>
                <a:cs typeface="Tahoma" panose="020B0604030504040204" pitchFamily="34" charset="0"/>
              </a:rPr>
              <a:t>major reductions in loss of life and property damage</a:t>
            </a:r>
            <a:r>
              <a:rPr lang="en-US" sz="1600" dirty="0">
                <a:latin typeface="Tahoma" panose="020B0604030504040204" pitchFamily="34" charset="0"/>
                <a:ea typeface="Tahoma" panose="020B0604030504040204" pitchFamily="34" charset="0"/>
                <a:cs typeface="Tahoma" panose="020B0604030504040204" pitchFamily="34" charset="0"/>
              </a:rPr>
              <a:t> due to natural disasters in vulnerable regions of the globe following implementation of effective warning systems for severe weather.</a:t>
            </a:r>
            <a:endParaRPr lang="en-US" sz="1600" b="1" dirty="0">
              <a:latin typeface="Tahoma" panose="020B0604030504040204" pitchFamily="34" charset="0"/>
              <a:ea typeface="Tahoma" panose="020B0604030504040204" pitchFamily="34" charset="0"/>
              <a:cs typeface="Tahoma" panose="020B0604030504040204" pitchFamily="34" charset="0"/>
            </a:endParaRPr>
          </a:p>
        </p:txBody>
      </p:sp>
      <p:sp>
        <p:nvSpPr>
          <p:cNvPr id="53" name="TextBox 52">
            <a:extLst>
              <a:ext uri="{FF2B5EF4-FFF2-40B4-BE49-F238E27FC236}">
                <a16:creationId xmlns:a16="http://schemas.microsoft.com/office/drawing/2014/main" id="{D0B677B1-7AA6-469C-837A-DC159A89E915}"/>
              </a:ext>
            </a:extLst>
          </p:cNvPr>
          <p:cNvSpPr txBox="1"/>
          <p:nvPr/>
        </p:nvSpPr>
        <p:spPr>
          <a:xfrm>
            <a:off x="378172" y="2817091"/>
            <a:ext cx="10150764"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Leelawadee UI" panose="020B0502040204020203" pitchFamily="34" charset="-34"/>
                <a:cs typeface="Leelawadee UI" panose="020B0502040204020203" pitchFamily="34" charset="-34"/>
              </a:rPr>
              <a:t>For </a:t>
            </a:r>
            <a:r>
              <a:rPr lang="en-US" b="1" dirty="0">
                <a:latin typeface="Leelawadee UI" panose="020B0502040204020203" pitchFamily="34" charset="-34"/>
                <a:cs typeface="Leelawadee UI" panose="020B0502040204020203" pitchFamily="34" charset="-34"/>
              </a:rPr>
              <a:t>rapid onset hazards </a:t>
            </a:r>
            <a:r>
              <a:rPr lang="en-US" dirty="0">
                <a:latin typeface="Leelawadee UI" panose="020B0502040204020203" pitchFamily="34" charset="-34"/>
                <a:cs typeface="Leelawadee UI" panose="020B0502040204020203" pitchFamily="34" charset="-34"/>
              </a:rPr>
              <a:t>such as tornadoes, severe thunderstorms, flash floods, extreme winds, storm surges and blizzards, early and timely warnings could </a:t>
            </a:r>
            <a:r>
              <a:rPr lang="en-US" b="1" dirty="0">
                <a:latin typeface="Leelawadee UI" panose="020B0502040204020203" pitchFamily="34" charset="-34"/>
                <a:cs typeface="Leelawadee UI" panose="020B0502040204020203" pitchFamily="34" charset="-34"/>
              </a:rPr>
              <a:t>save lives </a:t>
            </a:r>
            <a:r>
              <a:rPr lang="en-US" dirty="0">
                <a:latin typeface="Leelawadee UI" panose="020B0502040204020203" pitchFamily="34" charset="-34"/>
                <a:cs typeface="Leelawadee UI" panose="020B0502040204020203" pitchFamily="34" charset="-34"/>
              </a:rPr>
              <a:t>by providing the information necessary to move people out of harm’s way or to assist individuals in taking quick response measures;</a:t>
            </a:r>
          </a:p>
          <a:p>
            <a:pPr marL="285750" indent="-285750" algn="just">
              <a:buFont typeface="Arial" panose="020B0604020202020204" pitchFamily="34" charset="0"/>
              <a:buChar char="•"/>
            </a:pPr>
            <a:r>
              <a:rPr lang="en-US" dirty="0">
                <a:latin typeface="Leelawadee UI" panose="020B0502040204020203" pitchFamily="34" charset="-34"/>
                <a:cs typeface="Leelawadee UI" panose="020B0502040204020203" pitchFamily="34" charset="-34"/>
              </a:rPr>
              <a:t>As for </a:t>
            </a:r>
            <a:r>
              <a:rPr lang="en-US" b="1" dirty="0">
                <a:latin typeface="Leelawadee UI" panose="020B0502040204020203" pitchFamily="34" charset="-34"/>
                <a:cs typeface="Leelawadee UI" panose="020B0502040204020203" pitchFamily="34" charset="-34"/>
              </a:rPr>
              <a:t>longer lead time hazards </a:t>
            </a:r>
            <a:r>
              <a:rPr lang="en-US" dirty="0">
                <a:latin typeface="Leelawadee UI" panose="020B0502040204020203" pitchFamily="34" charset="-34"/>
                <a:cs typeface="Leelawadee UI" panose="020B0502040204020203" pitchFamily="34" charset="-34"/>
              </a:rPr>
              <a:t>such as droughts, early warnings and accurate prediction of drought can allow farmers to reduce stock on pasture and </a:t>
            </a:r>
            <a:r>
              <a:rPr lang="en-US" b="1" dirty="0">
                <a:latin typeface="Leelawadee UI" panose="020B0502040204020203" pitchFamily="34" charset="-34"/>
                <a:cs typeface="Leelawadee UI" panose="020B0502040204020203" pitchFamily="34" charset="-34"/>
              </a:rPr>
              <a:t>avoid wastage </a:t>
            </a:r>
            <a:r>
              <a:rPr lang="en-US" dirty="0">
                <a:latin typeface="Leelawadee UI" panose="020B0502040204020203" pitchFamily="34" charset="-34"/>
                <a:cs typeface="Leelawadee UI" panose="020B0502040204020203" pitchFamily="34" charset="-34"/>
              </a:rPr>
              <a:t>of seed unlikely to grow;</a:t>
            </a:r>
          </a:p>
          <a:p>
            <a:pPr marL="285750" indent="-285750" algn="just">
              <a:buFont typeface="Arial" panose="020B0604020202020204" pitchFamily="34" charset="0"/>
              <a:buChar char="•"/>
            </a:pPr>
            <a:r>
              <a:rPr lang="en-US" dirty="0">
                <a:latin typeface="Leelawadee UI" panose="020B0502040204020203" pitchFamily="34" charset="-34"/>
                <a:cs typeface="Leelawadee UI" panose="020B0502040204020203" pitchFamily="34" charset="-34"/>
              </a:rPr>
              <a:t>Generalized public weather services intended for the population at large can also be of significant value to </a:t>
            </a:r>
            <a:r>
              <a:rPr lang="en-US" b="1" dirty="0">
                <a:latin typeface="Leelawadee UI" panose="020B0502040204020203" pitchFamily="34" charset="-34"/>
                <a:cs typeface="Leelawadee UI" panose="020B0502040204020203" pitchFamily="34" charset="-34"/>
              </a:rPr>
              <a:t>weather-sensitive sectors </a:t>
            </a:r>
            <a:r>
              <a:rPr lang="en-US" dirty="0">
                <a:latin typeface="Leelawadee UI" panose="020B0502040204020203" pitchFamily="34" charset="-34"/>
                <a:cs typeface="Leelawadee UI" panose="020B0502040204020203" pitchFamily="34" charset="-34"/>
              </a:rPr>
              <a:t>of the economy such as agriculture, forestry, fishing and marine transportation, tourism and recreation;</a:t>
            </a:r>
          </a:p>
          <a:p>
            <a:pPr marL="285750" indent="-285750" algn="just">
              <a:buFont typeface="Arial" panose="020B0604020202020204" pitchFamily="34" charset="0"/>
              <a:buChar char="•"/>
            </a:pPr>
            <a:r>
              <a:rPr lang="en-US" dirty="0">
                <a:latin typeface="Leelawadee UI" panose="020B0502040204020203" pitchFamily="34" charset="-34"/>
                <a:cs typeface="Leelawadee UI" panose="020B0502040204020203" pitchFamily="34" charset="-34"/>
              </a:rPr>
              <a:t>Long-term (seasonal and climate) forecasts and information are of great value in </a:t>
            </a:r>
            <a:r>
              <a:rPr lang="en-US" b="1" dirty="0">
                <a:latin typeface="Leelawadee UI" panose="020B0502040204020203" pitchFamily="34" charset="-34"/>
                <a:cs typeface="Leelawadee UI" panose="020B0502040204020203" pitchFamily="34" charset="-34"/>
              </a:rPr>
              <a:t>farming decisions </a:t>
            </a:r>
            <a:r>
              <a:rPr lang="en-US" dirty="0">
                <a:latin typeface="Leelawadee UI" panose="020B0502040204020203" pitchFamily="34" charset="-34"/>
                <a:cs typeface="Leelawadee UI" panose="020B0502040204020203" pitchFamily="34" charset="-34"/>
              </a:rPr>
              <a:t>on the choice of pesticide or antibiotic, crop types and livestock types, irrigation systems and land usage.</a:t>
            </a:r>
          </a:p>
        </p:txBody>
      </p:sp>
      <p:sp>
        <p:nvSpPr>
          <p:cNvPr id="54" name="TextBox 53">
            <a:extLst>
              <a:ext uri="{FF2B5EF4-FFF2-40B4-BE49-F238E27FC236}">
                <a16:creationId xmlns:a16="http://schemas.microsoft.com/office/drawing/2014/main" id="{9D2085A7-1EAD-414F-B692-9A4E49A5465C}"/>
              </a:ext>
            </a:extLst>
          </p:cNvPr>
          <p:cNvSpPr txBox="1"/>
          <p:nvPr/>
        </p:nvSpPr>
        <p:spPr>
          <a:xfrm>
            <a:off x="378172" y="2369992"/>
            <a:ext cx="2183611" cy="461665"/>
          </a:xfrm>
          <a:prstGeom prst="rect">
            <a:avLst/>
          </a:prstGeom>
          <a:noFill/>
        </p:spPr>
        <p:txBody>
          <a:bodyPr wrap="none" rtlCol="0">
            <a:spAutoFit/>
          </a:bodyPr>
          <a:lstStyle/>
          <a:p>
            <a:r>
              <a:rPr lang="en-US" sz="2400" dirty="0">
                <a:latin typeface="Segoe UI Black" panose="020B0A02040204020203" pitchFamily="34" charset="0"/>
                <a:ea typeface="Segoe UI Black" panose="020B0A02040204020203" pitchFamily="34" charset="0"/>
              </a:rPr>
              <a:t>The Benefits:</a:t>
            </a:r>
          </a:p>
        </p:txBody>
      </p:sp>
    </p:spTree>
    <p:extLst>
      <p:ext uri="{BB962C8B-B14F-4D97-AF65-F5344CB8AC3E}">
        <p14:creationId xmlns:p14="http://schemas.microsoft.com/office/powerpoint/2010/main" val="2558612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64AD-7D28-4A2E-9040-CC8EB3459C33}"/>
              </a:ext>
            </a:extLst>
          </p:cNvPr>
          <p:cNvSpPr>
            <a:spLocks noGrp="1"/>
          </p:cNvSpPr>
          <p:nvPr>
            <p:ph type="title"/>
          </p:nvPr>
        </p:nvSpPr>
        <p:spPr/>
        <p:txBody>
          <a:bodyPr/>
          <a:lstStyle/>
          <a:p>
            <a:r>
              <a:rPr lang="en-US" dirty="0"/>
              <a:t>ROLE OF PUBLIC WEATHER SERVICES</a:t>
            </a:r>
          </a:p>
        </p:txBody>
      </p:sp>
      <p:sp>
        <p:nvSpPr>
          <p:cNvPr id="4" name="Slide Number Placeholder 3">
            <a:extLst>
              <a:ext uri="{FF2B5EF4-FFF2-40B4-BE49-F238E27FC236}">
                <a16:creationId xmlns:a16="http://schemas.microsoft.com/office/drawing/2014/main" id="{00E97F2C-2302-4086-B9E2-44E7BFE636BD}"/>
              </a:ext>
            </a:extLst>
          </p:cNvPr>
          <p:cNvSpPr>
            <a:spLocks noGrp="1"/>
          </p:cNvSpPr>
          <p:nvPr>
            <p:ph type="sldNum" sz="quarter" idx="12"/>
          </p:nvPr>
        </p:nvSpPr>
        <p:spPr/>
        <p:txBody>
          <a:bodyPr/>
          <a:lstStyle/>
          <a:p>
            <a:fld id="{EDCAD221-FD27-42A4-A8EF-97D10159B0EB}" type="slidenum">
              <a:rPr lang="en-ID" smtClean="0"/>
              <a:pPr/>
              <a:t>6</a:t>
            </a:fld>
            <a:endParaRPr lang="en-ID"/>
          </a:p>
        </p:txBody>
      </p:sp>
      <p:sp>
        <p:nvSpPr>
          <p:cNvPr id="11" name="Freeform 11">
            <a:extLst>
              <a:ext uri="{FF2B5EF4-FFF2-40B4-BE49-F238E27FC236}">
                <a16:creationId xmlns:a16="http://schemas.microsoft.com/office/drawing/2014/main" id="{C820A688-3AB3-45F6-9556-E9AB63DEBE32}"/>
              </a:ext>
            </a:extLst>
          </p:cNvPr>
          <p:cNvSpPr>
            <a:spLocks noChangeAspect="1"/>
          </p:cNvSpPr>
          <p:nvPr/>
        </p:nvSpPr>
        <p:spPr>
          <a:xfrm>
            <a:off x="680744" y="1150175"/>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 name="Freeform 11">
            <a:extLst>
              <a:ext uri="{FF2B5EF4-FFF2-40B4-BE49-F238E27FC236}">
                <a16:creationId xmlns:a16="http://schemas.microsoft.com/office/drawing/2014/main" id="{60571391-1540-421C-9907-C258857AAD33}"/>
              </a:ext>
            </a:extLst>
          </p:cNvPr>
          <p:cNvSpPr>
            <a:spLocks noChangeAspect="1"/>
          </p:cNvSpPr>
          <p:nvPr/>
        </p:nvSpPr>
        <p:spPr>
          <a:xfrm>
            <a:off x="680744" y="1979340"/>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 name="Rectangle 14">
            <a:extLst>
              <a:ext uri="{FF2B5EF4-FFF2-40B4-BE49-F238E27FC236}">
                <a16:creationId xmlns:a16="http://schemas.microsoft.com/office/drawing/2014/main" id="{53B52CE8-B563-4B6D-95E8-4E6A865F0CBF}"/>
              </a:ext>
            </a:extLst>
          </p:cNvPr>
          <p:cNvSpPr/>
          <p:nvPr/>
        </p:nvSpPr>
        <p:spPr>
          <a:xfrm>
            <a:off x="1243719" y="923669"/>
            <a:ext cx="5145961" cy="523220"/>
          </a:xfrm>
          <a:prstGeom prst="rect">
            <a:avLst/>
          </a:prstGeom>
        </p:spPr>
        <p:txBody>
          <a:bodyPr wrap="none">
            <a:spAutoFit/>
          </a:bodyPr>
          <a:lstStyle/>
          <a:p>
            <a:r>
              <a:rPr lang="en-US" sz="2800" b="1" dirty="0">
                <a:latin typeface="Century Gothic" panose="020B0502020202020204" pitchFamily="34" charset="0"/>
              </a:rPr>
              <a:t>Support to disaster reduction</a:t>
            </a:r>
          </a:p>
        </p:txBody>
      </p:sp>
      <p:sp>
        <p:nvSpPr>
          <p:cNvPr id="16" name="Rectangle 15">
            <a:extLst>
              <a:ext uri="{FF2B5EF4-FFF2-40B4-BE49-F238E27FC236}">
                <a16:creationId xmlns:a16="http://schemas.microsoft.com/office/drawing/2014/main" id="{AF06ACD4-28F2-402F-846B-7CADA9FB1C54}"/>
              </a:ext>
            </a:extLst>
          </p:cNvPr>
          <p:cNvSpPr/>
          <p:nvPr/>
        </p:nvSpPr>
        <p:spPr>
          <a:xfrm>
            <a:off x="1243719" y="1752834"/>
            <a:ext cx="1901483" cy="523220"/>
          </a:xfrm>
          <a:prstGeom prst="rect">
            <a:avLst/>
          </a:prstGeom>
        </p:spPr>
        <p:txBody>
          <a:bodyPr wrap="none">
            <a:spAutoFit/>
          </a:bodyPr>
          <a:lstStyle/>
          <a:p>
            <a:r>
              <a:rPr lang="en-US" sz="2800" b="1" dirty="0">
                <a:latin typeface="Century Gothic" panose="020B0502020202020204" pitchFamily="34" charset="0"/>
              </a:rPr>
              <a:t>Mitigation</a:t>
            </a:r>
          </a:p>
        </p:txBody>
      </p:sp>
      <p:sp>
        <p:nvSpPr>
          <p:cNvPr id="17" name="Freeform 11">
            <a:extLst>
              <a:ext uri="{FF2B5EF4-FFF2-40B4-BE49-F238E27FC236}">
                <a16:creationId xmlns:a16="http://schemas.microsoft.com/office/drawing/2014/main" id="{75B2E164-4783-456F-8A21-BDD27937D4C6}"/>
              </a:ext>
            </a:extLst>
          </p:cNvPr>
          <p:cNvSpPr>
            <a:spLocks noChangeAspect="1"/>
          </p:cNvSpPr>
          <p:nvPr/>
        </p:nvSpPr>
        <p:spPr>
          <a:xfrm>
            <a:off x="680744" y="3020933"/>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 name="Freeform 11">
            <a:extLst>
              <a:ext uri="{FF2B5EF4-FFF2-40B4-BE49-F238E27FC236}">
                <a16:creationId xmlns:a16="http://schemas.microsoft.com/office/drawing/2014/main" id="{CF81FDFA-C779-4ADA-9FAC-3F0F6EA2BEA0}"/>
              </a:ext>
            </a:extLst>
          </p:cNvPr>
          <p:cNvSpPr>
            <a:spLocks noChangeAspect="1"/>
          </p:cNvSpPr>
          <p:nvPr/>
        </p:nvSpPr>
        <p:spPr>
          <a:xfrm>
            <a:off x="680744" y="4256485"/>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 name="Rectangle 18">
            <a:extLst>
              <a:ext uri="{FF2B5EF4-FFF2-40B4-BE49-F238E27FC236}">
                <a16:creationId xmlns:a16="http://schemas.microsoft.com/office/drawing/2014/main" id="{77061D7C-19D2-4F1D-9E67-29BA8DD311F7}"/>
              </a:ext>
            </a:extLst>
          </p:cNvPr>
          <p:cNvSpPr/>
          <p:nvPr/>
        </p:nvSpPr>
        <p:spPr>
          <a:xfrm>
            <a:off x="1243719" y="2794427"/>
            <a:ext cx="2547492" cy="523220"/>
          </a:xfrm>
          <a:prstGeom prst="rect">
            <a:avLst/>
          </a:prstGeom>
        </p:spPr>
        <p:txBody>
          <a:bodyPr wrap="none">
            <a:spAutoFit/>
          </a:bodyPr>
          <a:lstStyle/>
          <a:p>
            <a:r>
              <a:rPr lang="en-US" sz="2800" b="1" dirty="0">
                <a:latin typeface="Century Gothic" panose="020B0502020202020204" pitchFamily="34" charset="0"/>
              </a:rPr>
              <a:t>Preparedness</a:t>
            </a:r>
          </a:p>
        </p:txBody>
      </p:sp>
      <p:sp>
        <p:nvSpPr>
          <p:cNvPr id="20" name="Rectangle 19">
            <a:extLst>
              <a:ext uri="{FF2B5EF4-FFF2-40B4-BE49-F238E27FC236}">
                <a16:creationId xmlns:a16="http://schemas.microsoft.com/office/drawing/2014/main" id="{BF7D1B35-4866-4CFC-A969-576767F9904D}"/>
              </a:ext>
            </a:extLst>
          </p:cNvPr>
          <p:cNvSpPr/>
          <p:nvPr/>
        </p:nvSpPr>
        <p:spPr>
          <a:xfrm>
            <a:off x="1243719" y="4029979"/>
            <a:ext cx="1850186" cy="523220"/>
          </a:xfrm>
          <a:prstGeom prst="rect">
            <a:avLst/>
          </a:prstGeom>
        </p:spPr>
        <p:txBody>
          <a:bodyPr wrap="none">
            <a:spAutoFit/>
          </a:bodyPr>
          <a:lstStyle/>
          <a:p>
            <a:r>
              <a:rPr lang="en-US" sz="2800" b="1" dirty="0">
                <a:latin typeface="Century Gothic" panose="020B0502020202020204" pitchFamily="34" charset="0"/>
              </a:rPr>
              <a:t>Response</a:t>
            </a:r>
          </a:p>
        </p:txBody>
      </p:sp>
      <p:sp>
        <p:nvSpPr>
          <p:cNvPr id="22" name="Freeform 11">
            <a:extLst>
              <a:ext uri="{FF2B5EF4-FFF2-40B4-BE49-F238E27FC236}">
                <a16:creationId xmlns:a16="http://schemas.microsoft.com/office/drawing/2014/main" id="{B5F3BD8F-4106-4058-AD06-4C88DEA26E89}"/>
              </a:ext>
            </a:extLst>
          </p:cNvPr>
          <p:cNvSpPr>
            <a:spLocks noChangeAspect="1"/>
          </p:cNvSpPr>
          <p:nvPr/>
        </p:nvSpPr>
        <p:spPr>
          <a:xfrm>
            <a:off x="680744" y="5261133"/>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 name="Rectangle 23">
            <a:extLst>
              <a:ext uri="{FF2B5EF4-FFF2-40B4-BE49-F238E27FC236}">
                <a16:creationId xmlns:a16="http://schemas.microsoft.com/office/drawing/2014/main" id="{1E6F48EA-A6B9-4D58-9E7D-1268AF38FBAC}"/>
              </a:ext>
            </a:extLst>
          </p:cNvPr>
          <p:cNvSpPr/>
          <p:nvPr/>
        </p:nvSpPr>
        <p:spPr>
          <a:xfrm>
            <a:off x="1243719" y="5034627"/>
            <a:ext cx="1834156" cy="523220"/>
          </a:xfrm>
          <a:prstGeom prst="rect">
            <a:avLst/>
          </a:prstGeom>
        </p:spPr>
        <p:txBody>
          <a:bodyPr wrap="none">
            <a:spAutoFit/>
          </a:bodyPr>
          <a:lstStyle/>
          <a:p>
            <a:r>
              <a:rPr lang="en-US" sz="2800" b="1" dirty="0">
                <a:latin typeface="Century Gothic" panose="020B0502020202020204" pitchFamily="34" charset="0"/>
              </a:rPr>
              <a:t>Recovery</a:t>
            </a:r>
          </a:p>
        </p:txBody>
      </p:sp>
      <p:sp>
        <p:nvSpPr>
          <p:cNvPr id="30" name="Rectangle 29">
            <a:extLst>
              <a:ext uri="{FF2B5EF4-FFF2-40B4-BE49-F238E27FC236}">
                <a16:creationId xmlns:a16="http://schemas.microsoft.com/office/drawing/2014/main" id="{B77C112E-A2B3-4322-B414-AC4EB786FB3A}"/>
              </a:ext>
            </a:extLst>
          </p:cNvPr>
          <p:cNvSpPr/>
          <p:nvPr/>
        </p:nvSpPr>
        <p:spPr>
          <a:xfrm>
            <a:off x="1243719" y="1422924"/>
            <a:ext cx="10484310" cy="338554"/>
          </a:xfrm>
          <a:prstGeom prst="rect">
            <a:avLst/>
          </a:prstGeom>
        </p:spPr>
        <p:txBody>
          <a:bodyPr wrap="square">
            <a:spAutoFit/>
          </a:bodyPr>
          <a:lstStyle/>
          <a:p>
            <a:pPr algn="just"/>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The NMS role, as the expert in warning and detection, is one of a resource contact and motivator.</a:t>
            </a:r>
            <a:endParaRPr lang="en-US" sz="1600" b="1" dirty="0">
              <a:solidFill>
                <a:srgbClr val="13538A"/>
              </a:solidFill>
              <a:latin typeface="Tahoma" panose="020B0604030504040204" pitchFamily="34" charset="0"/>
              <a:ea typeface="Tahoma" panose="020B0604030504040204" pitchFamily="34" charset="0"/>
              <a:cs typeface="Tahoma" panose="020B0604030504040204" pitchFamily="34" charset="0"/>
            </a:endParaRPr>
          </a:p>
        </p:txBody>
      </p:sp>
      <p:sp>
        <p:nvSpPr>
          <p:cNvPr id="31" name="Rectangle 30">
            <a:extLst>
              <a:ext uri="{FF2B5EF4-FFF2-40B4-BE49-F238E27FC236}">
                <a16:creationId xmlns:a16="http://schemas.microsoft.com/office/drawing/2014/main" id="{2CA39572-1B05-4C25-910F-1599F9BE3ABD}"/>
              </a:ext>
            </a:extLst>
          </p:cNvPr>
          <p:cNvSpPr/>
          <p:nvPr/>
        </p:nvSpPr>
        <p:spPr>
          <a:xfrm>
            <a:off x="1258858" y="2227437"/>
            <a:ext cx="10484310" cy="584775"/>
          </a:xfrm>
          <a:prstGeom prst="rect">
            <a:avLst/>
          </a:prstGeom>
        </p:spPr>
        <p:txBody>
          <a:bodyPr wrap="square">
            <a:spAutoFit/>
          </a:bodyPr>
          <a:lstStyle/>
          <a:p>
            <a:pPr algn="just"/>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The databases of NMSs are the basis for risk assessments and vulnerability analyses that aimed at reducing the occurrence of a disaster or reducing its impact.</a:t>
            </a:r>
            <a:endParaRPr lang="en-US" sz="1600" b="1" dirty="0">
              <a:solidFill>
                <a:srgbClr val="13538A"/>
              </a:solidFill>
              <a:latin typeface="Tahoma" panose="020B0604030504040204" pitchFamily="34" charset="0"/>
              <a:ea typeface="Tahoma" panose="020B0604030504040204" pitchFamily="34" charset="0"/>
              <a:cs typeface="Tahoma" panose="020B0604030504040204" pitchFamily="34" charset="0"/>
            </a:endParaRPr>
          </a:p>
        </p:txBody>
      </p:sp>
      <p:sp>
        <p:nvSpPr>
          <p:cNvPr id="32" name="Rectangle 31">
            <a:extLst>
              <a:ext uri="{FF2B5EF4-FFF2-40B4-BE49-F238E27FC236}">
                <a16:creationId xmlns:a16="http://schemas.microsoft.com/office/drawing/2014/main" id="{3F17A7ED-D123-4D40-A739-29B29C0B6C53}"/>
              </a:ext>
            </a:extLst>
          </p:cNvPr>
          <p:cNvSpPr/>
          <p:nvPr/>
        </p:nvSpPr>
        <p:spPr>
          <a:xfrm>
            <a:off x="1243719" y="3232158"/>
            <a:ext cx="10484310" cy="830997"/>
          </a:xfrm>
          <a:prstGeom prst="rect">
            <a:avLst/>
          </a:prstGeom>
        </p:spPr>
        <p:txBody>
          <a:bodyPr wrap="square">
            <a:spAutoFit/>
          </a:bodyPr>
          <a:lstStyle/>
          <a:p>
            <a:pPr algn="just"/>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Key aspects of preparedness are that citizens understand the hazards that may affect them and know how to respond in a predetermined; and that decision makers are trained to make the best use of meteorological information to minimize the potential for misinterpretation or misinformation.</a:t>
            </a:r>
            <a:endParaRPr lang="en-US" sz="1600" b="1" dirty="0">
              <a:solidFill>
                <a:srgbClr val="13538A"/>
              </a:solidFill>
              <a:latin typeface="Tahoma" panose="020B0604030504040204" pitchFamily="34" charset="0"/>
              <a:ea typeface="Tahoma" panose="020B0604030504040204" pitchFamily="34" charset="0"/>
              <a:cs typeface="Tahoma" panose="020B0604030504040204" pitchFamily="34" charset="0"/>
            </a:endParaRPr>
          </a:p>
        </p:txBody>
      </p:sp>
      <p:sp>
        <p:nvSpPr>
          <p:cNvPr id="33" name="Rectangle 32">
            <a:extLst>
              <a:ext uri="{FF2B5EF4-FFF2-40B4-BE49-F238E27FC236}">
                <a16:creationId xmlns:a16="http://schemas.microsoft.com/office/drawing/2014/main" id="{4482EF9F-C7C5-4A72-9965-0C290B43B222}"/>
              </a:ext>
            </a:extLst>
          </p:cNvPr>
          <p:cNvSpPr/>
          <p:nvPr/>
        </p:nvSpPr>
        <p:spPr>
          <a:xfrm>
            <a:off x="1243719" y="4454885"/>
            <a:ext cx="10484310" cy="584775"/>
          </a:xfrm>
          <a:prstGeom prst="rect">
            <a:avLst/>
          </a:prstGeom>
        </p:spPr>
        <p:txBody>
          <a:bodyPr wrap="square">
            <a:spAutoFit/>
          </a:bodyPr>
          <a:lstStyle/>
          <a:p>
            <a:pPr algn="just"/>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Response activities consist of the actual warning process, including detection of a hazard, dissemination of warnings and forecasts and communication of essential information.</a:t>
            </a:r>
            <a:endParaRPr lang="en-US" sz="1600" b="1" dirty="0">
              <a:solidFill>
                <a:srgbClr val="13538A"/>
              </a:solidFill>
              <a:latin typeface="Tahoma" panose="020B0604030504040204" pitchFamily="34" charset="0"/>
              <a:ea typeface="Tahoma" panose="020B0604030504040204" pitchFamily="34" charset="0"/>
              <a:cs typeface="Tahoma" panose="020B0604030504040204" pitchFamily="34" charset="0"/>
            </a:endParaRPr>
          </a:p>
        </p:txBody>
      </p:sp>
      <p:sp>
        <p:nvSpPr>
          <p:cNvPr id="34" name="Rectangle 33">
            <a:extLst>
              <a:ext uri="{FF2B5EF4-FFF2-40B4-BE49-F238E27FC236}">
                <a16:creationId xmlns:a16="http://schemas.microsoft.com/office/drawing/2014/main" id="{1EE751A5-0F79-407B-BF78-4CF6FC02BC1E}"/>
              </a:ext>
            </a:extLst>
          </p:cNvPr>
          <p:cNvSpPr/>
          <p:nvPr/>
        </p:nvSpPr>
        <p:spPr>
          <a:xfrm>
            <a:off x="1258858" y="5487012"/>
            <a:ext cx="10484310" cy="1077218"/>
          </a:xfrm>
          <a:prstGeom prst="rect">
            <a:avLst/>
          </a:prstGeom>
        </p:spPr>
        <p:txBody>
          <a:bodyPr wrap="square">
            <a:spAutoFit/>
          </a:bodyPr>
          <a:lstStyle/>
          <a:p>
            <a:pPr marL="342900" indent="-342900" algn="just">
              <a:buFont typeface="+mj-lt"/>
              <a:buAutoNum type="arabicPeriod"/>
            </a:pPr>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Provision of forecasts and post-disaster support to the public and emergency managers on weather events which could hamper recovery efforts</a:t>
            </a:r>
          </a:p>
          <a:p>
            <a:pPr marL="342900" indent="-342900" algn="just">
              <a:buFont typeface="+mj-lt"/>
              <a:buAutoNum type="arabicPeriod"/>
            </a:pPr>
            <a:r>
              <a:rPr lang="en-US" sz="1600" dirty="0">
                <a:solidFill>
                  <a:srgbClr val="13538A"/>
                </a:solidFill>
                <a:latin typeface="Tahoma" panose="020B0604030504040204" pitchFamily="34" charset="0"/>
                <a:ea typeface="Tahoma" panose="020B0604030504040204" pitchFamily="34" charset="0"/>
                <a:cs typeface="Tahoma" panose="020B0604030504040204" pitchFamily="34" charset="0"/>
              </a:rPr>
              <a:t>Conducting post-disaster assessments of the warning system to assist in future preparedness and mitigation actions</a:t>
            </a:r>
          </a:p>
        </p:txBody>
      </p:sp>
    </p:spTree>
    <p:extLst>
      <p:ext uri="{BB962C8B-B14F-4D97-AF65-F5344CB8AC3E}">
        <p14:creationId xmlns:p14="http://schemas.microsoft.com/office/powerpoint/2010/main" val="1011307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00FA-1AED-4A37-A7F6-3A0B78A0F591}"/>
              </a:ext>
            </a:extLst>
          </p:cNvPr>
          <p:cNvSpPr>
            <a:spLocks noGrp="1"/>
          </p:cNvSpPr>
          <p:nvPr>
            <p:ph type="title"/>
          </p:nvPr>
        </p:nvSpPr>
        <p:spPr>
          <a:xfrm>
            <a:off x="1245736" y="220210"/>
            <a:ext cx="9172882" cy="478308"/>
          </a:xfrm>
        </p:spPr>
        <p:txBody>
          <a:bodyPr/>
          <a:lstStyle/>
          <a:p>
            <a:r>
              <a:rPr lang="en-US" dirty="0"/>
              <a:t>USER FOCUS AND SERVICE DELIVERY</a:t>
            </a:r>
          </a:p>
        </p:txBody>
      </p:sp>
      <p:sp>
        <p:nvSpPr>
          <p:cNvPr id="3" name="Content Placeholder 2">
            <a:extLst>
              <a:ext uri="{FF2B5EF4-FFF2-40B4-BE49-F238E27FC236}">
                <a16:creationId xmlns:a16="http://schemas.microsoft.com/office/drawing/2014/main" id="{B4D1904A-F2A3-4721-B0D4-BAE24062CA4B}"/>
              </a:ext>
            </a:extLst>
          </p:cNvPr>
          <p:cNvSpPr>
            <a:spLocks noGrp="1"/>
          </p:cNvSpPr>
          <p:nvPr>
            <p:ph idx="1"/>
          </p:nvPr>
        </p:nvSpPr>
        <p:spPr>
          <a:xfrm>
            <a:off x="219251" y="1149488"/>
            <a:ext cx="10648598" cy="984885"/>
          </a:xfrm>
          <a:solidFill>
            <a:schemeClr val="accent3">
              <a:lumMod val="20000"/>
              <a:lumOff val="80000"/>
            </a:schemeClr>
          </a:solidFill>
        </p:spPr>
        <p:txBody>
          <a:bodyPr anchor="ctr">
            <a:normAutofit/>
          </a:bodyPr>
          <a:lstStyle/>
          <a:p>
            <a:pPr marL="0" indent="0" algn="ctr">
              <a:buNone/>
            </a:pPr>
            <a:r>
              <a:rPr lang="en-US" sz="2400" b="0" dirty="0">
                <a:solidFill>
                  <a:schemeClr val="tx1"/>
                </a:solidFill>
                <a:latin typeface="Century Gothic" panose="020B0502020202020204" pitchFamily="34" charset="0"/>
              </a:rPr>
              <a:t>It is important that the products and services provided by an NMS are those actually </a:t>
            </a:r>
            <a:r>
              <a:rPr lang="en-US" sz="2400" dirty="0">
                <a:solidFill>
                  <a:schemeClr val="tx1"/>
                </a:solidFill>
                <a:latin typeface="Century Gothic" panose="020B0502020202020204" pitchFamily="34" charset="0"/>
              </a:rPr>
              <a:t>required by the users.</a:t>
            </a:r>
            <a:r>
              <a:rPr lang="en-US" sz="2400" b="0" dirty="0">
                <a:solidFill>
                  <a:schemeClr val="tx1"/>
                </a:solidFill>
                <a:latin typeface="Century Gothic" panose="020B0502020202020204" pitchFamily="34" charset="0"/>
              </a:rPr>
              <a:t> </a:t>
            </a:r>
          </a:p>
        </p:txBody>
      </p:sp>
      <p:sp>
        <p:nvSpPr>
          <p:cNvPr id="4" name="Slide Number Placeholder 3">
            <a:extLst>
              <a:ext uri="{FF2B5EF4-FFF2-40B4-BE49-F238E27FC236}">
                <a16:creationId xmlns:a16="http://schemas.microsoft.com/office/drawing/2014/main" id="{1BD90649-97BC-4374-9C58-371E9A87A133}"/>
              </a:ext>
            </a:extLst>
          </p:cNvPr>
          <p:cNvSpPr>
            <a:spLocks noGrp="1"/>
          </p:cNvSpPr>
          <p:nvPr>
            <p:ph type="sldNum" sz="quarter" idx="12"/>
          </p:nvPr>
        </p:nvSpPr>
        <p:spPr/>
        <p:txBody>
          <a:bodyPr/>
          <a:lstStyle/>
          <a:p>
            <a:fld id="{EDCAD221-FD27-42A4-A8EF-97D10159B0EB}" type="slidenum">
              <a:rPr lang="en-ID" smtClean="0"/>
              <a:pPr/>
              <a:t>7</a:t>
            </a:fld>
            <a:endParaRPr lang="en-ID"/>
          </a:p>
        </p:txBody>
      </p:sp>
      <p:sp>
        <p:nvSpPr>
          <p:cNvPr id="49" name="Freeform 11">
            <a:extLst>
              <a:ext uri="{FF2B5EF4-FFF2-40B4-BE49-F238E27FC236}">
                <a16:creationId xmlns:a16="http://schemas.microsoft.com/office/drawing/2014/main" id="{A1F723AA-50CF-40BE-8646-5B85902383AD}"/>
              </a:ext>
            </a:extLst>
          </p:cNvPr>
          <p:cNvSpPr>
            <a:spLocks noChangeAspect="1"/>
          </p:cNvSpPr>
          <p:nvPr/>
        </p:nvSpPr>
        <p:spPr>
          <a:xfrm rot="5400000">
            <a:off x="578176" y="1919767"/>
            <a:ext cx="429212" cy="429212"/>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0" name="TextBox 24">
            <a:extLst>
              <a:ext uri="{FF2B5EF4-FFF2-40B4-BE49-F238E27FC236}">
                <a16:creationId xmlns:a16="http://schemas.microsoft.com/office/drawing/2014/main" id="{04BF1A07-ADFA-4142-AA9A-B3E5C00D4ECC}"/>
              </a:ext>
            </a:extLst>
          </p:cNvPr>
          <p:cNvSpPr txBox="1">
            <a:spLocks noChangeAspect="1"/>
          </p:cNvSpPr>
          <p:nvPr/>
        </p:nvSpPr>
        <p:spPr>
          <a:xfrm>
            <a:off x="509569" y="2490700"/>
            <a:ext cx="4766786" cy="830997"/>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ahoma" panose="020B0604030504040204" pitchFamily="34" charset="0"/>
                <a:ea typeface="Tahoma" panose="020B0604030504040204" pitchFamily="34" charset="0"/>
                <a:cs typeface="Tahoma" panose="020B0604030504040204" pitchFamily="34" charset="0"/>
                <a:sym typeface="Aileron Ultra-Bold"/>
              </a:rPr>
              <a:t>communication and consultation with users are needed to ascertain the products and services required.</a:t>
            </a:r>
          </a:p>
        </p:txBody>
      </p:sp>
      <p:sp>
        <p:nvSpPr>
          <p:cNvPr id="55" name="Freeform 9">
            <a:extLst>
              <a:ext uri="{FF2B5EF4-FFF2-40B4-BE49-F238E27FC236}">
                <a16:creationId xmlns:a16="http://schemas.microsoft.com/office/drawing/2014/main" id="{C47A39F9-8A50-42FB-A6DA-82D815BE124A}"/>
              </a:ext>
            </a:extLst>
          </p:cNvPr>
          <p:cNvSpPr/>
          <p:nvPr/>
        </p:nvSpPr>
        <p:spPr>
          <a:xfrm>
            <a:off x="427871" y="3518139"/>
            <a:ext cx="4136322" cy="748981"/>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latin typeface="Century Gothic" panose="020B0502020202020204" pitchFamily="34" charset="0"/>
              </a:rPr>
              <a:t>There are 4  Main Groups of Users:</a:t>
            </a:r>
            <a:endParaRPr lang="en-US" b="1" dirty="0">
              <a:solidFill>
                <a:schemeClr val="bg1"/>
              </a:solidFill>
              <a:latin typeface="Century Gothic" panose="020B0502020202020204" pitchFamily="34" charset="0"/>
              <a:ea typeface="Aileron Ultra-Bold"/>
              <a:cs typeface="Aileron Ultra-Bold"/>
              <a:sym typeface="Aileron Ultra-Bold"/>
            </a:endParaRPr>
          </a:p>
        </p:txBody>
      </p:sp>
      <p:sp>
        <p:nvSpPr>
          <p:cNvPr id="57" name="TextBox 24">
            <a:extLst>
              <a:ext uri="{FF2B5EF4-FFF2-40B4-BE49-F238E27FC236}">
                <a16:creationId xmlns:a16="http://schemas.microsoft.com/office/drawing/2014/main" id="{4028F9A2-58AD-4188-B75D-1EFFFD6884AC}"/>
              </a:ext>
            </a:extLst>
          </p:cNvPr>
          <p:cNvSpPr txBox="1">
            <a:spLocks noChangeAspect="1"/>
          </p:cNvSpPr>
          <p:nvPr/>
        </p:nvSpPr>
        <p:spPr>
          <a:xfrm>
            <a:off x="509569" y="4355388"/>
            <a:ext cx="5909704" cy="2021066"/>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The hazards community</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Governmental authorities (other than those dealing with hazards)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Weather-sensitive economic sectors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The public</a:t>
            </a:r>
          </a:p>
        </p:txBody>
      </p:sp>
      <p:cxnSp>
        <p:nvCxnSpPr>
          <p:cNvPr id="18" name="Straight Connector 17">
            <a:extLst>
              <a:ext uri="{FF2B5EF4-FFF2-40B4-BE49-F238E27FC236}">
                <a16:creationId xmlns:a16="http://schemas.microsoft.com/office/drawing/2014/main" id="{0AC00EC2-60B7-42E8-BA6B-C39DCC5E3661}"/>
              </a:ext>
            </a:extLst>
          </p:cNvPr>
          <p:cNvCxnSpPr/>
          <p:nvPr/>
        </p:nvCxnSpPr>
        <p:spPr>
          <a:xfrm>
            <a:off x="6336145" y="2844800"/>
            <a:ext cx="0" cy="29648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4" name="TextBox 24">
            <a:extLst>
              <a:ext uri="{FF2B5EF4-FFF2-40B4-BE49-F238E27FC236}">
                <a16:creationId xmlns:a16="http://schemas.microsoft.com/office/drawing/2014/main" id="{00216F78-468A-483E-979C-EB8391EC4869}"/>
              </a:ext>
            </a:extLst>
          </p:cNvPr>
          <p:cNvSpPr txBox="1">
            <a:spLocks noChangeAspect="1"/>
          </p:cNvSpPr>
          <p:nvPr/>
        </p:nvSpPr>
        <p:spPr>
          <a:xfrm>
            <a:off x="6764721" y="2533254"/>
            <a:ext cx="5098515" cy="984885"/>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Once user requirements are known, products and service </a:t>
            </a:r>
            <a:r>
              <a:rPr lang="en-US" sz="1600" dirty="0" err="1">
                <a:latin typeface="Tahoma" panose="020B0604030504040204" pitchFamily="34" charset="0"/>
                <a:ea typeface="Tahoma" panose="020B0604030504040204" pitchFamily="34" charset="0"/>
                <a:cs typeface="Tahoma" panose="020B0604030504040204" pitchFamily="34" charset="0"/>
                <a:sym typeface="Aileron Ultra-Bold"/>
              </a:rPr>
              <a:t>programmes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 can be developed that will meet those requests as far as possible within the limits of resources and meteorological capability.</a:t>
            </a:r>
          </a:p>
        </p:txBody>
      </p:sp>
      <p:sp>
        <p:nvSpPr>
          <p:cNvPr id="65" name="Freeform 9">
            <a:extLst>
              <a:ext uri="{FF2B5EF4-FFF2-40B4-BE49-F238E27FC236}">
                <a16:creationId xmlns:a16="http://schemas.microsoft.com/office/drawing/2014/main" id="{B6EBA3E8-1A51-4D24-B4F0-771715A945ED}"/>
              </a:ext>
            </a:extLst>
          </p:cNvPr>
          <p:cNvSpPr/>
          <p:nvPr/>
        </p:nvSpPr>
        <p:spPr>
          <a:xfrm>
            <a:off x="6760128" y="3680363"/>
            <a:ext cx="4882321" cy="78706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latin typeface="Century Gothic" panose="020B0502020202020204" pitchFamily="34" charset="0"/>
              </a:rPr>
              <a:t>There are three broad types of services in a Public Weather Services </a:t>
            </a:r>
            <a:r>
              <a:rPr lang="en-US" b="1" dirty="0" err="1">
                <a:solidFill>
                  <a:schemeClr val="bg1"/>
                </a:solidFill>
                <a:latin typeface="Century Gothic" panose="020B0502020202020204" pitchFamily="34" charset="0"/>
              </a:rPr>
              <a:t>Programme</a:t>
            </a:r>
            <a:r>
              <a:rPr lang="en-US" b="1" dirty="0">
                <a:solidFill>
                  <a:schemeClr val="bg1"/>
                </a:solidFill>
                <a:latin typeface="Century Gothic" panose="020B0502020202020204" pitchFamily="34" charset="0"/>
              </a:rPr>
              <a:t>:</a:t>
            </a:r>
            <a:endParaRPr lang="en-US" b="1" dirty="0">
              <a:solidFill>
                <a:schemeClr val="bg1"/>
              </a:solidFill>
              <a:latin typeface="Century Gothic" panose="020B0502020202020204" pitchFamily="34" charset="0"/>
              <a:ea typeface="Aileron Ultra-Bold"/>
              <a:cs typeface="Aileron Ultra-Bold"/>
              <a:sym typeface="Aileron Ultra-Bold"/>
            </a:endParaRPr>
          </a:p>
        </p:txBody>
      </p:sp>
      <p:sp>
        <p:nvSpPr>
          <p:cNvPr id="66" name="TextBox 24">
            <a:extLst>
              <a:ext uri="{FF2B5EF4-FFF2-40B4-BE49-F238E27FC236}">
                <a16:creationId xmlns:a16="http://schemas.microsoft.com/office/drawing/2014/main" id="{5D6AC661-E77F-4415-9F83-21BFB3434E3C}"/>
              </a:ext>
            </a:extLst>
          </p:cNvPr>
          <p:cNvSpPr txBox="1">
            <a:spLocks noChangeAspect="1"/>
          </p:cNvSpPr>
          <p:nvPr/>
        </p:nvSpPr>
        <p:spPr>
          <a:xfrm>
            <a:off x="6823795" y="4629656"/>
            <a:ext cx="2974995" cy="1605568"/>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Warnings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Forecasts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Information</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Real-time products</a:t>
            </a:r>
          </a:p>
        </p:txBody>
      </p:sp>
    </p:spTree>
    <p:extLst>
      <p:ext uri="{BB962C8B-B14F-4D97-AF65-F5344CB8AC3E}">
        <p14:creationId xmlns:p14="http://schemas.microsoft.com/office/powerpoint/2010/main" val="852822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1988-6AD8-4089-B99F-3F5C804D55D4}"/>
              </a:ext>
            </a:extLst>
          </p:cNvPr>
          <p:cNvSpPr>
            <a:spLocks noGrp="1"/>
          </p:cNvSpPr>
          <p:nvPr>
            <p:ph type="title"/>
          </p:nvPr>
        </p:nvSpPr>
        <p:spPr/>
        <p:txBody>
          <a:bodyPr/>
          <a:lstStyle/>
          <a:p>
            <a:r>
              <a:rPr lang="en-US" dirty="0"/>
              <a:t>WEATHER WARNING SERVICES</a:t>
            </a:r>
          </a:p>
        </p:txBody>
      </p:sp>
      <p:sp>
        <p:nvSpPr>
          <p:cNvPr id="4" name="Slide Number Placeholder 3">
            <a:extLst>
              <a:ext uri="{FF2B5EF4-FFF2-40B4-BE49-F238E27FC236}">
                <a16:creationId xmlns:a16="http://schemas.microsoft.com/office/drawing/2014/main" id="{1EB04E52-ECD1-4D3B-8B6A-E4D560C73B70}"/>
              </a:ext>
            </a:extLst>
          </p:cNvPr>
          <p:cNvSpPr>
            <a:spLocks noGrp="1"/>
          </p:cNvSpPr>
          <p:nvPr>
            <p:ph type="sldNum" sz="quarter" idx="12"/>
          </p:nvPr>
        </p:nvSpPr>
        <p:spPr/>
        <p:txBody>
          <a:bodyPr/>
          <a:lstStyle/>
          <a:p>
            <a:fld id="{EDCAD221-FD27-42A4-A8EF-97D10159B0EB}" type="slidenum">
              <a:rPr lang="en-ID" smtClean="0"/>
              <a:pPr/>
              <a:t>8</a:t>
            </a:fld>
            <a:endParaRPr lang="en-ID"/>
          </a:p>
        </p:txBody>
      </p:sp>
      <p:sp>
        <p:nvSpPr>
          <p:cNvPr id="5" name="Rectangle 4">
            <a:extLst>
              <a:ext uri="{FF2B5EF4-FFF2-40B4-BE49-F238E27FC236}">
                <a16:creationId xmlns:a16="http://schemas.microsoft.com/office/drawing/2014/main" id="{B11ECD58-C457-4674-8505-457EBB24E5BD}"/>
              </a:ext>
            </a:extLst>
          </p:cNvPr>
          <p:cNvSpPr/>
          <p:nvPr/>
        </p:nvSpPr>
        <p:spPr>
          <a:xfrm>
            <a:off x="0" y="1040630"/>
            <a:ext cx="10854267" cy="863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B3FD318-93AC-40CC-BD62-BDC0494EE730}"/>
              </a:ext>
            </a:extLst>
          </p:cNvPr>
          <p:cNvSpPr/>
          <p:nvPr/>
        </p:nvSpPr>
        <p:spPr>
          <a:xfrm>
            <a:off x="229867" y="1144837"/>
            <a:ext cx="10373474" cy="646331"/>
          </a:xfrm>
          <a:prstGeom prst="rect">
            <a:avLst/>
          </a:prstGeom>
        </p:spPr>
        <p:txBody>
          <a:bodyPr wrap="square">
            <a:spAutoFit/>
          </a:bodyPr>
          <a:lstStyle/>
          <a:p>
            <a:pPr algn="just"/>
            <a:r>
              <a:rPr lang="en-US" dirty="0">
                <a:latin typeface="Tahoma" panose="020B0604030504040204" pitchFamily="34" charset="0"/>
                <a:ea typeface="Tahoma" panose="020B0604030504040204" pitchFamily="34" charset="0"/>
                <a:cs typeface="Tahoma" panose="020B0604030504040204" pitchFamily="34" charset="0"/>
              </a:rPr>
              <a:t>Weather warnings are the most vital component of all public weather services </a:t>
            </a:r>
            <a:r>
              <a:rPr lang="en-US" dirty="0" err="1">
                <a:latin typeface="Tahoma" panose="020B0604030504040204" pitchFamily="34" charset="0"/>
                <a:ea typeface="Tahoma" panose="020B0604030504040204" pitchFamily="34" charset="0"/>
                <a:cs typeface="Tahoma" panose="020B0604030504040204" pitchFamily="34" charset="0"/>
              </a:rPr>
              <a:t>programmes</a:t>
            </a:r>
            <a:r>
              <a:rPr lang="en-US" dirty="0">
                <a:latin typeface="Tahoma" panose="020B0604030504040204" pitchFamily="34" charset="0"/>
                <a:ea typeface="Tahoma" panose="020B0604030504040204" pitchFamily="34" charset="0"/>
                <a:cs typeface="Tahoma" panose="020B0604030504040204" pitchFamily="34" charset="0"/>
              </a:rPr>
              <a:t> from a public safety perspective.</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24">
            <a:extLst>
              <a:ext uri="{FF2B5EF4-FFF2-40B4-BE49-F238E27FC236}">
                <a16:creationId xmlns:a16="http://schemas.microsoft.com/office/drawing/2014/main" id="{92FC2F74-134F-4FD3-AF2D-13EBA44B4319}"/>
              </a:ext>
            </a:extLst>
          </p:cNvPr>
          <p:cNvSpPr txBox="1">
            <a:spLocks noChangeAspect="1"/>
          </p:cNvSpPr>
          <p:nvPr/>
        </p:nvSpPr>
        <p:spPr>
          <a:xfrm>
            <a:off x="750047" y="2061618"/>
            <a:ext cx="10525649" cy="1723549"/>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Meteorologists and hydrologists have a crucial role to play in the entire process of dealing with natural disasters due to meteorological or hydrological events, but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scientific knowledge alone will not solve the problem</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a:t>
            </a:r>
          </a:p>
          <a:p>
            <a:pPr algn="just"/>
            <a:endParaRPr lang="en-US" sz="1600" dirty="0">
              <a:latin typeface="Tahoma" panose="020B0604030504040204" pitchFamily="34" charset="0"/>
              <a:ea typeface="Tahoma" panose="020B0604030504040204" pitchFamily="34" charset="0"/>
              <a:cs typeface="Tahoma" panose="020B0604030504040204" pitchFamily="34" charset="0"/>
              <a:sym typeface="Aileron Ultra-Bold"/>
            </a:endParaRPr>
          </a:p>
          <a:p>
            <a:pPr algn="just"/>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Meteorological and hydrological agencies must become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involved with other governmental organizations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 local and national officials, emergency managers, local decision makers, the media, voluntary organizations, and weather-sensitive businesses (known collectively as the hazards community) to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create effective preparedness plans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warning systems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mitigation strategies </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and </a:t>
            </a:r>
            <a:r>
              <a:rPr lang="en-US" sz="1600" b="1" dirty="0">
                <a:latin typeface="Tahoma" panose="020B0604030504040204" pitchFamily="34" charset="0"/>
                <a:ea typeface="Tahoma" panose="020B0604030504040204" pitchFamily="34" charset="0"/>
                <a:cs typeface="Tahoma" panose="020B0604030504040204" pitchFamily="34" charset="0"/>
                <a:sym typeface="Aileron Ultra-Bold"/>
              </a:rPr>
              <a:t>public education </a:t>
            </a:r>
            <a:r>
              <a:rPr lang="en-US" sz="1600" b="1" dirty="0" err="1">
                <a:latin typeface="Tahoma" panose="020B0604030504040204" pitchFamily="34" charset="0"/>
                <a:ea typeface="Tahoma" panose="020B0604030504040204" pitchFamily="34" charset="0"/>
                <a:cs typeface="Tahoma" panose="020B0604030504040204" pitchFamily="34" charset="0"/>
                <a:sym typeface="Aileron Ultra-Bold"/>
              </a:rPr>
              <a:t>programmes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a:t>
            </a:r>
            <a:endParaRPr lang="en-US" sz="1600" b="1" dirty="0">
              <a:latin typeface="Tahoma" panose="020B0604030504040204" pitchFamily="34" charset="0"/>
              <a:ea typeface="Tahoma" panose="020B0604030504040204" pitchFamily="34" charset="0"/>
              <a:cs typeface="Tahoma" panose="020B0604030504040204" pitchFamily="34" charset="0"/>
              <a:sym typeface="Aileron Ultra-Bold"/>
            </a:endParaRPr>
          </a:p>
        </p:txBody>
      </p:sp>
      <p:sp>
        <p:nvSpPr>
          <p:cNvPr id="8" name="Freeform 11">
            <a:extLst>
              <a:ext uri="{FF2B5EF4-FFF2-40B4-BE49-F238E27FC236}">
                <a16:creationId xmlns:a16="http://schemas.microsoft.com/office/drawing/2014/main" id="{1DA0419D-20B0-4521-9FAB-948D96D0FB75}"/>
              </a:ext>
            </a:extLst>
          </p:cNvPr>
          <p:cNvSpPr>
            <a:spLocks noChangeAspect="1"/>
          </p:cNvSpPr>
          <p:nvPr/>
        </p:nvSpPr>
        <p:spPr>
          <a:xfrm rot="5400000">
            <a:off x="-117605" y="2492218"/>
            <a:ext cx="1005840" cy="310896"/>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FE268949-756F-433D-94C7-D6275E54FFE0}"/>
              </a:ext>
            </a:extLst>
          </p:cNvPr>
          <p:cNvSpPr/>
          <p:nvPr/>
        </p:nvSpPr>
        <p:spPr>
          <a:xfrm>
            <a:off x="350225" y="4025683"/>
            <a:ext cx="5345953" cy="748981"/>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F8D389"/>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latin typeface="Century Gothic" panose="020B0502020202020204" pitchFamily="34" charset="0"/>
              </a:rPr>
              <a:t>For a warning programme to be successful, make sure everyone at risk must:</a:t>
            </a:r>
            <a:endParaRPr lang="en-US" b="1" dirty="0">
              <a:latin typeface="Century Gothic" panose="020B0502020202020204" pitchFamily="34" charset="0"/>
              <a:ea typeface="Aileron Ultra-Bold"/>
              <a:cs typeface="Aileron Ultra-Bold"/>
              <a:sym typeface="Aileron Ultra-Bold"/>
            </a:endParaRPr>
          </a:p>
        </p:txBody>
      </p:sp>
      <p:sp>
        <p:nvSpPr>
          <p:cNvPr id="10" name="TextBox 24">
            <a:extLst>
              <a:ext uri="{FF2B5EF4-FFF2-40B4-BE49-F238E27FC236}">
                <a16:creationId xmlns:a16="http://schemas.microsoft.com/office/drawing/2014/main" id="{ABC40724-2E2A-4593-8882-CC1A83528CE3}"/>
              </a:ext>
            </a:extLst>
          </p:cNvPr>
          <p:cNvSpPr txBox="1">
            <a:spLocks noChangeAspect="1"/>
          </p:cNvSpPr>
          <p:nvPr/>
        </p:nvSpPr>
        <p:spPr>
          <a:xfrm>
            <a:off x="6012871" y="3942555"/>
            <a:ext cx="4747493" cy="2436564"/>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Receive the warning;</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Understand the information presented;</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Believe the information;</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Personalize the risk;</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Make correct decisions;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Respond in a timely manner,</a:t>
            </a:r>
          </a:p>
        </p:txBody>
      </p:sp>
    </p:spTree>
    <p:extLst>
      <p:ext uri="{BB962C8B-B14F-4D97-AF65-F5344CB8AC3E}">
        <p14:creationId xmlns:p14="http://schemas.microsoft.com/office/powerpoint/2010/main" val="3717118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3381-7AA5-476F-A7C9-FA88DCC70D42}"/>
              </a:ext>
            </a:extLst>
          </p:cNvPr>
          <p:cNvSpPr>
            <a:spLocks noGrp="1"/>
          </p:cNvSpPr>
          <p:nvPr>
            <p:ph type="title"/>
          </p:nvPr>
        </p:nvSpPr>
        <p:spPr/>
        <p:txBody>
          <a:bodyPr/>
          <a:lstStyle/>
          <a:p>
            <a:r>
              <a:rPr lang="en-US" sz="2400" dirty="0"/>
              <a:t>WEATHER FORECAST AND INFORMATION SERVICES</a:t>
            </a:r>
          </a:p>
        </p:txBody>
      </p:sp>
      <p:sp>
        <p:nvSpPr>
          <p:cNvPr id="4" name="Slide Number Placeholder 3">
            <a:extLst>
              <a:ext uri="{FF2B5EF4-FFF2-40B4-BE49-F238E27FC236}">
                <a16:creationId xmlns:a16="http://schemas.microsoft.com/office/drawing/2014/main" id="{A5734223-667E-4FA8-9205-9DDA5F94F672}"/>
              </a:ext>
            </a:extLst>
          </p:cNvPr>
          <p:cNvSpPr>
            <a:spLocks noGrp="1"/>
          </p:cNvSpPr>
          <p:nvPr>
            <p:ph type="sldNum" sz="quarter" idx="12"/>
          </p:nvPr>
        </p:nvSpPr>
        <p:spPr/>
        <p:txBody>
          <a:bodyPr/>
          <a:lstStyle/>
          <a:p>
            <a:fld id="{EDCAD221-FD27-42A4-A8EF-97D10159B0EB}" type="slidenum">
              <a:rPr lang="en-ID" smtClean="0"/>
              <a:pPr/>
              <a:t>9</a:t>
            </a:fld>
            <a:endParaRPr lang="en-ID"/>
          </a:p>
        </p:txBody>
      </p:sp>
      <p:sp>
        <p:nvSpPr>
          <p:cNvPr id="5" name="Content Placeholder 2">
            <a:extLst>
              <a:ext uri="{FF2B5EF4-FFF2-40B4-BE49-F238E27FC236}">
                <a16:creationId xmlns:a16="http://schemas.microsoft.com/office/drawing/2014/main" id="{051DF037-2F9F-4EAA-B06C-7C9A5E8D0D1B}"/>
              </a:ext>
            </a:extLst>
          </p:cNvPr>
          <p:cNvSpPr txBox="1">
            <a:spLocks/>
          </p:cNvSpPr>
          <p:nvPr/>
        </p:nvSpPr>
        <p:spPr>
          <a:xfrm>
            <a:off x="219252" y="1149488"/>
            <a:ext cx="3863220" cy="743967"/>
          </a:xfrm>
          <a:prstGeom prst="rect">
            <a:avLst/>
          </a:prstGeom>
          <a:solidFill>
            <a:schemeClr val="accent6">
              <a:lumMod val="20000"/>
              <a:lumOff val="80000"/>
            </a:schemeClr>
          </a:solidFill>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b="1" kern="1200">
                <a:solidFill>
                  <a:srgbClr val="1D4999"/>
                </a:solidFill>
                <a:latin typeface="Source Sans Pro" panose="020B0503030403020204" pitchFamily="34" charset="0"/>
                <a:ea typeface="Source Sans Pro" panose="020B0503030403020204" pitchFamily="34" charset="0"/>
                <a:cs typeface="Leelawadee UI" panose="020B0502040204020203" pitchFamily="34" charset="-34"/>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entury Gothic" panose="020B0502020202020204" pitchFamily="34" charset="0"/>
              </a:rPr>
              <a:t>Common variables/phenomena in public forecasts :</a:t>
            </a:r>
          </a:p>
        </p:txBody>
      </p:sp>
      <p:cxnSp>
        <p:nvCxnSpPr>
          <p:cNvPr id="6" name="Straight Connector 5">
            <a:extLst>
              <a:ext uri="{FF2B5EF4-FFF2-40B4-BE49-F238E27FC236}">
                <a16:creationId xmlns:a16="http://schemas.microsoft.com/office/drawing/2014/main" id="{6B11FC3A-B55A-41E6-AE80-7F1F6D7F79A5}"/>
              </a:ext>
            </a:extLst>
          </p:cNvPr>
          <p:cNvCxnSpPr>
            <a:cxnSpLocks/>
          </p:cNvCxnSpPr>
          <p:nvPr/>
        </p:nvCxnSpPr>
        <p:spPr>
          <a:xfrm>
            <a:off x="434109" y="1893455"/>
            <a:ext cx="0" cy="267854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24">
            <a:extLst>
              <a:ext uri="{FF2B5EF4-FFF2-40B4-BE49-F238E27FC236}">
                <a16:creationId xmlns:a16="http://schemas.microsoft.com/office/drawing/2014/main" id="{C77B5615-6E9B-4184-ABB8-B26B1B635FC0}"/>
              </a:ext>
            </a:extLst>
          </p:cNvPr>
          <p:cNvSpPr txBox="1">
            <a:spLocks noChangeAspect="1"/>
          </p:cNvSpPr>
          <p:nvPr/>
        </p:nvSpPr>
        <p:spPr>
          <a:xfrm>
            <a:off x="748144" y="2021391"/>
            <a:ext cx="3334328" cy="2436564"/>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Precipitation;</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Wind;</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Temperature;</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Humidity;</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Visibility;</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Sky condition;</a:t>
            </a:r>
          </a:p>
        </p:txBody>
      </p:sp>
      <p:sp>
        <p:nvSpPr>
          <p:cNvPr id="9" name="Content Placeholder 2">
            <a:extLst>
              <a:ext uri="{FF2B5EF4-FFF2-40B4-BE49-F238E27FC236}">
                <a16:creationId xmlns:a16="http://schemas.microsoft.com/office/drawing/2014/main" id="{A59511F6-EC5D-40E3-B195-54A7CF1D8D31}"/>
              </a:ext>
            </a:extLst>
          </p:cNvPr>
          <p:cNvSpPr txBox="1">
            <a:spLocks/>
          </p:cNvSpPr>
          <p:nvPr/>
        </p:nvSpPr>
        <p:spPr>
          <a:xfrm>
            <a:off x="4636652" y="1149488"/>
            <a:ext cx="4962342" cy="743967"/>
          </a:xfrm>
          <a:prstGeom prst="rect">
            <a:avLst/>
          </a:prstGeom>
          <a:solidFill>
            <a:schemeClr val="accent6">
              <a:lumMod val="20000"/>
              <a:lumOff val="80000"/>
            </a:schemeClr>
          </a:solidFill>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b="1" kern="1200">
                <a:solidFill>
                  <a:srgbClr val="1D4999"/>
                </a:solidFill>
                <a:latin typeface="Source Sans Pro" panose="020B0503030403020204" pitchFamily="34" charset="0"/>
                <a:ea typeface="Source Sans Pro" panose="020B0503030403020204" pitchFamily="34" charset="0"/>
                <a:cs typeface="Leelawadee UI" panose="020B0502040204020203" pitchFamily="34" charset="-34"/>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Leelawadee UI" panose="020B0502040204020203"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tx1"/>
                </a:solidFill>
                <a:latin typeface="Century Gothic" panose="020B0502020202020204" pitchFamily="34" charset="0"/>
              </a:rPr>
              <a:t>Timescale of forecasts :</a:t>
            </a:r>
          </a:p>
        </p:txBody>
      </p:sp>
      <p:cxnSp>
        <p:nvCxnSpPr>
          <p:cNvPr id="10" name="Straight Connector 9">
            <a:extLst>
              <a:ext uri="{FF2B5EF4-FFF2-40B4-BE49-F238E27FC236}">
                <a16:creationId xmlns:a16="http://schemas.microsoft.com/office/drawing/2014/main" id="{44E694B6-D28E-4A70-BEB3-6D743E7173D2}"/>
              </a:ext>
            </a:extLst>
          </p:cNvPr>
          <p:cNvCxnSpPr>
            <a:cxnSpLocks/>
          </p:cNvCxnSpPr>
          <p:nvPr/>
        </p:nvCxnSpPr>
        <p:spPr>
          <a:xfrm>
            <a:off x="4851509" y="1893455"/>
            <a:ext cx="0" cy="442421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TextBox 24">
            <a:extLst>
              <a:ext uri="{FF2B5EF4-FFF2-40B4-BE49-F238E27FC236}">
                <a16:creationId xmlns:a16="http://schemas.microsoft.com/office/drawing/2014/main" id="{3EB60D01-7597-45A8-8DC1-C9FCE51745D8}"/>
              </a:ext>
            </a:extLst>
          </p:cNvPr>
          <p:cNvSpPr txBox="1">
            <a:spLocks noChangeAspect="1"/>
          </p:cNvSpPr>
          <p:nvPr/>
        </p:nvSpPr>
        <p:spPr>
          <a:xfrm>
            <a:off x="5066366" y="1923238"/>
            <a:ext cx="6691523" cy="2021066"/>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Nowcasting (0-2 hours forecasts)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Very short-range weather forecasting (to 12 hours forecasts)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Short-range weather forecasting (12-72 hours forecasts)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Medium-range weather forecasting (72-240 hours forecasts)</a:t>
            </a:r>
          </a:p>
          <a:p>
            <a:pPr marL="342900" indent="-342900">
              <a:lnSpc>
                <a:spcPct val="150000"/>
              </a:lnSpc>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Extended-range weather forecasting10-30 days forecasts)</a:t>
            </a:r>
          </a:p>
        </p:txBody>
      </p:sp>
      <p:sp>
        <p:nvSpPr>
          <p:cNvPr id="12" name="TextBox 24">
            <a:extLst>
              <a:ext uri="{FF2B5EF4-FFF2-40B4-BE49-F238E27FC236}">
                <a16:creationId xmlns:a16="http://schemas.microsoft.com/office/drawing/2014/main" id="{D0225673-60C3-4173-A397-1E29C72388A5}"/>
              </a:ext>
            </a:extLst>
          </p:cNvPr>
          <p:cNvSpPr txBox="1">
            <a:spLocks noChangeAspect="1"/>
          </p:cNvSpPr>
          <p:nvPr/>
        </p:nvSpPr>
        <p:spPr>
          <a:xfrm>
            <a:off x="5066366" y="4005583"/>
            <a:ext cx="5555450" cy="359073"/>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startAt="6"/>
            </a:pPr>
            <a:r>
              <a:rPr lang="en-US" dirty="0">
                <a:latin typeface="Tahoma" panose="020B0604030504040204" pitchFamily="34" charset="0"/>
                <a:ea typeface="Tahoma" panose="020B0604030504040204" pitchFamily="34" charset="0"/>
                <a:cs typeface="Tahoma" panose="020B0604030504040204" pitchFamily="34" charset="0"/>
                <a:sym typeface="Aileron Ultra-Bold"/>
              </a:rPr>
              <a:t>Long-range forecasting (30 days up to 2 years)</a:t>
            </a:r>
          </a:p>
        </p:txBody>
      </p:sp>
      <p:sp>
        <p:nvSpPr>
          <p:cNvPr id="13" name="TextBox 24">
            <a:extLst>
              <a:ext uri="{FF2B5EF4-FFF2-40B4-BE49-F238E27FC236}">
                <a16:creationId xmlns:a16="http://schemas.microsoft.com/office/drawing/2014/main" id="{C5E2655F-9AAA-4FED-9ABF-4DB3240691EE}"/>
              </a:ext>
            </a:extLst>
          </p:cNvPr>
          <p:cNvSpPr txBox="1">
            <a:spLocks noChangeAspect="1"/>
          </p:cNvSpPr>
          <p:nvPr/>
        </p:nvSpPr>
        <p:spPr>
          <a:xfrm>
            <a:off x="5066366" y="5336863"/>
            <a:ext cx="4604107" cy="359073"/>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startAt="7"/>
            </a:pPr>
            <a:r>
              <a:rPr lang="en-US" dirty="0">
                <a:latin typeface="Tahoma" panose="020B0604030504040204" pitchFamily="34" charset="0"/>
                <a:ea typeface="Tahoma" panose="020B0604030504040204" pitchFamily="34" charset="0"/>
                <a:cs typeface="Tahoma" panose="020B0604030504040204" pitchFamily="34" charset="0"/>
                <a:sym typeface="Aileron Ultra-Bold"/>
              </a:rPr>
              <a:t>Climate forecasting (beyond two years)</a:t>
            </a:r>
          </a:p>
        </p:txBody>
      </p:sp>
      <p:sp>
        <p:nvSpPr>
          <p:cNvPr id="18" name="TextBox 24">
            <a:extLst>
              <a:ext uri="{FF2B5EF4-FFF2-40B4-BE49-F238E27FC236}">
                <a16:creationId xmlns:a16="http://schemas.microsoft.com/office/drawing/2014/main" id="{6451B09E-9649-47D5-855F-13AF76563097}"/>
              </a:ext>
            </a:extLst>
          </p:cNvPr>
          <p:cNvSpPr txBox="1">
            <a:spLocks noChangeAspect="1"/>
          </p:cNvSpPr>
          <p:nvPr/>
        </p:nvSpPr>
        <p:spPr>
          <a:xfrm>
            <a:off x="5412509" y="4437986"/>
            <a:ext cx="5555450" cy="830997"/>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sym typeface="Aileron Ultra-Bold"/>
              </a:rPr>
              <a:t>Monthly outlook</a:t>
            </a:r>
          </a:p>
          <a:p>
            <a:pPr marL="342900" indent="-34290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sym typeface="Aileron Ultra-Bold"/>
              </a:rPr>
              <a:t>3 month or 90days outlook</a:t>
            </a:r>
          </a:p>
          <a:p>
            <a:pPr marL="342900" indent="-34290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sym typeface="Aileron Ultra-Bold"/>
              </a:rPr>
              <a:t>Seasonal outlook</a:t>
            </a:r>
          </a:p>
        </p:txBody>
      </p:sp>
      <p:sp>
        <p:nvSpPr>
          <p:cNvPr id="19" name="TextBox 24">
            <a:extLst>
              <a:ext uri="{FF2B5EF4-FFF2-40B4-BE49-F238E27FC236}">
                <a16:creationId xmlns:a16="http://schemas.microsoft.com/office/drawing/2014/main" id="{AF0D5951-92A5-4D14-8985-77375021C1FB}"/>
              </a:ext>
            </a:extLst>
          </p:cNvPr>
          <p:cNvSpPr txBox="1">
            <a:spLocks noChangeAspect="1"/>
          </p:cNvSpPr>
          <p:nvPr/>
        </p:nvSpPr>
        <p:spPr>
          <a:xfrm>
            <a:off x="5412509" y="5765407"/>
            <a:ext cx="5555450" cy="553998"/>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sym typeface="Aileron Ultra-Bold"/>
              </a:rPr>
              <a:t>Climate variability prediction</a:t>
            </a:r>
          </a:p>
          <a:p>
            <a:pPr marL="342900" indent="-34290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sym typeface="Aileron Ultra-Bold"/>
              </a:rPr>
              <a:t>Climate prediction</a:t>
            </a:r>
          </a:p>
        </p:txBody>
      </p:sp>
    </p:spTree>
    <p:extLst>
      <p:ext uri="{BB962C8B-B14F-4D97-AF65-F5344CB8AC3E}">
        <p14:creationId xmlns:p14="http://schemas.microsoft.com/office/powerpoint/2010/main" val="1741946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FA227A1-EB7B-4C41-B885-1C08D3A73286}"/>
              </a:ext>
            </a:extLst>
          </p:cNvPr>
          <p:cNvSpPr/>
          <p:nvPr/>
        </p:nvSpPr>
        <p:spPr>
          <a:xfrm>
            <a:off x="6257925" y="3197142"/>
            <a:ext cx="5934075" cy="2803608"/>
          </a:xfrm>
          <a:prstGeom prst="rect">
            <a:avLst/>
          </a:prstGeom>
          <a:solidFill>
            <a:schemeClr val="accent4">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7E9F37-4295-4FDF-BB5C-C073E132BD59}"/>
              </a:ext>
            </a:extLst>
          </p:cNvPr>
          <p:cNvSpPr>
            <a:spLocks noGrp="1"/>
          </p:cNvSpPr>
          <p:nvPr>
            <p:ph type="title"/>
          </p:nvPr>
        </p:nvSpPr>
        <p:spPr/>
        <p:txBody>
          <a:bodyPr/>
          <a:lstStyle/>
          <a:p>
            <a:r>
              <a:rPr lang="en-US" dirty="0"/>
              <a:t>DISSEMINATION AND PRESENTATION</a:t>
            </a:r>
          </a:p>
        </p:txBody>
      </p:sp>
      <p:sp>
        <p:nvSpPr>
          <p:cNvPr id="4" name="Slide Number Placeholder 3">
            <a:extLst>
              <a:ext uri="{FF2B5EF4-FFF2-40B4-BE49-F238E27FC236}">
                <a16:creationId xmlns:a16="http://schemas.microsoft.com/office/drawing/2014/main" id="{7160ADE9-D1CA-43AB-9CB8-F13A4D11D019}"/>
              </a:ext>
            </a:extLst>
          </p:cNvPr>
          <p:cNvSpPr>
            <a:spLocks noGrp="1"/>
          </p:cNvSpPr>
          <p:nvPr>
            <p:ph type="sldNum" sz="quarter" idx="12"/>
          </p:nvPr>
        </p:nvSpPr>
        <p:spPr/>
        <p:txBody>
          <a:bodyPr/>
          <a:lstStyle/>
          <a:p>
            <a:fld id="{EDCAD221-FD27-42A4-A8EF-97D10159B0EB}" type="slidenum">
              <a:rPr lang="en-ID" smtClean="0"/>
              <a:pPr/>
              <a:t>10</a:t>
            </a:fld>
            <a:endParaRPr lang="en-ID"/>
          </a:p>
        </p:txBody>
      </p:sp>
      <p:sp>
        <p:nvSpPr>
          <p:cNvPr id="5" name="Rectangle 4">
            <a:extLst>
              <a:ext uri="{FF2B5EF4-FFF2-40B4-BE49-F238E27FC236}">
                <a16:creationId xmlns:a16="http://schemas.microsoft.com/office/drawing/2014/main" id="{36C6BA7A-657D-4C65-A8FF-9C49AFA64EE8}"/>
              </a:ext>
            </a:extLst>
          </p:cNvPr>
          <p:cNvSpPr/>
          <p:nvPr/>
        </p:nvSpPr>
        <p:spPr>
          <a:xfrm>
            <a:off x="0" y="1040630"/>
            <a:ext cx="10854267" cy="863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89241E-7B01-4EC5-B130-42C5ECF50EEA}"/>
              </a:ext>
            </a:extLst>
          </p:cNvPr>
          <p:cNvSpPr/>
          <p:nvPr/>
        </p:nvSpPr>
        <p:spPr>
          <a:xfrm>
            <a:off x="229867" y="1144837"/>
            <a:ext cx="10373474" cy="707886"/>
          </a:xfrm>
          <a:prstGeom prst="rect">
            <a:avLst/>
          </a:prstGeom>
        </p:spPr>
        <p:txBody>
          <a:bodyPr wrap="square">
            <a:spAutoFit/>
          </a:bodyPr>
          <a:lstStyle/>
          <a:p>
            <a:pPr algn="just"/>
            <a:r>
              <a:rPr lang="en-US" sz="2000" b="1" dirty="0">
                <a:latin typeface="Century Gothic" panose="020B0502020202020204" pitchFamily="34" charset="0"/>
                <a:ea typeface="Tahoma" panose="020B0604030504040204" pitchFamily="34" charset="0"/>
                <a:cs typeface="Tahoma" panose="020B0604030504040204" pitchFamily="34" charset="0"/>
              </a:rPr>
              <a:t>There is no point in producing warnings, forecasts and information unless they can be disseminated rapidly to the public.</a:t>
            </a:r>
          </a:p>
        </p:txBody>
      </p:sp>
      <p:sp>
        <p:nvSpPr>
          <p:cNvPr id="7" name="Freeform 9">
            <a:extLst>
              <a:ext uri="{FF2B5EF4-FFF2-40B4-BE49-F238E27FC236}">
                <a16:creationId xmlns:a16="http://schemas.microsoft.com/office/drawing/2014/main" id="{470C3103-60C2-43B5-B7B3-578BA0785AA1}"/>
              </a:ext>
            </a:extLst>
          </p:cNvPr>
          <p:cNvSpPr/>
          <p:nvPr/>
        </p:nvSpPr>
        <p:spPr>
          <a:xfrm>
            <a:off x="311174" y="3197142"/>
            <a:ext cx="5363821" cy="1080776"/>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chemeClr val="accent5">
              <a:lumMod val="20000"/>
              <a:lumOff val="80000"/>
              <a:alpha val="42000"/>
            </a:schemeClr>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a:r>
              <a:rPr lang="en-US" dirty="0">
                <a:latin typeface="Century Gothic" panose="020B0502020202020204" pitchFamily="34" charset="0"/>
              </a:rPr>
              <a:t>There are several types of products through which warnings, forecasts, and information can be disseminated:</a:t>
            </a:r>
            <a:endParaRPr lang="en-US" dirty="0">
              <a:latin typeface="Century Gothic" panose="020B0502020202020204" pitchFamily="34" charset="0"/>
              <a:ea typeface="Aileron Ultra-Bold"/>
              <a:cs typeface="Aileron Ultra-Bold"/>
              <a:sym typeface="Aileron Ultra-Bold"/>
            </a:endParaRPr>
          </a:p>
        </p:txBody>
      </p:sp>
      <p:sp>
        <p:nvSpPr>
          <p:cNvPr id="8" name="TextBox 24">
            <a:extLst>
              <a:ext uri="{FF2B5EF4-FFF2-40B4-BE49-F238E27FC236}">
                <a16:creationId xmlns:a16="http://schemas.microsoft.com/office/drawing/2014/main" id="{987FF2C5-A38F-45A5-B01E-EF25EF961204}"/>
              </a:ext>
            </a:extLst>
          </p:cNvPr>
          <p:cNvSpPr txBox="1">
            <a:spLocks noChangeAspect="1"/>
          </p:cNvSpPr>
          <p:nvPr/>
        </p:nvSpPr>
        <p:spPr>
          <a:xfrm>
            <a:off x="646714" y="4490054"/>
            <a:ext cx="3334328" cy="1661993"/>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Text product;</a:t>
            </a:r>
          </a:p>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Audio product;</a:t>
            </a:r>
          </a:p>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Visual product;</a:t>
            </a:r>
          </a:p>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Animation;</a:t>
            </a:r>
          </a:p>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Tabulated data;</a:t>
            </a:r>
          </a:p>
          <a:p>
            <a:pPr marL="342900" indent="-342900">
              <a:buFont typeface="+mj-lt"/>
              <a:buAutoNum type="arabicParenR"/>
            </a:pPr>
            <a:r>
              <a:rPr lang="en-US" dirty="0">
                <a:latin typeface="Tahoma" panose="020B0604030504040204" pitchFamily="34" charset="0"/>
                <a:ea typeface="Tahoma" panose="020B0604030504040204" pitchFamily="34" charset="0"/>
                <a:cs typeface="Tahoma" panose="020B0604030504040204" pitchFamily="34" charset="0"/>
                <a:sym typeface="Aileron Ultra-Bold"/>
              </a:rPr>
              <a:t>others.</a:t>
            </a:r>
          </a:p>
        </p:txBody>
      </p:sp>
      <p:sp>
        <p:nvSpPr>
          <p:cNvPr id="9" name="TextBox 24">
            <a:extLst>
              <a:ext uri="{FF2B5EF4-FFF2-40B4-BE49-F238E27FC236}">
                <a16:creationId xmlns:a16="http://schemas.microsoft.com/office/drawing/2014/main" id="{09C5F162-5F90-4D9F-BFED-8EF75BB41041}"/>
              </a:ext>
            </a:extLst>
          </p:cNvPr>
          <p:cNvSpPr txBox="1">
            <a:spLocks noChangeAspect="1"/>
          </p:cNvSpPr>
          <p:nvPr/>
        </p:nvSpPr>
        <p:spPr>
          <a:xfrm>
            <a:off x="646714" y="2246342"/>
            <a:ext cx="10098928" cy="738664"/>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Previously, the most common means of dissemination were mass media, including television, radio, and newspapers. However, now that the internet is widespread and commonly used, online platforms such as the NMS's official website and social media have become more relevant.</a:t>
            </a:r>
          </a:p>
        </p:txBody>
      </p:sp>
      <p:sp>
        <p:nvSpPr>
          <p:cNvPr id="10" name="Freeform 11">
            <a:extLst>
              <a:ext uri="{FF2B5EF4-FFF2-40B4-BE49-F238E27FC236}">
                <a16:creationId xmlns:a16="http://schemas.microsoft.com/office/drawing/2014/main" id="{5120EE34-0FD6-49EC-B13B-C3CA3CC3B5DC}"/>
              </a:ext>
            </a:extLst>
          </p:cNvPr>
          <p:cNvSpPr>
            <a:spLocks noChangeAspect="1"/>
          </p:cNvSpPr>
          <p:nvPr/>
        </p:nvSpPr>
        <p:spPr>
          <a:xfrm rot="5400000">
            <a:off x="128294" y="2008437"/>
            <a:ext cx="365760" cy="365760"/>
          </a:xfrm>
          <a:custGeom>
            <a:avLst/>
            <a:gdLst/>
            <a:ahLst/>
            <a:cxnLst/>
            <a:rect l="l" t="t" r="r" b="b"/>
            <a:pathLst>
              <a:path w="665701" h="665701">
                <a:moveTo>
                  <a:pt x="0" y="0"/>
                </a:moveTo>
                <a:lnTo>
                  <a:pt x="665701" y="0"/>
                </a:lnTo>
                <a:lnTo>
                  <a:pt x="665701" y="665700"/>
                </a:lnTo>
                <a:lnTo>
                  <a:pt x="0" y="665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 name="Freeform 9">
            <a:extLst>
              <a:ext uri="{FF2B5EF4-FFF2-40B4-BE49-F238E27FC236}">
                <a16:creationId xmlns:a16="http://schemas.microsoft.com/office/drawing/2014/main" id="{82C6E5C6-3FE5-4A1B-A76E-D188880D2AFE}"/>
              </a:ext>
            </a:extLst>
          </p:cNvPr>
          <p:cNvSpPr/>
          <p:nvPr/>
        </p:nvSpPr>
        <p:spPr>
          <a:xfrm>
            <a:off x="6412231" y="3095625"/>
            <a:ext cx="5672475" cy="2931863"/>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no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600" dirty="0">
                <a:latin typeface="Century Gothic" panose="020B0502020202020204" pitchFamily="34" charset="0"/>
              </a:rPr>
              <a:t>In times of </a:t>
            </a:r>
            <a:r>
              <a:rPr lang="en-US" sz="1600" b="1" dirty="0">
                <a:latin typeface="Century Gothic" panose="020B0502020202020204" pitchFamily="34" charset="0"/>
              </a:rPr>
              <a:t>severe weather </a:t>
            </a:r>
            <a:r>
              <a:rPr lang="en-US" sz="1600" dirty="0">
                <a:latin typeface="Century Gothic" panose="020B0502020202020204" pitchFamily="34" charset="0"/>
              </a:rPr>
              <a:t>a forecasting office may be inundated with telephone calls from television and radio stations for information and interviews on the situation. This can be overcome by calling a </a:t>
            </a:r>
            <a:r>
              <a:rPr lang="en-US" sz="1600" b="1" dirty="0">
                <a:latin typeface="Century Gothic" panose="020B0502020202020204" pitchFamily="34" charset="0"/>
              </a:rPr>
              <a:t>press conference</a:t>
            </a:r>
            <a:r>
              <a:rPr lang="en-US" sz="1600" dirty="0">
                <a:latin typeface="Century Gothic" panose="020B0502020202020204" pitchFamily="34" charset="0"/>
              </a:rPr>
              <a:t>, to be attended by all interested media when </a:t>
            </a:r>
            <a:r>
              <a:rPr lang="en-US" sz="1600" b="1" dirty="0">
                <a:latin typeface="Century Gothic" panose="020B0502020202020204" pitchFamily="34" charset="0"/>
              </a:rPr>
              <a:t>all can be informed at the same time</a:t>
            </a:r>
            <a:r>
              <a:rPr lang="en-US" sz="1600" dirty="0">
                <a:latin typeface="Century Gothic" panose="020B0502020202020204" pitchFamily="34" charset="0"/>
              </a:rPr>
              <a:t>. </a:t>
            </a:r>
          </a:p>
          <a:p>
            <a:pPr algn="just"/>
            <a:r>
              <a:rPr lang="en-US" sz="1600" dirty="0">
                <a:latin typeface="Century Gothic" panose="020B0502020202020204" pitchFamily="34" charset="0"/>
                <a:ea typeface="Aileron Ultra-Bold"/>
                <a:cs typeface="Aileron Ultra-Bold"/>
                <a:sym typeface="Aileron Ultra-Bold"/>
              </a:rPr>
              <a:t>Press conferences are also useful in </a:t>
            </a:r>
            <a:r>
              <a:rPr lang="en-US" sz="1600" b="1" dirty="0">
                <a:latin typeface="Century Gothic" panose="020B0502020202020204" pitchFamily="34" charset="0"/>
                <a:ea typeface="Aileron Ultra-Bold"/>
                <a:cs typeface="Aileron Ultra-Bold"/>
                <a:sym typeface="Aileron Ultra-Bold"/>
              </a:rPr>
              <a:t>highlighting</a:t>
            </a:r>
            <a:r>
              <a:rPr lang="en-US" sz="1600" dirty="0">
                <a:latin typeface="Century Gothic" panose="020B0502020202020204" pitchFamily="34" charset="0"/>
                <a:ea typeface="Aileron Ultra-Bold"/>
                <a:cs typeface="Aileron Ultra-Bold"/>
                <a:sym typeface="Aileron Ultra-Bold"/>
              </a:rPr>
              <a:t> meteorological events of a non-immediate nature, such as a forecast drought from an El Niño episode, or the prospects for a break in a drought.</a:t>
            </a:r>
          </a:p>
        </p:txBody>
      </p:sp>
    </p:spTree>
    <p:extLst>
      <p:ext uri="{BB962C8B-B14F-4D97-AF65-F5344CB8AC3E}">
        <p14:creationId xmlns:p14="http://schemas.microsoft.com/office/powerpoint/2010/main" val="313670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271E-9E86-4452-83BC-F8EDAB6D707A}"/>
              </a:ext>
            </a:extLst>
          </p:cNvPr>
          <p:cNvSpPr>
            <a:spLocks noGrp="1"/>
          </p:cNvSpPr>
          <p:nvPr>
            <p:ph type="title"/>
          </p:nvPr>
        </p:nvSpPr>
        <p:spPr>
          <a:xfrm>
            <a:off x="1245736" y="220210"/>
            <a:ext cx="9517514" cy="478308"/>
          </a:xfrm>
        </p:spPr>
        <p:txBody>
          <a:bodyPr/>
          <a:lstStyle/>
          <a:p>
            <a:r>
              <a:rPr lang="en-US" sz="2400" dirty="0"/>
              <a:t>VERIFICATION, SERVICE EVALUATION AND IMPROVEMENT</a:t>
            </a:r>
          </a:p>
        </p:txBody>
      </p:sp>
      <p:sp>
        <p:nvSpPr>
          <p:cNvPr id="4" name="Slide Number Placeholder 3">
            <a:extLst>
              <a:ext uri="{FF2B5EF4-FFF2-40B4-BE49-F238E27FC236}">
                <a16:creationId xmlns:a16="http://schemas.microsoft.com/office/drawing/2014/main" id="{EEB065F8-9879-4CB1-B0FA-827F621BD8EF}"/>
              </a:ext>
            </a:extLst>
          </p:cNvPr>
          <p:cNvSpPr>
            <a:spLocks noGrp="1"/>
          </p:cNvSpPr>
          <p:nvPr>
            <p:ph type="sldNum" sz="quarter" idx="12"/>
          </p:nvPr>
        </p:nvSpPr>
        <p:spPr/>
        <p:txBody>
          <a:bodyPr/>
          <a:lstStyle/>
          <a:p>
            <a:fld id="{EDCAD221-FD27-42A4-A8EF-97D10159B0EB}" type="slidenum">
              <a:rPr lang="en-ID" smtClean="0"/>
              <a:pPr/>
              <a:t>11</a:t>
            </a:fld>
            <a:endParaRPr lang="en-ID"/>
          </a:p>
        </p:txBody>
      </p:sp>
      <p:sp>
        <p:nvSpPr>
          <p:cNvPr id="5" name="Rectangle 4">
            <a:extLst>
              <a:ext uri="{FF2B5EF4-FFF2-40B4-BE49-F238E27FC236}">
                <a16:creationId xmlns:a16="http://schemas.microsoft.com/office/drawing/2014/main" id="{0C5BA37F-840C-41C4-8FD6-A1B9A5F89070}"/>
              </a:ext>
            </a:extLst>
          </p:cNvPr>
          <p:cNvSpPr/>
          <p:nvPr/>
        </p:nvSpPr>
        <p:spPr>
          <a:xfrm>
            <a:off x="0" y="1040630"/>
            <a:ext cx="10854267" cy="863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365ABD-E2DF-4829-B413-48220955636A}"/>
              </a:ext>
            </a:extLst>
          </p:cNvPr>
          <p:cNvSpPr/>
          <p:nvPr/>
        </p:nvSpPr>
        <p:spPr>
          <a:xfrm>
            <a:off x="2295525" y="1144837"/>
            <a:ext cx="8307815" cy="707886"/>
          </a:xfrm>
          <a:prstGeom prst="rect">
            <a:avLst/>
          </a:prstGeom>
        </p:spPr>
        <p:txBody>
          <a:bodyPr wrap="square">
            <a:spAutoFit/>
          </a:bodyPr>
          <a:lstStyle/>
          <a:p>
            <a:pPr algn="just"/>
            <a:r>
              <a:rPr lang="en-US" sz="2000" dirty="0">
                <a:latin typeface="Century Gothic" panose="020B0502020202020204" pitchFamily="34" charset="0"/>
                <a:ea typeface="Tahoma" panose="020B0604030504040204" pitchFamily="34" charset="0"/>
                <a:cs typeface="Tahoma" panose="020B0604030504040204" pitchFamily="34" charset="0"/>
              </a:rPr>
              <a:t>Ensuring that products such as warnings and forecasts are accurate and skillful from a technical point of view.</a:t>
            </a:r>
          </a:p>
        </p:txBody>
      </p:sp>
      <p:sp>
        <p:nvSpPr>
          <p:cNvPr id="7" name="TextBox 6">
            <a:extLst>
              <a:ext uri="{FF2B5EF4-FFF2-40B4-BE49-F238E27FC236}">
                <a16:creationId xmlns:a16="http://schemas.microsoft.com/office/drawing/2014/main" id="{E9DD4039-D653-4479-9293-1719B8AC5565}"/>
              </a:ext>
            </a:extLst>
          </p:cNvPr>
          <p:cNvSpPr txBox="1"/>
          <p:nvPr/>
        </p:nvSpPr>
        <p:spPr>
          <a:xfrm>
            <a:off x="213241" y="1241597"/>
            <a:ext cx="2064989" cy="461665"/>
          </a:xfrm>
          <a:prstGeom prst="rect">
            <a:avLst/>
          </a:prstGeom>
          <a:noFill/>
        </p:spPr>
        <p:txBody>
          <a:bodyPr wrap="none" rtlCol="0">
            <a:spAutoFit/>
          </a:bodyPr>
          <a:lstStyle/>
          <a:p>
            <a:r>
              <a:rPr lang="en-US" sz="2400" dirty="0">
                <a:latin typeface="Segoe UI Black" panose="020B0A02040204020203" pitchFamily="34" charset="0"/>
                <a:ea typeface="Segoe UI Black" panose="020B0A02040204020203" pitchFamily="34" charset="0"/>
              </a:rPr>
              <a:t>Verification:</a:t>
            </a:r>
          </a:p>
        </p:txBody>
      </p:sp>
      <p:sp>
        <p:nvSpPr>
          <p:cNvPr id="8" name="Rectangle 7">
            <a:extLst>
              <a:ext uri="{FF2B5EF4-FFF2-40B4-BE49-F238E27FC236}">
                <a16:creationId xmlns:a16="http://schemas.microsoft.com/office/drawing/2014/main" id="{7732D9C1-B808-4D66-8E5A-30CA6020134C}"/>
              </a:ext>
            </a:extLst>
          </p:cNvPr>
          <p:cNvSpPr/>
          <p:nvPr/>
        </p:nvSpPr>
        <p:spPr>
          <a:xfrm>
            <a:off x="0" y="2216429"/>
            <a:ext cx="10854267" cy="1031964"/>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B6B67C8-9F7E-42EB-B732-A277498ED155}"/>
              </a:ext>
            </a:extLst>
          </p:cNvPr>
          <p:cNvSpPr/>
          <p:nvPr/>
        </p:nvSpPr>
        <p:spPr>
          <a:xfrm>
            <a:off x="2295525" y="2273011"/>
            <a:ext cx="8307815" cy="923330"/>
          </a:xfrm>
          <a:prstGeom prst="rect">
            <a:avLst/>
          </a:prstGeom>
        </p:spPr>
        <p:txBody>
          <a:bodyPr wrap="square">
            <a:spAutoFit/>
          </a:bodyPr>
          <a:lstStyle/>
          <a:p>
            <a:pPr algn="just"/>
            <a:r>
              <a:rPr lang="en-US" dirty="0">
                <a:latin typeface="Century Gothic" panose="020B0502020202020204" pitchFamily="34" charset="0"/>
                <a:ea typeface="Tahoma" panose="020B0604030504040204" pitchFamily="34" charset="0"/>
                <a:cs typeface="Tahoma" panose="020B0604030504040204" pitchFamily="34" charset="0"/>
              </a:rPr>
              <a:t>Ensuring that the services and products provided are meeting the users’ requirements, that they are well perceived by the users, and that the users are fully satisfied with the products themselves.</a:t>
            </a:r>
          </a:p>
        </p:txBody>
      </p:sp>
      <p:sp>
        <p:nvSpPr>
          <p:cNvPr id="10" name="TextBox 9">
            <a:extLst>
              <a:ext uri="{FF2B5EF4-FFF2-40B4-BE49-F238E27FC236}">
                <a16:creationId xmlns:a16="http://schemas.microsoft.com/office/drawing/2014/main" id="{EE904155-18D6-40BC-8418-FCD0190C4757}"/>
              </a:ext>
            </a:extLst>
          </p:cNvPr>
          <p:cNvSpPr txBox="1"/>
          <p:nvPr/>
        </p:nvSpPr>
        <p:spPr>
          <a:xfrm>
            <a:off x="209044" y="2316912"/>
            <a:ext cx="1877437" cy="830997"/>
          </a:xfrm>
          <a:prstGeom prst="rect">
            <a:avLst/>
          </a:prstGeom>
          <a:noFill/>
        </p:spPr>
        <p:txBody>
          <a:bodyPr wrap="none" rtlCol="0">
            <a:spAutoFit/>
          </a:bodyPr>
          <a:lstStyle/>
          <a:p>
            <a:pPr algn="ctr"/>
            <a:r>
              <a:rPr lang="en-US" sz="2400" dirty="0">
                <a:latin typeface="Segoe UI Black" panose="020B0A02040204020203" pitchFamily="34" charset="0"/>
                <a:ea typeface="Segoe UI Black" panose="020B0A02040204020203" pitchFamily="34" charset="0"/>
              </a:rPr>
              <a:t>Service </a:t>
            </a:r>
          </a:p>
          <a:p>
            <a:pPr algn="ctr"/>
            <a:r>
              <a:rPr lang="en-US" sz="2400" dirty="0">
                <a:latin typeface="Segoe UI Black" panose="020B0A02040204020203" pitchFamily="34" charset="0"/>
                <a:ea typeface="Segoe UI Black" panose="020B0A02040204020203" pitchFamily="34" charset="0"/>
              </a:rPr>
              <a:t>Evaluation:</a:t>
            </a:r>
          </a:p>
        </p:txBody>
      </p:sp>
      <p:sp>
        <p:nvSpPr>
          <p:cNvPr id="12" name="TextBox 24">
            <a:extLst>
              <a:ext uri="{FF2B5EF4-FFF2-40B4-BE49-F238E27FC236}">
                <a16:creationId xmlns:a16="http://schemas.microsoft.com/office/drawing/2014/main" id="{0047C796-F2A2-4011-AB6E-689B88B1452F}"/>
              </a:ext>
            </a:extLst>
          </p:cNvPr>
          <p:cNvSpPr txBox="1">
            <a:spLocks noChangeAspect="1"/>
          </p:cNvSpPr>
          <p:nvPr/>
        </p:nvSpPr>
        <p:spPr>
          <a:xfrm>
            <a:off x="2086481" y="3359161"/>
            <a:ext cx="9610360" cy="1427122"/>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arenR"/>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User requirements: Do the products fully meet the needs of the users?</a:t>
            </a:r>
          </a:p>
          <a:p>
            <a:pPr marL="342900" indent="-342900">
              <a:lnSpc>
                <a:spcPct val="150000"/>
              </a:lnSpc>
              <a:buFont typeface="+mj-lt"/>
              <a:buAutoNum type="arabicParenR"/>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User satisfaction: Are the users satisfied with the format of the products, the means of dissemination?</a:t>
            </a:r>
          </a:p>
          <a:p>
            <a:pPr marL="342900" indent="-342900">
              <a:lnSpc>
                <a:spcPct val="150000"/>
              </a:lnSpc>
              <a:buFont typeface="+mj-lt"/>
              <a:buAutoNum type="arabicParenR"/>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User perception: Does the user understand the content of the services? Does the user have trust in</a:t>
            </a:r>
          </a:p>
          <a:p>
            <a:pPr>
              <a:lnSpc>
                <a:spcPct val="150000"/>
              </a:lnSpc>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		    the products of the NMS and see them as credible?</a:t>
            </a:r>
          </a:p>
        </p:txBody>
      </p:sp>
      <p:sp>
        <p:nvSpPr>
          <p:cNvPr id="13" name="TextBox 12">
            <a:extLst>
              <a:ext uri="{FF2B5EF4-FFF2-40B4-BE49-F238E27FC236}">
                <a16:creationId xmlns:a16="http://schemas.microsoft.com/office/drawing/2014/main" id="{9B2D7283-7991-42EB-A68E-01BC43DD7681}"/>
              </a:ext>
            </a:extLst>
          </p:cNvPr>
          <p:cNvSpPr txBox="1"/>
          <p:nvPr/>
        </p:nvSpPr>
        <p:spPr>
          <a:xfrm>
            <a:off x="317697" y="3368772"/>
            <a:ext cx="1544012" cy="400110"/>
          </a:xfrm>
          <a:prstGeom prst="rect">
            <a:avLst/>
          </a:prstGeom>
          <a:noFill/>
        </p:spPr>
        <p:txBody>
          <a:bodyPr wrap="none" rtlCol="0">
            <a:spAutoFit/>
          </a:bodyPr>
          <a:lstStyle/>
          <a:p>
            <a:pPr algn="ctr"/>
            <a:r>
              <a:rPr lang="en-US" sz="2000" b="1" dirty="0">
                <a:latin typeface="Century Gothic" panose="020B0502020202020204" pitchFamily="34" charset="0"/>
                <a:ea typeface="Segoe UI Black" panose="020B0A02040204020203" pitchFamily="34" charset="0"/>
              </a:rPr>
              <a:t>Evaluation:</a:t>
            </a:r>
          </a:p>
        </p:txBody>
      </p:sp>
      <p:sp>
        <p:nvSpPr>
          <p:cNvPr id="14" name="TextBox 13">
            <a:extLst>
              <a:ext uri="{FF2B5EF4-FFF2-40B4-BE49-F238E27FC236}">
                <a16:creationId xmlns:a16="http://schemas.microsoft.com/office/drawing/2014/main" id="{FF916437-A525-4C66-B440-36E03A5CF8C8}"/>
              </a:ext>
            </a:extLst>
          </p:cNvPr>
          <p:cNvSpPr txBox="1"/>
          <p:nvPr/>
        </p:nvSpPr>
        <p:spPr>
          <a:xfrm>
            <a:off x="317697" y="5109484"/>
            <a:ext cx="4930473" cy="707886"/>
          </a:xfrm>
          <a:prstGeom prst="rect">
            <a:avLst/>
          </a:prstGeom>
          <a:noFill/>
        </p:spPr>
        <p:txBody>
          <a:bodyPr wrap="square" rtlCol="0">
            <a:spAutoFit/>
          </a:bodyPr>
          <a:lstStyle/>
          <a:p>
            <a:r>
              <a:rPr lang="en-US" sz="2000" b="1" dirty="0">
                <a:latin typeface="Century Gothic" panose="020B0502020202020204" pitchFamily="34" charset="0"/>
                <a:ea typeface="Segoe UI Black" panose="020B0A02040204020203" pitchFamily="34" charset="0"/>
              </a:rPr>
              <a:t>Several method to assess users needs, satisfaction, and perception: </a:t>
            </a:r>
          </a:p>
        </p:txBody>
      </p:sp>
      <p:sp>
        <p:nvSpPr>
          <p:cNvPr id="15" name="TextBox 24">
            <a:extLst>
              <a:ext uri="{FF2B5EF4-FFF2-40B4-BE49-F238E27FC236}">
                <a16:creationId xmlns:a16="http://schemas.microsoft.com/office/drawing/2014/main" id="{85D88637-93D9-4BDE-8F84-07C878684F22}"/>
              </a:ext>
            </a:extLst>
          </p:cNvPr>
          <p:cNvSpPr txBox="1">
            <a:spLocks noChangeAspect="1"/>
          </p:cNvSpPr>
          <p:nvPr/>
        </p:nvSpPr>
        <p:spPr>
          <a:xfrm>
            <a:off x="5248170" y="5218909"/>
            <a:ext cx="6043322" cy="984885"/>
          </a:xfrm>
          <a:prstGeom prst="rect">
            <a:avLst/>
          </a:prstGeom>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mj-lt"/>
              <a:buAutoNum type="arabicParenR"/>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Surveys;</a:t>
            </a:r>
          </a:p>
          <a:p>
            <a:pPr marL="342900" indent="-342900">
              <a:buFont typeface="+mj-lt"/>
              <a:buAutoNum type="arabicParenR"/>
            </a:pPr>
            <a:r>
              <a:rPr lang="en-US" sz="1600" dirty="0" err="1">
                <a:latin typeface="Tahoma" panose="020B0604030504040204" pitchFamily="34" charset="0"/>
                <a:ea typeface="Tahoma" panose="020B0604030504040204" pitchFamily="34" charset="0"/>
                <a:cs typeface="Tahoma" panose="020B0604030504040204" pitchFamily="34" charset="0"/>
                <a:sym typeface="Aileron Ultra-Bold"/>
              </a:rPr>
              <a:t>Worshops</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a:t>
            </a:r>
          </a:p>
          <a:p>
            <a:pPr marL="342900" indent="-342900">
              <a:buFont typeface="+mj-lt"/>
              <a:buAutoNum type="arabicParenR"/>
            </a:pP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Other forms of direct contact (public relations campaign, speeches/visits at school, community meetings, </a:t>
            </a:r>
            <a:r>
              <a:rPr lang="en-US" sz="1600" dirty="0" err="1">
                <a:latin typeface="Tahoma" panose="020B0604030504040204" pitchFamily="34" charset="0"/>
                <a:ea typeface="Tahoma" panose="020B0604030504040204" pitchFamily="34" charset="0"/>
                <a:cs typeface="Tahoma" panose="020B0604030504040204" pitchFamily="34" charset="0"/>
                <a:sym typeface="Aileron Ultra-Bold"/>
              </a:rPr>
              <a:t>etc</a:t>
            </a:r>
            <a:r>
              <a:rPr lang="en-US" sz="1600" dirty="0">
                <a:latin typeface="Tahoma" panose="020B0604030504040204" pitchFamily="34" charset="0"/>
                <a:ea typeface="Tahoma" panose="020B0604030504040204" pitchFamily="34" charset="0"/>
                <a:cs typeface="Tahoma" panose="020B0604030504040204" pitchFamily="34" charset="0"/>
                <a:sym typeface="Aileron Ultra-Bold"/>
              </a:rPr>
              <a:t>)</a:t>
            </a:r>
          </a:p>
        </p:txBody>
      </p:sp>
    </p:spTree>
    <p:extLst>
      <p:ext uri="{BB962C8B-B14F-4D97-AF65-F5344CB8AC3E}">
        <p14:creationId xmlns:p14="http://schemas.microsoft.com/office/powerpoint/2010/main" val="463457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Montserrat Extra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16340</TotalTime>
  <Words>1395</Words>
  <Application>Microsoft Office PowerPoint</Application>
  <PresentationFormat>Widescreen</PresentationFormat>
  <Paragraphs>127</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Abadi</vt:lpstr>
      <vt:lpstr>Arial</vt:lpstr>
      <vt:lpstr>Calibri</vt:lpstr>
      <vt:lpstr>Century Gothic</vt:lpstr>
      <vt:lpstr>Leelawadee UI</vt:lpstr>
      <vt:lpstr>Poppins</vt:lpstr>
      <vt:lpstr>Segoe UI Black</vt:lpstr>
      <vt:lpstr>Source Sans Pro</vt:lpstr>
      <vt:lpstr>Tahoma</vt:lpstr>
      <vt:lpstr>Office Theme</vt:lpstr>
      <vt:lpstr>WMO-No.834 :  Guide to Public Weather Services Practices</vt:lpstr>
      <vt:lpstr>OUTLINE</vt:lpstr>
      <vt:lpstr>INTRODUCTION</vt:lpstr>
      <vt:lpstr>WMO Public Weather Services Programme</vt:lpstr>
      <vt:lpstr>BENEFITS OF PUBLIC WEATHER SERVICES</vt:lpstr>
      <vt:lpstr>ROLE OF PUBLIC WEATHER SERVICES</vt:lpstr>
      <vt:lpstr>USER FOCUS AND SERVICE DELIVERY</vt:lpstr>
      <vt:lpstr>WEATHER WARNING SERVICES</vt:lpstr>
      <vt:lpstr>WEATHER FORECAST AND INFORMATION SERVICES</vt:lpstr>
      <vt:lpstr>DISSEMINATION AND PRESENTATION</vt:lpstr>
      <vt:lpstr>VERIFICATION, SERVICE EVALUATION AND IMPROVEMENT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WMO Social Media Guidelines</dc:title>
  <dc:creator>Yohanes Kristomo</dc:creator>
  <cp:lastModifiedBy>maman.sudarisman</cp:lastModifiedBy>
  <cp:revision>199</cp:revision>
  <dcterms:created xsi:type="dcterms:W3CDTF">2025-01-24T09:39:36Z</dcterms:created>
  <dcterms:modified xsi:type="dcterms:W3CDTF">2026-07-05T09:12:33Z</dcterms:modified>
</cp:coreProperties>
</file>