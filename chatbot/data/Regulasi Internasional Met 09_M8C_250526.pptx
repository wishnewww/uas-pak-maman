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78" r:id="rId4"/>
    <p:sldId id="279" r:id="rId5"/>
    <p:sldId id="274" r:id="rId6"/>
    <p:sldId id="301" r:id="rId7"/>
    <p:sldId id="275" r:id="rId8"/>
    <p:sldId id="302" r:id="rId9"/>
    <p:sldId id="277" r:id="rId10"/>
    <p:sldId id="282" r:id="rId11"/>
    <p:sldId id="280" r:id="rId12"/>
    <p:sldId id="281" r:id="rId13"/>
    <p:sldId id="283" r:id="rId14"/>
    <p:sldId id="285" r:id="rId15"/>
    <p:sldId id="284" r:id="rId16"/>
    <p:sldId id="286" r:id="rId17"/>
    <p:sldId id="287" r:id="rId18"/>
    <p:sldId id="303" r:id="rId19"/>
    <p:sldId id="288" r:id="rId20"/>
    <p:sldId id="289" r:id="rId21"/>
    <p:sldId id="290" r:id="rId22"/>
    <p:sldId id="291" r:id="rId23"/>
    <p:sldId id="292" r:id="rId24"/>
    <p:sldId id="304" r:id="rId25"/>
    <p:sldId id="293" r:id="rId26"/>
    <p:sldId id="294" r:id="rId27"/>
    <p:sldId id="300" r:id="rId28"/>
    <p:sldId id="295" r:id="rId29"/>
    <p:sldId id="296" r:id="rId30"/>
    <p:sldId id="306" r:id="rId31"/>
    <p:sldId id="298" r:id="rId32"/>
    <p:sldId id="305" r:id="rId33"/>
    <p:sldId id="299" r:id="rId34"/>
    <p:sldId id="333" r:id="rId35"/>
    <p:sldId id="334" r:id="rId36"/>
    <p:sldId id="33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8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64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09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1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027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17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85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82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667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0837-36E0-344F-FCBD-25479BAFD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B8AB1-8404-B37A-B84B-55ACFE2ED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480C7-4F43-39F8-4271-90898807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EEB2A-1D69-4382-0E66-DA598AD6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A84D4-E371-C64D-1CB3-4A90F6AB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025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6E01-80CB-C21D-D793-F3C9A048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9ACD6-ABF7-E1F0-8765-9A642751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AB2DC-9F31-503B-620B-69F80604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88A4-703D-FB6F-0966-6F27C48B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9BC07-5BF1-687E-ECD2-4CADD713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001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B8E3-5083-3770-9C5D-2F47A4879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62E8F-EA3D-3240-8BF4-A7B9506A3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2074-0D65-0684-63CF-255E9187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6C72B-4813-67D3-5D17-8AD2BEFB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175E7-D525-C02F-62D4-CC00607A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5590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3BA9-F7FD-A1D1-326A-DED748B39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1E004-CBA1-6BF2-B808-87E08DAF8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7E04D-A744-1DE1-9434-DC0673592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83B4F-734E-C6F2-7D22-81237412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61BD1-1E7B-D5C6-F041-ADA7F401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D11B2-3B62-81C4-97AC-5C29A4EC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1864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B579-2E10-F812-AE71-EA6625D6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FAA43-BA98-5BE6-66D3-06818D6E0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46DA0-059B-9A33-DC5C-16D8F842E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B8FFB-61B1-6AFD-9604-7C70AF73E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19E49-DC72-1265-1D19-FFD5388C2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8ECFB2-7D9D-9F05-BD15-772701D06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3ECB56-F570-0EBC-5A98-03556AB2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5AED0-7A8D-2FF6-025D-F49F9C17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1239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12432-6C38-728F-7BD3-0635209C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E7801-6EE5-FB9D-A690-77034639E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266AE-DE94-7753-0EAB-539070E1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66D95-3578-9952-5D68-26B96B3B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7408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822F3-6819-62A1-4915-0C8926E4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575E67-CE10-1386-3232-954B07CD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6689C-B7EC-3DE9-84D1-33C537DC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193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35AD8-BAC7-7C9B-CCA9-7E5A20E6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6D9D-9A08-521D-6AA8-7ED91531C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29324-F6EB-51A6-A31F-5CBDE3DCD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069B-2EEB-2066-9BFC-C6AAEC6A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D1DA3-C361-8992-7E95-7AAD7D945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B54F6-6E81-DE16-922C-9BFCDC35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96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7EF5-5AE0-3413-B0B2-72C52282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6E8F3-840B-58C8-0491-DA72ACF80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72010E-9BB3-7D00-3359-23B2B807D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71E50-3A58-77F0-E559-A93C46A5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98145-7130-BB48-6F1A-2418DFF3C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C191C-5EEF-D200-5A8C-44B01EE4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5861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3A23-C873-BCCB-5913-4F672678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CAA3D-2A0A-C43D-6631-94074E09C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7F6D9-D3AF-1D19-998B-77233D061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95EAC-6343-842E-EDD6-6ABBE499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AE9B4-F052-1F40-D40F-67A66002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00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4B1E42-5696-8D8D-EB9A-1174A8071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E3494-CBA3-11FD-4ECD-D97858BB4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0B5CC-AB58-F858-7F23-B604B1BB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E3B17-E823-73D8-C38F-FED30254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D15CB-169C-6A36-8525-DA6CAD85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963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90DD4-FC67-4B8E-B69D-564195CE99DB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C944331-2CF7-4A11-B480-7975E3EAF283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132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243B4-3BE4-5C19-00FF-9D01CE20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573AA-ECF0-727A-6A86-6ED58291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0662C-9437-FF53-2543-DE3751100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84000-96FB-46CC-A71B-B53B7FE3E4DF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FE8E4-405B-6F68-F7C8-F19693D43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F73FC-A41D-CE4C-75B4-A50DD2447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ADB0E-9BE1-4366-AA0D-4FBB3DF0BC2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132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A7F2-97D5-BBEA-6097-D6D2171D0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92237"/>
          </a:xfrm>
        </p:spPr>
        <p:txBody>
          <a:bodyPr>
            <a:normAutofit/>
          </a:bodyPr>
          <a:lstStyle/>
          <a:p>
            <a:r>
              <a:rPr lang="en-US" sz="2800" i="1" dirty="0">
                <a:solidFill>
                  <a:srgbClr val="C00000"/>
                </a:solidFill>
              </a:rPr>
              <a:t>REGULASI INTERNASIONAL DI BIDANG METEOROLOGI</a:t>
            </a:r>
            <a:br>
              <a:rPr lang="en-US" sz="2800" i="1" dirty="0">
                <a:solidFill>
                  <a:srgbClr val="C00000"/>
                </a:solidFill>
              </a:rPr>
            </a:br>
            <a:r>
              <a:rPr lang="en-US" sz="2800" i="1" dirty="0">
                <a:solidFill>
                  <a:srgbClr val="C00000"/>
                </a:solidFill>
              </a:rPr>
              <a:t>MINGGU KE – 9/M8C</a:t>
            </a:r>
            <a:br>
              <a:rPr lang="en-US" sz="2800" i="1" dirty="0">
                <a:solidFill>
                  <a:srgbClr val="C00000"/>
                </a:solidFill>
              </a:rPr>
            </a:br>
            <a:r>
              <a:rPr lang="en-US" sz="2800" i="1" dirty="0">
                <a:solidFill>
                  <a:srgbClr val="C00000"/>
                </a:solidFill>
              </a:rPr>
              <a:t>KOMPETENSI</a:t>
            </a:r>
            <a:endParaRPr lang="en-ID" sz="2800" i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26CCD-57AF-8155-DEA3-4383FB005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057" y="3531204"/>
            <a:ext cx="9345795" cy="1519767"/>
          </a:xfrm>
        </p:spPr>
        <p:txBody>
          <a:bodyPr>
            <a:noAutofit/>
          </a:bodyPr>
          <a:lstStyle/>
          <a:p>
            <a:r>
              <a:rPr lang="en-US" dirty="0" err="1"/>
              <a:t>Maman</a:t>
            </a:r>
            <a:r>
              <a:rPr lang="en-US" dirty="0"/>
              <a:t> </a:t>
            </a:r>
            <a:r>
              <a:rPr lang="en-US" dirty="0" err="1"/>
              <a:t>Sudarisman</a:t>
            </a:r>
            <a:endParaRPr lang="en-US" dirty="0"/>
          </a:p>
          <a:p>
            <a:r>
              <a:rPr lang="en-US" dirty="0" err="1"/>
              <a:t>Sekolah</a:t>
            </a:r>
            <a:r>
              <a:rPr lang="en-US" dirty="0"/>
              <a:t> Tinggi </a:t>
            </a:r>
            <a:r>
              <a:rPr lang="en-US" dirty="0" err="1"/>
              <a:t>Meteorologi</a:t>
            </a:r>
            <a:r>
              <a:rPr lang="en-US" dirty="0"/>
              <a:t> </a:t>
            </a:r>
            <a:r>
              <a:rPr lang="en-US" dirty="0" err="1"/>
              <a:t>Klimatologi</a:t>
            </a:r>
            <a:r>
              <a:rPr lang="en-US" dirty="0"/>
              <a:t> dan </a:t>
            </a:r>
            <a:r>
              <a:rPr lang="en-US" dirty="0" err="1"/>
              <a:t>Geofisika</a:t>
            </a:r>
            <a:endParaRPr lang="en-US" dirty="0"/>
          </a:p>
          <a:p>
            <a:r>
              <a:rPr lang="en-US" dirty="0"/>
              <a:t>25 Mei 2026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83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5BF7-1706-7701-39E6-E9D0D304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2400" b="1" dirty="0"/>
              <a:t>KOMPETENSI</a:t>
            </a:r>
            <a:br>
              <a:rPr lang="en-US" sz="2400" b="1" dirty="0"/>
            </a:br>
            <a:r>
              <a:rPr lang="en-US" sz="2400" b="1" dirty="0"/>
              <a:t>WMO NO 1205</a:t>
            </a:r>
            <a:br>
              <a:rPr lang="en-US" sz="2400" b="1" dirty="0"/>
            </a:br>
            <a:r>
              <a:rPr lang="en-US" sz="2400" b="1" dirty="0"/>
              <a:t>MOTIVATION FOR COMPETENCIES WITHIN WMO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4B13A-2AA8-71B5-84E3-003B8BC27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129"/>
            <a:ext cx="10515600" cy="433183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Pada </a:t>
            </a:r>
            <a:r>
              <a:rPr lang="en-ID" sz="2400" dirty="0" err="1"/>
              <a:t>tahun</a:t>
            </a:r>
            <a:r>
              <a:rPr lang="en-ID" sz="2400" dirty="0"/>
              <a:t> 2009, </a:t>
            </a:r>
            <a:r>
              <a:rPr lang="en-ID" sz="2400" dirty="0" err="1"/>
              <a:t>tim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 </a:t>
            </a:r>
            <a:r>
              <a:rPr lang="en-ID" sz="2400" dirty="0" err="1"/>
              <a:t>prakirawan</a:t>
            </a:r>
            <a:r>
              <a:rPr lang="en-ID" sz="2400" dirty="0"/>
              <a:t> </a:t>
            </a:r>
            <a:r>
              <a:rPr lang="en-ID" sz="2400" dirty="0" err="1"/>
              <a:t>penerbangan</a:t>
            </a:r>
            <a:r>
              <a:rPr lang="en-ID" sz="2400" dirty="0"/>
              <a:t> </a:t>
            </a:r>
            <a:r>
              <a:rPr lang="en-ID" sz="2400" dirty="0" err="1"/>
              <a:t>mendefinisikan</a:t>
            </a:r>
            <a:r>
              <a:rPr lang="en-ID" sz="2400" dirty="0"/>
              <a:t> </a:t>
            </a:r>
            <a:r>
              <a:rPr lang="en-ID" sz="2400" dirty="0" err="1"/>
              <a:t>kembali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ahli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dan </a:t>
            </a:r>
            <a:r>
              <a:rPr lang="en-ID" sz="2400" dirty="0" err="1"/>
              <a:t>teknisi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Selain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, </a:t>
            </a:r>
            <a:r>
              <a:rPr lang="en-ID" sz="2400" dirty="0" err="1"/>
              <a:t>tim</a:t>
            </a:r>
            <a:r>
              <a:rPr lang="en-ID" sz="2400" dirty="0"/>
              <a:t> </a:t>
            </a:r>
            <a:r>
              <a:rPr lang="en-ID" sz="2400" dirty="0" err="1"/>
              <a:t>merekomendasikan</a:t>
            </a:r>
            <a:r>
              <a:rPr lang="en-ID" sz="2400" dirty="0"/>
              <a:t> </a:t>
            </a:r>
            <a:r>
              <a:rPr lang="en-ID" sz="2400" dirty="0" err="1"/>
              <a:t>kepada</a:t>
            </a:r>
            <a:r>
              <a:rPr lang="en-ID" sz="2400" dirty="0"/>
              <a:t> Dewan </a:t>
            </a:r>
            <a:r>
              <a:rPr lang="en-ID" sz="2400" dirty="0" err="1"/>
              <a:t>Eksekutif</a:t>
            </a:r>
            <a:r>
              <a:rPr lang="en-ID" sz="2400" dirty="0"/>
              <a:t> WMO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seperangkat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prakirawan</a:t>
            </a:r>
            <a:r>
              <a:rPr lang="en-ID" sz="2400" dirty="0"/>
              <a:t> dan </a:t>
            </a:r>
            <a:r>
              <a:rPr lang="en-ID" sz="2400" dirty="0" err="1"/>
              <a:t>pengamat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</a:t>
            </a:r>
            <a:r>
              <a:rPr lang="en-ID" sz="2400" dirty="0" err="1"/>
              <a:t>penerbangan</a:t>
            </a:r>
            <a:r>
              <a:rPr lang="en-ID" sz="2400" dirty="0"/>
              <a:t> </a:t>
            </a:r>
            <a:r>
              <a:rPr lang="en-ID" sz="2400" dirty="0" err="1"/>
              <a:t>dikembangkan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dimasukkan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Peraturan</a:t>
            </a:r>
            <a:r>
              <a:rPr lang="en-ID" sz="2400" dirty="0"/>
              <a:t> Teknis, Volume I (WMO-No.49)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Pada </a:t>
            </a:r>
            <a:r>
              <a:rPr lang="en-ID" sz="2400" dirty="0" err="1"/>
              <a:t>tahun</a:t>
            </a:r>
            <a:r>
              <a:rPr lang="en-ID" sz="2400" dirty="0"/>
              <a:t> yang </a:t>
            </a:r>
            <a:r>
              <a:rPr lang="en-ID" sz="2400" dirty="0" err="1"/>
              <a:t>sama</a:t>
            </a:r>
            <a:r>
              <a:rPr lang="en-ID" sz="2400" dirty="0"/>
              <a:t>, Dewan </a:t>
            </a:r>
            <a:r>
              <a:rPr lang="en-ID" sz="2400" dirty="0" err="1"/>
              <a:t>Eksekutif</a:t>
            </a:r>
            <a:r>
              <a:rPr lang="en-ID" sz="2400" dirty="0"/>
              <a:t> </a:t>
            </a:r>
            <a:r>
              <a:rPr lang="en-ID" sz="2400" dirty="0" err="1"/>
              <a:t>mengesahkan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Personil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</a:t>
            </a:r>
            <a:r>
              <a:rPr lang="en-ID" sz="2400" dirty="0" err="1"/>
              <a:t>Penerbangan</a:t>
            </a:r>
            <a:r>
              <a:rPr lang="en-ID" sz="2400" dirty="0"/>
              <a:t> (AMP) dan </a:t>
            </a:r>
            <a:r>
              <a:rPr lang="en-ID" sz="2400" dirty="0" err="1"/>
              <a:t>mengamanatkan</a:t>
            </a:r>
            <a:r>
              <a:rPr lang="en-ID" sz="2400" dirty="0"/>
              <a:t> </a:t>
            </a:r>
            <a:r>
              <a:rPr lang="en-ID" sz="2400" dirty="0" err="1"/>
              <a:t>penerapannya</a:t>
            </a:r>
            <a:r>
              <a:rPr lang="en-ID" sz="2400" dirty="0"/>
              <a:t> paling </a:t>
            </a:r>
            <a:r>
              <a:rPr lang="en-ID" sz="2400" dirty="0" err="1"/>
              <a:t>lambat</a:t>
            </a:r>
            <a:r>
              <a:rPr lang="en-ID" sz="2400" dirty="0"/>
              <a:t> 1 </a:t>
            </a:r>
            <a:r>
              <a:rPr lang="en-ID" sz="2400" dirty="0" err="1"/>
              <a:t>Desember</a:t>
            </a:r>
            <a:r>
              <a:rPr lang="en-ID" sz="2400" dirty="0"/>
              <a:t> 2013.</a:t>
            </a:r>
          </a:p>
        </p:txBody>
      </p:sp>
    </p:spTree>
    <p:extLst>
      <p:ext uri="{BB962C8B-B14F-4D97-AF65-F5344CB8AC3E}">
        <p14:creationId xmlns:p14="http://schemas.microsoft.com/office/powerpoint/2010/main" val="180940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72F14-AA21-9C58-7140-34CD3839C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642256"/>
            <a:ext cx="9603275" cy="4824089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Sejak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 WMO </a:t>
            </a:r>
            <a:r>
              <a:rPr lang="en-ID" sz="2400" dirty="0" err="1"/>
              <a:t>menyadari</a:t>
            </a:r>
            <a:r>
              <a:rPr lang="en-ID" sz="2400" dirty="0"/>
              <a:t> </a:t>
            </a:r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dan </a:t>
            </a:r>
            <a:r>
              <a:rPr lang="en-ID" sz="2400" dirty="0" err="1"/>
              <a:t>penerapan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luas</a:t>
            </a:r>
            <a:r>
              <a:rPr lang="en-ID" sz="2400" dirty="0"/>
              <a:t>. Pada </a:t>
            </a:r>
            <a:r>
              <a:rPr lang="en-ID" sz="2400" dirty="0" err="1"/>
              <a:t>tahun</a:t>
            </a:r>
            <a:r>
              <a:rPr lang="en-ID" sz="2400" dirty="0"/>
              <a:t> 2010, Dewan </a:t>
            </a:r>
            <a:r>
              <a:rPr lang="en-ID" sz="2400" dirty="0" err="1"/>
              <a:t>Eksekutif</a:t>
            </a:r>
            <a:r>
              <a:rPr lang="en-ID" sz="2400" dirty="0"/>
              <a:t> </a:t>
            </a:r>
            <a:r>
              <a:rPr lang="en-ID" sz="2400" dirty="0" err="1"/>
              <a:t>setuju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bertanggung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 dan </a:t>
            </a:r>
            <a:r>
              <a:rPr lang="en-ID" sz="2400" dirty="0" err="1"/>
              <a:t>pendidikan</a:t>
            </a:r>
            <a:r>
              <a:rPr lang="en-ID" sz="2400" dirty="0"/>
              <a:t> dan </a:t>
            </a:r>
            <a:r>
              <a:rPr lang="en-ID" sz="2400" dirty="0" err="1"/>
              <a:t>pelatihan</a:t>
            </a:r>
            <a:r>
              <a:rPr lang="en-ID" sz="2400" dirty="0"/>
              <a:t>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personel</a:t>
            </a:r>
            <a:r>
              <a:rPr lang="en-ID" sz="2400" dirty="0"/>
              <a:t> yang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tugas</a:t>
            </a:r>
            <a:r>
              <a:rPr lang="en-ID" sz="2400" dirty="0"/>
              <a:t> di area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;</a:t>
            </a:r>
          </a:p>
          <a:p>
            <a:pPr marL="0" indent="0" algn="just">
              <a:buNone/>
            </a:pP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Selanjutnya</a:t>
            </a:r>
            <a:r>
              <a:rPr lang="en-ID" sz="2400" dirty="0"/>
              <a:t>, </a:t>
            </a:r>
            <a:r>
              <a:rPr lang="en-ID" sz="2400" dirty="0" err="1"/>
              <a:t>Kongres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Dunia, pada </a:t>
            </a:r>
            <a:r>
              <a:rPr lang="en-ID" sz="2400" dirty="0" err="1"/>
              <a:t>Sesi</a:t>
            </a:r>
            <a:r>
              <a:rPr lang="en-ID" sz="2400" dirty="0"/>
              <a:t> </a:t>
            </a:r>
            <a:r>
              <a:rPr lang="en-ID" sz="2400" dirty="0" err="1"/>
              <a:t>Keenambelasnya</a:t>
            </a:r>
            <a:r>
              <a:rPr lang="en-ID" sz="2400" dirty="0"/>
              <a:t>, </a:t>
            </a:r>
            <a:r>
              <a:rPr lang="en-ID" sz="2400" dirty="0" err="1"/>
              <a:t>meminta</a:t>
            </a:r>
            <a:r>
              <a:rPr lang="en-ID" sz="2400" dirty="0"/>
              <a:t> agar </a:t>
            </a:r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 WMO </a:t>
            </a:r>
            <a:r>
              <a:rPr lang="en-ID" sz="2400" dirty="0" err="1"/>
              <a:t>menempatkan</a:t>
            </a:r>
            <a:r>
              <a:rPr lang="en-ID" sz="2400" dirty="0"/>
              <a:t> </a:t>
            </a:r>
            <a:r>
              <a:rPr lang="en-ID" sz="2400" dirty="0" err="1"/>
              <a:t>prioritas</a:t>
            </a:r>
            <a:r>
              <a:rPr lang="en-ID" sz="2400" dirty="0"/>
              <a:t> </a:t>
            </a:r>
            <a:r>
              <a:rPr lang="en-ID" sz="2400" dirty="0" err="1"/>
              <a:t>tinggi</a:t>
            </a:r>
            <a:r>
              <a:rPr lang="en-ID" sz="2400" dirty="0"/>
              <a:t> pada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tugas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 inti di </a:t>
            </a:r>
            <a:r>
              <a:rPr lang="en-ID" sz="2400" dirty="0" err="1"/>
              <a:t>bidang</a:t>
            </a:r>
            <a:r>
              <a:rPr lang="en-ID" sz="2400" dirty="0"/>
              <a:t> </a:t>
            </a:r>
            <a:r>
              <a:rPr lang="en-ID" sz="2400" dirty="0" err="1"/>
              <a:t>spesialisasi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dan </a:t>
            </a:r>
            <a:r>
              <a:rPr lang="en-ID" sz="2400" dirty="0" err="1"/>
              <a:t>memasukkan</a:t>
            </a:r>
            <a:r>
              <a:rPr lang="en-ID" sz="2400" dirty="0"/>
              <a:t> </a:t>
            </a:r>
            <a:r>
              <a:rPr lang="en-ID" sz="2400" dirty="0" err="1"/>
              <a:t>kegiatan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program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laporan</a:t>
            </a:r>
            <a:r>
              <a:rPr lang="en-ID" sz="2400" dirty="0"/>
              <a:t> </a:t>
            </a:r>
            <a:r>
              <a:rPr lang="en-ID" sz="2400" dirty="0" err="1"/>
              <a:t>keuangan</a:t>
            </a:r>
            <a:r>
              <a:rPr lang="en-ID" sz="2400" dirty="0"/>
              <a:t> 2012-2015. </a:t>
            </a:r>
          </a:p>
        </p:txBody>
      </p:sp>
    </p:spTree>
    <p:extLst>
      <p:ext uri="{BB962C8B-B14F-4D97-AF65-F5344CB8AC3E}">
        <p14:creationId xmlns:p14="http://schemas.microsoft.com/office/powerpoint/2010/main" val="265139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7E9E-80F0-60DE-222C-F5EE1BE4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QUALIFICATION VERSUS COMPETENCY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EDD2F-39AF-D36C-4B10-817FAA64F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D" sz="2200" dirty="0"/>
              <a:t>Ada </a:t>
            </a:r>
            <a:r>
              <a:rPr lang="en-ID" sz="2200" dirty="0" err="1"/>
              <a:t>perbedaan</a:t>
            </a:r>
            <a:r>
              <a:rPr lang="en-ID" sz="2200" dirty="0"/>
              <a:t> yang </a:t>
            </a:r>
            <a:r>
              <a:rPr lang="en-ID" sz="2200" dirty="0" err="1"/>
              <a:t>signifikan</a:t>
            </a:r>
            <a:r>
              <a:rPr lang="en-ID" sz="2200" dirty="0"/>
              <a:t> </a:t>
            </a:r>
            <a:r>
              <a:rPr lang="en-ID" sz="2200" dirty="0" err="1"/>
              <a:t>antara</a:t>
            </a:r>
            <a:r>
              <a:rPr lang="en-ID" sz="2200" dirty="0"/>
              <a:t> </a:t>
            </a:r>
            <a:r>
              <a:rPr lang="en-ID" sz="2200" dirty="0" err="1"/>
              <a:t>kualifikasi</a:t>
            </a:r>
            <a:r>
              <a:rPr lang="en-ID" sz="2200" dirty="0"/>
              <a:t> </a:t>
            </a:r>
            <a:r>
              <a:rPr lang="en-ID" sz="2200" dirty="0" err="1"/>
              <a:t>akademik</a:t>
            </a:r>
            <a:r>
              <a:rPr lang="en-ID" sz="2200" dirty="0"/>
              <a:t> dan </a:t>
            </a:r>
            <a:r>
              <a:rPr lang="en-ID" sz="2200" dirty="0" err="1"/>
              <a:t>kompetensi</a:t>
            </a:r>
            <a:r>
              <a:rPr lang="en-ID" sz="2200" dirty="0"/>
              <a:t>. </a:t>
            </a:r>
            <a:r>
              <a:rPr lang="en-ID" sz="2200" dirty="0" err="1"/>
              <a:t>Peraturan</a:t>
            </a:r>
            <a:r>
              <a:rPr lang="en-ID" sz="2200" dirty="0"/>
              <a:t> Teknis, Volume I (WMO-No.49), </a:t>
            </a:r>
            <a:r>
              <a:rPr lang="en-ID" sz="2200" dirty="0" err="1"/>
              <a:t>menjelaskan</a:t>
            </a:r>
            <a:r>
              <a:rPr lang="en-ID" sz="2200" dirty="0"/>
              <a:t> </a:t>
            </a:r>
            <a:r>
              <a:rPr lang="en-ID" sz="2200" dirty="0" err="1"/>
              <a:t>kualifikasi</a:t>
            </a:r>
            <a:r>
              <a:rPr lang="en-ID" sz="2200" dirty="0"/>
              <a:t> </a:t>
            </a:r>
            <a:r>
              <a:rPr lang="en-ID" sz="2200" dirty="0" err="1"/>
              <a:t>sebagai</a:t>
            </a:r>
            <a:r>
              <a:rPr lang="en-ID" sz="2200" dirty="0"/>
              <a:t> </a:t>
            </a:r>
            <a:r>
              <a:rPr lang="en-ID" sz="2200" dirty="0" err="1"/>
              <a:t>pengetahuan</a:t>
            </a:r>
            <a:r>
              <a:rPr lang="en-ID" sz="2200" dirty="0"/>
              <a:t> inti minimum, </a:t>
            </a:r>
            <a:r>
              <a:rPr lang="en-ID" sz="2200" dirty="0" err="1"/>
              <a:t>biasanya</a:t>
            </a:r>
            <a:r>
              <a:rPr lang="en-ID" sz="2200" dirty="0"/>
              <a:t> </a:t>
            </a:r>
            <a:r>
              <a:rPr lang="en-ID" sz="2200" dirty="0" err="1"/>
              <a:t>diperoleh</a:t>
            </a:r>
            <a:r>
              <a:rPr lang="en-ID" sz="2200" dirty="0"/>
              <a:t> </a:t>
            </a:r>
            <a:r>
              <a:rPr lang="en-ID" sz="2200" dirty="0" err="1"/>
              <a:t>melalui</a:t>
            </a:r>
            <a:r>
              <a:rPr lang="en-ID" sz="2200" dirty="0"/>
              <a:t> </a:t>
            </a:r>
            <a:r>
              <a:rPr lang="en-ID" sz="2200" dirty="0" err="1"/>
              <a:t>pendidikan</a:t>
            </a:r>
            <a:r>
              <a:rPr lang="en-ID" sz="2200" dirty="0"/>
              <a:t>, yang </a:t>
            </a:r>
            <a:r>
              <a:rPr lang="en-ID" sz="2200" dirty="0" err="1"/>
              <a:t>diperlukan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memasuki</a:t>
            </a:r>
            <a:r>
              <a:rPr lang="en-ID" sz="2200" dirty="0"/>
              <a:t> </a:t>
            </a:r>
            <a:r>
              <a:rPr lang="en-ID" sz="2200" dirty="0" err="1"/>
              <a:t>suatu</a:t>
            </a:r>
            <a:r>
              <a:rPr lang="en-ID" sz="2200" dirty="0"/>
              <a:t> </a:t>
            </a:r>
            <a:r>
              <a:rPr lang="en-ID" sz="2200" dirty="0" err="1"/>
              <a:t>profesi</a:t>
            </a:r>
            <a:r>
              <a:rPr lang="en-ID" sz="2200" dirty="0"/>
              <a:t>.</a:t>
            </a:r>
          </a:p>
          <a:p>
            <a:pPr algn="just"/>
            <a:r>
              <a:rPr lang="en-ID" sz="2200" dirty="0"/>
              <a:t>Basic Instructions Package (BIP)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kualifikasi</a:t>
            </a:r>
            <a:r>
              <a:rPr lang="en-ID" sz="2200" dirty="0"/>
              <a:t> yang </a:t>
            </a:r>
            <a:r>
              <a:rPr lang="en-ID" sz="2200" dirty="0" err="1"/>
              <a:t>didasarkan</a:t>
            </a:r>
            <a:r>
              <a:rPr lang="en-ID" sz="2200" dirty="0"/>
              <a:t> pada </a:t>
            </a:r>
            <a:r>
              <a:rPr lang="en-ID" sz="2200" dirty="0" err="1"/>
              <a:t>pemenuhan</a:t>
            </a:r>
            <a:r>
              <a:rPr lang="en-ID" sz="2200" dirty="0"/>
              <a:t> </a:t>
            </a:r>
            <a:r>
              <a:rPr lang="en-ID" sz="2200" dirty="0" err="1"/>
              <a:t>serangkaian</a:t>
            </a:r>
            <a:r>
              <a:rPr lang="en-ID" sz="2200" dirty="0"/>
              <a:t> </a:t>
            </a:r>
            <a:r>
              <a:rPr lang="en-ID" sz="2200" dirty="0" err="1"/>
              <a:t>hasil</a:t>
            </a:r>
            <a:r>
              <a:rPr lang="en-ID" sz="2200" dirty="0"/>
              <a:t> </a:t>
            </a:r>
            <a:r>
              <a:rPr lang="en-ID" sz="2200" dirty="0" err="1"/>
              <a:t>pembelajaran</a:t>
            </a:r>
            <a:r>
              <a:rPr lang="en-ID" sz="2200" dirty="0"/>
              <a:t>, dan </a:t>
            </a:r>
            <a:r>
              <a:rPr lang="en-ID" sz="2200" dirty="0" err="1"/>
              <a:t>telah</a:t>
            </a:r>
            <a:r>
              <a:rPr lang="en-ID" sz="2200" dirty="0"/>
              <a:t> </a:t>
            </a:r>
            <a:r>
              <a:rPr lang="en-ID" sz="2200" dirty="0" err="1"/>
              <a:t>dikembangkan</a:t>
            </a:r>
            <a:r>
              <a:rPr lang="en-ID" sz="2200" dirty="0"/>
              <a:t> oleh WMO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bidang</a:t>
            </a:r>
            <a:r>
              <a:rPr lang="en-ID" sz="2200" dirty="0"/>
              <a:t> </a:t>
            </a:r>
            <a:r>
              <a:rPr lang="en-ID" sz="2200" dirty="0" err="1"/>
              <a:t>teknis</a:t>
            </a:r>
            <a:r>
              <a:rPr lang="en-ID" sz="2200" dirty="0"/>
              <a:t> </a:t>
            </a:r>
            <a:r>
              <a:rPr lang="en-ID" sz="2200" dirty="0" err="1"/>
              <a:t>tertentu</a:t>
            </a:r>
            <a:r>
              <a:rPr lang="en-ID" sz="2200" dirty="0"/>
              <a:t>. </a:t>
            </a:r>
            <a:r>
              <a:rPr lang="en-ID" sz="2200" dirty="0" err="1"/>
              <a:t>Berhasil</a:t>
            </a:r>
            <a:r>
              <a:rPr lang="en-ID" sz="2200" dirty="0"/>
              <a:t> </a:t>
            </a:r>
            <a:r>
              <a:rPr lang="en-ID" sz="2200" dirty="0" err="1"/>
              <a:t>menyelesaikan</a:t>
            </a:r>
            <a:r>
              <a:rPr lang="en-ID" sz="2200" dirty="0"/>
              <a:t> program </a:t>
            </a:r>
            <a:r>
              <a:rPr lang="en-ID" sz="2200" dirty="0" err="1"/>
              <a:t>studi</a:t>
            </a:r>
            <a:r>
              <a:rPr lang="en-ID" sz="2200" dirty="0"/>
              <a:t> </a:t>
            </a:r>
            <a:r>
              <a:rPr lang="en-ID" sz="2200" dirty="0" err="1"/>
              <a:t>awal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berarti</a:t>
            </a:r>
            <a:r>
              <a:rPr lang="en-ID" sz="2200" dirty="0"/>
              <a:t> </a:t>
            </a:r>
            <a:r>
              <a:rPr lang="en-ID" sz="2200" dirty="0" err="1"/>
              <a:t>bahwa</a:t>
            </a:r>
            <a:r>
              <a:rPr lang="en-ID" sz="2200" dirty="0"/>
              <a:t> </a:t>
            </a:r>
            <a:r>
              <a:rPr lang="en-ID" sz="2200" dirty="0" err="1"/>
              <a:t>seorang</a:t>
            </a:r>
            <a:r>
              <a:rPr lang="en-ID" sz="2200" dirty="0"/>
              <a:t> </a:t>
            </a:r>
            <a:r>
              <a:rPr lang="en-ID" sz="2200" dirty="0" err="1"/>
              <a:t>individu</a:t>
            </a:r>
            <a:r>
              <a:rPr lang="en-ID" sz="2200" dirty="0"/>
              <a:t> </a:t>
            </a:r>
            <a:r>
              <a:rPr lang="en-ID" sz="2200" dirty="0" err="1"/>
              <a:t>segera</a:t>
            </a:r>
            <a:r>
              <a:rPr lang="en-ID" sz="2200" dirty="0"/>
              <a:t> </a:t>
            </a:r>
            <a:r>
              <a:rPr lang="en-ID" sz="2200" dirty="0" err="1"/>
              <a:t>mampu</a:t>
            </a:r>
            <a:r>
              <a:rPr lang="en-ID" sz="2200" dirty="0"/>
              <a:t>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pekerjaan</a:t>
            </a:r>
            <a:r>
              <a:rPr lang="en-ID" sz="2200" dirty="0"/>
              <a:t> yang </a:t>
            </a:r>
            <a:r>
              <a:rPr lang="en-ID" sz="2200" dirty="0" err="1"/>
              <a:t>sesuai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kompeten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56291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5527-E82D-4A33-8B69-CB06D09B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Lanjutan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38E1C-5805-28D3-0CF1-A690B9A40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Peraturan</a:t>
            </a:r>
            <a:r>
              <a:rPr lang="en-ID" dirty="0"/>
              <a:t> Teknis, Volume I,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pengetahuan</a:t>
            </a:r>
            <a:r>
              <a:rPr lang="en-ID" dirty="0"/>
              <a:t>, </a:t>
            </a:r>
            <a:r>
              <a:rPr lang="en-ID" dirty="0" err="1"/>
              <a:t>keterampilan</a:t>
            </a:r>
            <a:r>
              <a:rPr lang="en-ID" dirty="0"/>
              <a:t>, dan </a:t>
            </a:r>
            <a:r>
              <a:rPr lang="en-ID" dirty="0" err="1"/>
              <a:t>perilaku</a:t>
            </a:r>
            <a:r>
              <a:rPr lang="en-ID" dirty="0"/>
              <a:t> yang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</a:t>
            </a:r>
            <a:r>
              <a:rPr lang="en-ID" dirty="0" err="1"/>
              <a:t>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. </a:t>
            </a:r>
            <a:r>
              <a:rPr lang="en-ID" dirty="0" err="1"/>
              <a:t>Memperoleh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di </a:t>
            </a: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 dan </a:t>
            </a:r>
            <a:r>
              <a:rPr lang="en-ID" dirty="0" err="1"/>
              <a:t>pelatihan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 yang </a:t>
            </a:r>
            <a:r>
              <a:rPr lang="en-ID" dirty="0" err="1"/>
              <a:t>berkelanjutan</a:t>
            </a:r>
            <a:r>
              <a:rPr lang="en-ID" dirty="0"/>
              <a:t> </a:t>
            </a:r>
            <a:r>
              <a:rPr lang="en-ID" dirty="0" err="1"/>
              <a:t>sepanjang</a:t>
            </a:r>
            <a:r>
              <a:rPr lang="en-ID" dirty="0"/>
              <a:t> </a:t>
            </a:r>
            <a:r>
              <a:rPr lang="en-ID" dirty="0" err="1"/>
              <a:t>karier</a:t>
            </a:r>
            <a:r>
              <a:rPr lang="en-ID" dirty="0"/>
              <a:t> </a:t>
            </a:r>
            <a:r>
              <a:rPr lang="en-ID" dirty="0" err="1"/>
              <a:t>individu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4818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A48B-B5C2-CC14-AEBF-E9F86BCF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COMPETENCY STANDARDS VERSUS RECOMMENDED PRACTICES</a:t>
            </a:r>
            <a:endParaRPr lang="en-ID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91A9-236B-3932-9387-721C4D8D0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3214"/>
            <a:ext cx="10515600" cy="3863749"/>
          </a:xfrm>
        </p:spPr>
        <p:txBody>
          <a:bodyPr>
            <a:normAutofit/>
          </a:bodyPr>
          <a:lstStyle/>
          <a:p>
            <a:pPr algn="just"/>
            <a:r>
              <a:rPr lang="en-ID" sz="2200" dirty="0"/>
              <a:t>WMO </a:t>
            </a:r>
            <a:r>
              <a:rPr lang="en-ID" sz="2200" dirty="0" err="1"/>
              <a:t>menetapkan</a:t>
            </a:r>
            <a:r>
              <a:rPr lang="en-ID" sz="2200" dirty="0"/>
              <a:t> </a:t>
            </a:r>
            <a:r>
              <a:rPr lang="en-ID" sz="2200" dirty="0" err="1"/>
              <a:t>persyaratan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yang </a:t>
            </a:r>
            <a:r>
              <a:rPr lang="en-ID" sz="2200" dirty="0" err="1"/>
              <a:t>menjadi</a:t>
            </a:r>
            <a:r>
              <a:rPr lang="en-ID" sz="2200" dirty="0"/>
              <a:t> </a:t>
            </a:r>
            <a:r>
              <a:rPr lang="en-ID" sz="2200" dirty="0" err="1"/>
              <a:t>bagian</a:t>
            </a:r>
            <a:r>
              <a:rPr lang="en-ID" sz="2200" dirty="0"/>
              <a:t> </a:t>
            </a:r>
            <a:r>
              <a:rPr lang="en-ID" sz="2200" dirty="0" err="1"/>
              <a:t>dari</a:t>
            </a:r>
            <a:r>
              <a:rPr lang="en-ID" sz="2200" dirty="0"/>
              <a:t> </a:t>
            </a:r>
            <a:r>
              <a:rPr lang="en-ID" sz="2200" dirty="0" err="1"/>
              <a:t>Peraturan</a:t>
            </a:r>
            <a:r>
              <a:rPr lang="en-ID" sz="2200" dirty="0"/>
              <a:t> Teknis WMO (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bentuk</a:t>
            </a:r>
            <a:r>
              <a:rPr lang="en-ID" sz="2200" dirty="0"/>
              <a:t> </a:t>
            </a:r>
            <a:r>
              <a:rPr lang="en-ID" sz="2200" dirty="0" err="1"/>
              <a:t>standar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praktik</a:t>
            </a:r>
            <a:r>
              <a:rPr lang="en-ID" sz="2200" dirty="0"/>
              <a:t> yang </a:t>
            </a:r>
            <a:r>
              <a:rPr lang="en-ID" sz="2200" dirty="0" err="1"/>
              <a:t>direkomendasikan</a:t>
            </a:r>
            <a:r>
              <a:rPr lang="en-ID" sz="2200" dirty="0"/>
              <a:t>) </a:t>
            </a:r>
            <a:r>
              <a:rPr lang="en-ID" sz="2200" dirty="0" err="1"/>
              <a:t>untuk</a:t>
            </a:r>
            <a:r>
              <a:rPr lang="en-ID" sz="2200" dirty="0"/>
              <a:t> area </a:t>
            </a:r>
            <a:r>
              <a:rPr lang="en-ID" sz="2200" dirty="0" err="1"/>
              <a:t>layanan</a:t>
            </a:r>
            <a:r>
              <a:rPr lang="en-ID" sz="2200" dirty="0"/>
              <a:t> dan </a:t>
            </a:r>
            <a:r>
              <a:rPr lang="en-ID" sz="2200" dirty="0" err="1"/>
              <a:t>personel</a:t>
            </a:r>
            <a:r>
              <a:rPr lang="en-ID" sz="2200" dirty="0"/>
              <a:t> </a:t>
            </a:r>
            <a:r>
              <a:rPr lang="en-ID" sz="2200" dirty="0" err="1"/>
              <a:t>terkait</a:t>
            </a:r>
            <a:endParaRPr lang="en-ID" sz="2200" dirty="0"/>
          </a:p>
          <a:p>
            <a:pPr algn="just"/>
            <a:r>
              <a:rPr lang="en-ID" sz="2200" dirty="0" err="1"/>
              <a:t>Misalnya</a:t>
            </a:r>
            <a:r>
              <a:rPr lang="en-ID" sz="2200" dirty="0"/>
              <a:t>, </a:t>
            </a:r>
            <a:r>
              <a:rPr lang="en-ID" sz="2200" dirty="0" err="1"/>
              <a:t>untuk</a:t>
            </a:r>
            <a:r>
              <a:rPr lang="en-ID" sz="2200" dirty="0"/>
              <a:t> area </a:t>
            </a:r>
            <a:r>
              <a:rPr lang="en-ID" sz="2200" dirty="0" err="1"/>
              <a:t>layanan</a:t>
            </a:r>
            <a:r>
              <a:rPr lang="en-ID" sz="2200" dirty="0"/>
              <a:t> yang </a:t>
            </a:r>
            <a:r>
              <a:rPr lang="en-ID" sz="2200" dirty="0" err="1"/>
              <a:t>tunduk</a:t>
            </a:r>
            <a:r>
              <a:rPr lang="en-ID" sz="2200" dirty="0"/>
              <a:t> pada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peraturan</a:t>
            </a:r>
            <a:r>
              <a:rPr lang="en-ID" sz="2200" dirty="0"/>
              <a:t> </a:t>
            </a:r>
            <a:r>
              <a:rPr lang="en-ID" sz="2200" dirty="0" err="1"/>
              <a:t>internasional</a:t>
            </a:r>
            <a:r>
              <a:rPr lang="en-ID" sz="2200" dirty="0"/>
              <a:t> yang </a:t>
            </a:r>
            <a:r>
              <a:rPr lang="en-ID" sz="2200" dirty="0" err="1"/>
              <a:t>ketat</a:t>
            </a:r>
            <a:r>
              <a:rPr lang="en-ID" sz="2200" dirty="0"/>
              <a:t>, </a:t>
            </a:r>
            <a:r>
              <a:rPr lang="en-ID" sz="2200" dirty="0" err="1"/>
              <a:t>seperti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meteorologi</a:t>
            </a:r>
            <a:r>
              <a:rPr lang="en-ID" sz="2200" dirty="0"/>
              <a:t> </a:t>
            </a:r>
            <a:r>
              <a:rPr lang="en-ID" sz="2200" dirty="0" err="1"/>
              <a:t>penerbangan</a:t>
            </a:r>
            <a:r>
              <a:rPr lang="en-ID" sz="2200" dirty="0"/>
              <a:t>, </a:t>
            </a:r>
            <a:r>
              <a:rPr lang="en-ID" sz="2200" dirty="0" err="1"/>
              <a:t>persyaratan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didefinisikan</a:t>
            </a:r>
            <a:r>
              <a:rPr lang="en-ID" sz="2200" dirty="0"/>
              <a:t> </a:t>
            </a:r>
            <a:r>
              <a:rPr lang="en-ID" sz="2200" dirty="0" err="1"/>
              <a:t>sebagai</a:t>
            </a:r>
            <a:r>
              <a:rPr lang="en-ID" sz="2200" dirty="0"/>
              <a:t> “</a:t>
            </a:r>
            <a:r>
              <a:rPr lang="en-ID" sz="2200" dirty="0" err="1"/>
              <a:t>standar</a:t>
            </a:r>
            <a:r>
              <a:rPr lang="en-ID" sz="2200" dirty="0"/>
              <a:t>”;</a:t>
            </a:r>
          </a:p>
          <a:p>
            <a:pPr algn="just"/>
            <a:endParaRPr lang="en-ID" sz="2200" dirty="0"/>
          </a:p>
          <a:p>
            <a:pPr marL="0" indent="0" algn="just">
              <a:buNone/>
            </a:pPr>
            <a:endParaRPr lang="en-ID" sz="2200" dirty="0"/>
          </a:p>
          <a:p>
            <a:pPr algn="just"/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22678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8615-5FFF-456D-7113-E7BBA205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Lanjutan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125CD-A640-DE76-A32B-E42F0BB25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untuk</a:t>
            </a:r>
            <a:r>
              <a:rPr lang="en-ID" dirty="0"/>
              <a:t> area </a:t>
            </a:r>
            <a:r>
              <a:rPr lang="en-ID" dirty="0" err="1"/>
              <a:t>layanan</a:t>
            </a:r>
            <a:r>
              <a:rPr lang="en-ID" dirty="0"/>
              <a:t> lain, di mana </a:t>
            </a:r>
            <a:r>
              <a:rPr lang="en-ID" dirty="0" err="1"/>
              <a:t>harmonisasi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dianggap</a:t>
            </a:r>
            <a:r>
              <a:rPr lang="en-ID" dirty="0"/>
              <a:t> </a:t>
            </a:r>
            <a:r>
              <a:rPr lang="en-ID" dirty="0" err="1"/>
              <a:t>diinginkan</a:t>
            </a:r>
            <a:r>
              <a:rPr lang="en-ID" dirty="0"/>
              <a:t> dan </a:t>
            </a:r>
            <a:r>
              <a:rPr lang="en-ID" dirty="0" err="1"/>
              <a:t>bermanfaat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Anggota</a:t>
            </a:r>
            <a:r>
              <a:rPr lang="en-ID" dirty="0"/>
              <a:t>,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didefinisikan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“</a:t>
            </a:r>
            <a:r>
              <a:rPr lang="en-ID" dirty="0" err="1"/>
              <a:t>rekomendasi</a:t>
            </a:r>
            <a:r>
              <a:rPr lang="en-ID" dirty="0"/>
              <a:t>”, Tidak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bidang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internasional</a:t>
            </a:r>
            <a:r>
              <a:rPr lang="en-ID" dirty="0"/>
              <a:t>. </a:t>
            </a:r>
          </a:p>
          <a:p>
            <a:pPr algn="just"/>
            <a:r>
              <a:rPr lang="en-ID" dirty="0" err="1"/>
              <a:t>Kerangka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 yang </a:t>
            </a: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detail yang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persyaratan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pernyataan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atas</a:t>
            </a:r>
            <a:r>
              <a:rPr lang="en-ID" dirty="0"/>
              <a:t>, </a:t>
            </a:r>
            <a:r>
              <a:rPr lang="en-ID" dirty="0" err="1"/>
              <a:t>deskripsi</a:t>
            </a:r>
            <a:r>
              <a:rPr lang="en-ID" dirty="0"/>
              <a:t> </a:t>
            </a:r>
            <a:r>
              <a:rPr lang="en-ID" dirty="0" err="1"/>
              <a:t>kompetensi</a:t>
            </a:r>
            <a:r>
              <a:rPr lang="en-ID" dirty="0"/>
              <a:t>, </a:t>
            </a:r>
            <a:r>
              <a:rPr lang="en-ID" dirty="0" err="1"/>
              <a:t>kriteria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, dan </a:t>
            </a:r>
            <a:r>
              <a:rPr lang="en-ID" dirty="0" err="1"/>
              <a:t>keterampilan</a:t>
            </a:r>
            <a:r>
              <a:rPr lang="en-ID" dirty="0"/>
              <a:t> dan </a:t>
            </a:r>
            <a:r>
              <a:rPr lang="en-ID" dirty="0" err="1"/>
              <a:t>pengetahuan</a:t>
            </a:r>
            <a:r>
              <a:rPr lang="en-ID" dirty="0"/>
              <a:t> </a:t>
            </a:r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r>
              <a:rPr lang="en-ID" dirty="0"/>
              <a:t> 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330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85402E-8F47-9CC4-617C-F8CAEBF74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643" y="1246414"/>
            <a:ext cx="9427027" cy="5056415"/>
          </a:xfrm>
        </p:spPr>
      </p:pic>
    </p:spTree>
    <p:extLst>
      <p:ext uri="{BB962C8B-B14F-4D97-AF65-F5344CB8AC3E}">
        <p14:creationId xmlns:p14="http://schemas.microsoft.com/office/powerpoint/2010/main" val="289612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FB1292-C478-EFB2-3FA6-06E67F631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206" y="643467"/>
            <a:ext cx="898558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528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62E1-5790-1401-8CE8-DCBE949D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TYPES OF COMPETENCY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28E07-9EAF-5C55-1A36-F8F274EF5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Pada </a:t>
            </a:r>
            <a:r>
              <a:rPr lang="en-ID" sz="2400" dirty="0" err="1"/>
              <a:t>dasarnya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inti,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latar</a:t>
            </a:r>
            <a:r>
              <a:rPr lang="en-ID" sz="2400" dirty="0"/>
              <a:t> </a:t>
            </a:r>
            <a:r>
              <a:rPr lang="en-ID" sz="2400" dirty="0" err="1"/>
              <a:t>belakang</a:t>
            </a:r>
            <a:r>
              <a:rPr lang="en-ID" sz="2400" dirty="0"/>
              <a:t> yang </a:t>
            </a:r>
            <a:r>
              <a:rPr lang="en-ID" sz="2400" dirty="0" err="1"/>
              <a:t>dikumpulkan</a:t>
            </a:r>
            <a:r>
              <a:rPr lang="en-ID" sz="2400" dirty="0"/>
              <a:t> </a:t>
            </a:r>
            <a:r>
              <a:rPr lang="en-ID" sz="2400" dirty="0" err="1"/>
              <a:t>melalui</a:t>
            </a:r>
            <a:r>
              <a:rPr lang="en-ID" sz="2400" dirty="0"/>
              <a:t> </a:t>
            </a:r>
            <a:r>
              <a:rPr lang="en-ID" sz="2400" dirty="0" err="1"/>
              <a:t>pendidikan</a:t>
            </a:r>
            <a:r>
              <a:rPr lang="en-ID" sz="2400" dirty="0"/>
              <a:t> formal dan </a:t>
            </a:r>
            <a:r>
              <a:rPr lang="en-ID" sz="2400" dirty="0" err="1"/>
              <a:t>berkelanjutan</a:t>
            </a:r>
            <a:r>
              <a:rPr lang="en-ID" sz="2400" dirty="0"/>
              <a:t>, yang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dasar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menganalisis</a:t>
            </a:r>
            <a:r>
              <a:rPr lang="en-ID" sz="2400" dirty="0"/>
              <a:t> </a:t>
            </a:r>
            <a:r>
              <a:rPr lang="en-ID" sz="2400" dirty="0" err="1"/>
              <a:t>situasi</a:t>
            </a:r>
            <a:r>
              <a:rPr lang="en-ID" sz="2400" dirty="0"/>
              <a:t> dan </a:t>
            </a: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. </a:t>
            </a:r>
            <a:r>
              <a:rPr lang="en-ID" sz="2400" dirty="0" err="1"/>
              <a:t>Pengetahuan</a:t>
            </a:r>
            <a:r>
              <a:rPr lang="en-ID" sz="2400" dirty="0"/>
              <a:t> inti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berkontribusi</a:t>
            </a:r>
            <a:r>
              <a:rPr lang="en-ID" sz="2400" dirty="0"/>
              <a:t> pada </a:t>
            </a:r>
            <a:r>
              <a:rPr lang="en-ID" sz="2400" dirty="0" err="1"/>
              <a:t>kualifikasi</a:t>
            </a:r>
            <a:r>
              <a:rPr lang="en-ID" sz="2400" dirty="0"/>
              <a:t> (</a:t>
            </a:r>
            <a:r>
              <a:rPr lang="en-ID" sz="2400" dirty="0" err="1"/>
              <a:t>seperti</a:t>
            </a:r>
            <a:r>
              <a:rPr lang="en-ID" sz="2400" dirty="0"/>
              <a:t> BIP) yang </a:t>
            </a:r>
            <a:r>
              <a:rPr lang="en-ID" sz="2400" dirty="0" err="1"/>
              <a:t>mendahului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Di </a:t>
            </a:r>
            <a:r>
              <a:rPr lang="en-ID" sz="2400" dirty="0" err="1"/>
              <a:t>atas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ditransfer</a:t>
            </a:r>
            <a:r>
              <a:rPr lang="en-ID" sz="2400" dirty="0"/>
              <a:t>,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dasar</a:t>
            </a:r>
            <a:r>
              <a:rPr lang="en-ID" sz="2400" dirty="0"/>
              <a:t>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komunikasi</a:t>
            </a:r>
            <a:r>
              <a:rPr lang="en-ID" sz="2400" dirty="0"/>
              <a:t>,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tim</a:t>
            </a:r>
            <a:r>
              <a:rPr lang="en-ID" sz="2400" dirty="0"/>
              <a:t>, </a:t>
            </a:r>
            <a:r>
              <a:rPr lang="en-ID" sz="2400" dirty="0" err="1"/>
              <a:t>kreativitas</a:t>
            </a:r>
            <a:r>
              <a:rPr lang="en-ID" sz="2400" dirty="0"/>
              <a:t> dan </a:t>
            </a:r>
            <a:r>
              <a:rPr lang="en-ID" sz="2400" dirty="0" err="1"/>
              <a:t>kepemimpinan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perilaku</a:t>
            </a:r>
            <a:r>
              <a:rPr lang="en-ID" sz="2400" dirty="0"/>
              <a:t> (</a:t>
            </a:r>
            <a:r>
              <a:rPr lang="en-ID" sz="2400" dirty="0" err="1"/>
              <a:t>sikap</a:t>
            </a:r>
            <a:r>
              <a:rPr lang="en-ID" sz="2400" dirty="0"/>
              <a:t>)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akuntabilitas</a:t>
            </a:r>
            <a:r>
              <a:rPr lang="en-ID" sz="2400" dirty="0"/>
              <a:t>, </a:t>
            </a:r>
            <a:r>
              <a:rPr lang="en-ID" sz="2400" dirty="0" err="1"/>
              <a:t>perlakuan</a:t>
            </a:r>
            <a:r>
              <a:rPr lang="en-ID" sz="2400" dirty="0"/>
              <a:t> </a:t>
            </a:r>
            <a:r>
              <a:rPr lang="en-ID" sz="2400" dirty="0" err="1"/>
              <a:t>etis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orang lain, dan </a:t>
            </a:r>
            <a:r>
              <a:rPr lang="en-ID" sz="2400" dirty="0" err="1"/>
              <a:t>komitmen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. Juga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,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masih</a:t>
            </a:r>
            <a:r>
              <a:rPr lang="en-ID" sz="2400" dirty="0"/>
              <a:t> </a:t>
            </a:r>
            <a:r>
              <a:rPr lang="en-ID" sz="2400" dirty="0" err="1"/>
              <a:t>bersifat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, </a:t>
            </a:r>
            <a:r>
              <a:rPr lang="en-ID" sz="2400" dirty="0" err="1"/>
              <a:t>seperti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komputer</a:t>
            </a:r>
            <a:r>
              <a:rPr lang="en-ID" sz="2400" dirty="0"/>
              <a:t>, </a:t>
            </a:r>
            <a:r>
              <a:rPr lang="en-ID" sz="2400" dirty="0" err="1"/>
              <a:t>menulis</a:t>
            </a:r>
            <a:r>
              <a:rPr lang="en-ID" sz="2400" dirty="0"/>
              <a:t>, </a:t>
            </a:r>
            <a:r>
              <a:rPr lang="en-ID" sz="2400" dirty="0" err="1"/>
              <a:t>penelitian</a:t>
            </a:r>
            <a:r>
              <a:rPr lang="en-ID" sz="2400" dirty="0"/>
              <a:t> dan </a:t>
            </a:r>
            <a:r>
              <a:rPr lang="en-ID" sz="2400" dirty="0" err="1"/>
              <a:t>manajemen</a:t>
            </a:r>
            <a:r>
              <a:rPr lang="en-ID" sz="2400" dirty="0"/>
              <a:t>.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kadang-kadang</a:t>
            </a:r>
            <a:r>
              <a:rPr lang="en-ID" sz="2400" dirty="0"/>
              <a:t> </a:t>
            </a:r>
            <a:r>
              <a:rPr lang="en-ID" sz="2400" dirty="0" err="1"/>
              <a:t>disebut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inti.</a:t>
            </a:r>
          </a:p>
        </p:txBody>
      </p:sp>
    </p:spTree>
    <p:extLst>
      <p:ext uri="{BB962C8B-B14F-4D97-AF65-F5344CB8AC3E}">
        <p14:creationId xmlns:p14="http://schemas.microsoft.com/office/powerpoint/2010/main" val="230811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69CB-53F5-83B2-364B-CBE14EB5E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D" sz="2400" dirty="0" err="1"/>
              <a:t>Kompetensi</a:t>
            </a:r>
            <a:r>
              <a:rPr lang="en-ID" sz="2400" dirty="0"/>
              <a:t> yang paling </a:t>
            </a:r>
            <a:r>
              <a:rPr lang="en-ID" sz="2400" dirty="0" err="1"/>
              <a:t>spesifik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yang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termasuk</a:t>
            </a:r>
            <a:r>
              <a:rPr lang="en-ID" sz="2400" dirty="0"/>
              <a:t> </a:t>
            </a:r>
            <a:r>
              <a:rPr lang="en-ID" sz="2400" dirty="0" err="1"/>
              <a:t>tugas-tugas</a:t>
            </a:r>
            <a:r>
              <a:rPr lang="en-ID" sz="2400" dirty="0"/>
              <a:t> </a:t>
            </a:r>
            <a:r>
              <a:rPr lang="en-ID" sz="2400" dirty="0" err="1"/>
              <a:t>khusus</a:t>
            </a:r>
            <a:r>
              <a:rPr lang="en-ID" sz="2400" dirty="0"/>
              <a:t> yang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dilakukan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pekerjaan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latar</a:t>
            </a:r>
            <a:r>
              <a:rPr lang="en-ID" sz="2400" dirty="0"/>
              <a:t> </a:t>
            </a:r>
            <a:r>
              <a:rPr lang="en-ID" sz="2400" dirty="0" err="1"/>
              <a:t>belakang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dan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tugas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. </a:t>
            </a:r>
          </a:p>
          <a:p>
            <a:pPr algn="just"/>
            <a:r>
              <a:rPr lang="en-ID" sz="2400" dirty="0"/>
              <a:t>Karena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teknisi</a:t>
            </a:r>
            <a:r>
              <a:rPr lang="en-ID" sz="2400" dirty="0"/>
              <a:t>, </a:t>
            </a:r>
            <a:r>
              <a:rPr lang="en-ID" sz="2400" dirty="0" err="1"/>
              <a:t>maka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hanya</a:t>
            </a:r>
            <a:r>
              <a:rPr lang="en-ID" sz="2400" dirty="0"/>
              <a:t> </a:t>
            </a:r>
            <a:r>
              <a:rPr lang="en-ID" sz="2400" dirty="0" err="1"/>
              <a:t>berfokus</a:t>
            </a:r>
            <a:r>
              <a:rPr lang="en-ID" sz="2400" dirty="0"/>
              <a:t> pada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teknis</a:t>
            </a:r>
            <a:r>
              <a:rPr lang="en-ID" sz="2400" dirty="0"/>
              <a:t>.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melengkapi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,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sedang</a:t>
            </a:r>
            <a:r>
              <a:rPr lang="en-ID" sz="2400" dirty="0"/>
              <a:t> </a:t>
            </a:r>
            <a:r>
              <a:rPr lang="en-ID" sz="2400" dirty="0" err="1"/>
              <a:t>dikembangkan</a:t>
            </a:r>
            <a:r>
              <a:rPr lang="en-ID" sz="2400" dirty="0"/>
              <a:t> (</a:t>
            </a:r>
            <a:r>
              <a:rPr lang="en-ID" sz="2400" dirty="0" err="1"/>
              <a:t>lihat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5 di </a:t>
            </a:r>
            <a:r>
              <a:rPr lang="en-ID" sz="2400" dirty="0" err="1"/>
              <a:t>bawah</a:t>
            </a:r>
            <a:r>
              <a:rPr lang="en-ID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5085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CD83-3FAB-9875-AD22-25574D68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ANATOMY OF A WMO COMPETENCY FRAMEWORK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B73A1-FC55-6139-F95F-D5B371111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</a:t>
            </a:r>
            <a:r>
              <a:rPr lang="en-ID" sz="2400" dirty="0" err="1"/>
              <a:t>terdiri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kata </a:t>
            </a:r>
            <a:r>
              <a:rPr lang="en-ID" sz="2400" dirty="0" err="1"/>
              <a:t>pengantar</a:t>
            </a:r>
            <a:r>
              <a:rPr lang="en-ID" sz="2400" dirty="0"/>
              <a:t> </a:t>
            </a:r>
            <a:r>
              <a:rPr lang="en-ID" sz="2400" dirty="0" err="1"/>
              <a:t>diikuti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deskripsi</a:t>
            </a:r>
            <a:r>
              <a:rPr lang="en-ID" sz="2400" dirty="0"/>
              <a:t>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.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semacam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struktur</a:t>
            </a:r>
            <a:r>
              <a:rPr lang="en-ID" sz="2400" dirty="0"/>
              <a:t> </a:t>
            </a:r>
            <a:r>
              <a:rPr lang="en-ID" sz="2400" dirty="0" err="1"/>
              <a:t>umum</a:t>
            </a:r>
            <a:r>
              <a:rPr lang="en-ID" sz="2400" dirty="0"/>
              <a:t> </a:t>
            </a:r>
            <a:r>
              <a:rPr lang="en-ID" sz="2400" dirty="0" err="1"/>
              <a:t>sambil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fleksibilitas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spektrum</a:t>
            </a:r>
            <a:r>
              <a:rPr lang="en-ID" sz="2400" dirty="0"/>
              <a:t> yang </a:t>
            </a:r>
            <a:r>
              <a:rPr lang="en-ID" sz="2400" dirty="0" err="1"/>
              <a:t>luas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institusi</a:t>
            </a:r>
            <a:r>
              <a:rPr lang="en-ID" sz="2400" dirty="0"/>
              <a:t> yang </a:t>
            </a:r>
            <a:r>
              <a:rPr lang="en-ID" sz="2400" dirty="0" err="1"/>
              <a:t>menggunakannya</a:t>
            </a:r>
            <a:r>
              <a:rPr lang="en-ID" sz="2400" dirty="0"/>
              <a:t>. </a:t>
            </a:r>
            <a:r>
              <a:rPr lang="en-ID" sz="2400" dirty="0" err="1"/>
              <a:t>Tiga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deskripsi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</a:t>
            </a:r>
            <a:r>
              <a:rPr lang="en-ID" sz="2400" dirty="0" err="1"/>
              <a:t>didefinisikan</a:t>
            </a:r>
            <a:r>
              <a:rPr lang="en-ID" sz="2400" dirty="0"/>
              <a:t> pada Gambar 3.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kedua</a:t>
            </a:r>
            <a:r>
              <a:rPr lang="en-ID" sz="2400" dirty="0"/>
              <a:t> yang </a:t>
            </a:r>
            <a:r>
              <a:rPr lang="en-ID" sz="2400" dirty="0" err="1"/>
              <a:t>diberikan</a:t>
            </a:r>
            <a:r>
              <a:rPr lang="en-ID" sz="2400" dirty="0"/>
              <a:t> di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kedua</a:t>
            </a:r>
            <a:r>
              <a:rPr lang="en-ID" sz="2400" dirty="0"/>
              <a:t> dan </a:t>
            </a:r>
            <a:r>
              <a:rPr lang="en-ID" sz="2400" dirty="0" err="1"/>
              <a:t>ketiga</a:t>
            </a:r>
            <a:r>
              <a:rPr lang="en-ID" sz="2400" dirty="0"/>
              <a:t>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ditinjau</a:t>
            </a:r>
            <a:r>
              <a:rPr lang="en-ID" sz="2400" dirty="0"/>
              <a:t>, dan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, </a:t>
            </a:r>
            <a:r>
              <a:rPr lang="en-ID" sz="2400" dirty="0" err="1"/>
              <a:t>disesuaikan</a:t>
            </a:r>
            <a:r>
              <a:rPr lang="en-ID" sz="2400" dirty="0"/>
              <a:t> oleh </a:t>
            </a:r>
            <a:r>
              <a:rPr lang="en-ID" sz="2400" dirty="0" err="1"/>
              <a:t>organisasi</a:t>
            </a:r>
            <a:r>
              <a:rPr lang="en-ID" sz="2400" dirty="0"/>
              <a:t> agar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model </a:t>
            </a:r>
            <a:r>
              <a:rPr lang="en-ID" sz="2400" dirty="0" err="1"/>
              <a:t>pemberian</a:t>
            </a:r>
            <a:r>
              <a:rPr lang="en-ID" sz="2400" dirty="0"/>
              <a:t> </a:t>
            </a:r>
            <a:r>
              <a:rPr lang="en-ID" sz="2400" dirty="0" err="1"/>
              <a:t>layanannya</a:t>
            </a:r>
            <a:r>
              <a:rPr lang="en-ID" sz="2400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/>
              <a:t>Kata </a:t>
            </a:r>
            <a:r>
              <a:rPr lang="en-ID" sz="2400" dirty="0" err="1"/>
              <a:t>pengantar</a:t>
            </a:r>
            <a:r>
              <a:rPr lang="en-ID" sz="2400" dirty="0"/>
              <a:t> </a:t>
            </a:r>
            <a:r>
              <a:rPr lang="en-ID" sz="2400" dirty="0" err="1"/>
              <a:t>mencakup</a:t>
            </a:r>
            <a:r>
              <a:rPr lang="en-ID" sz="2400" dirty="0"/>
              <a:t> daftar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atas</a:t>
            </a:r>
            <a:r>
              <a:rPr lang="en-ID" sz="2400" dirty="0"/>
              <a:t>, </a:t>
            </a:r>
            <a:r>
              <a:rPr lang="en-ID" sz="2400" dirty="0" err="1"/>
              <a:t>serta</a:t>
            </a:r>
            <a:r>
              <a:rPr lang="en-ID" sz="2400" dirty="0"/>
              <a:t>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implementasi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tambahan</a:t>
            </a:r>
            <a:r>
              <a:rPr lang="en-ID" sz="2400" dirty="0"/>
              <a:t>. </a:t>
            </a:r>
            <a:r>
              <a:rPr lang="en-ID" sz="2400" dirty="0" err="1"/>
              <a:t>Informasi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termasuk</a:t>
            </a:r>
            <a:r>
              <a:rPr lang="en-ID" sz="2400" dirty="0"/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3866851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diagram, text&#10;&#10;Description automatically generated">
            <a:extLst>
              <a:ext uri="{FF2B5EF4-FFF2-40B4-BE49-F238E27FC236}">
                <a16:creationId xmlns:a16="http://schemas.microsoft.com/office/drawing/2014/main" id="{670BAEE3-F50D-B84E-6429-5BED80AF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3567" y="643466"/>
            <a:ext cx="804486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9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DE9F-C866-7244-D1C5-42F2C93E1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1243"/>
            <a:ext cx="10515600" cy="5485720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D" sz="2400" dirty="0" err="1"/>
              <a:t>Deskripsi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buat </a:t>
            </a:r>
            <a:r>
              <a:rPr lang="en-ID" sz="2400" dirty="0" err="1"/>
              <a:t>siapa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berlaku</a:t>
            </a:r>
            <a:r>
              <a:rPr lang="en-ID" sz="24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menggambarkan</a:t>
            </a:r>
            <a:r>
              <a:rPr lang="en-ID" sz="2400" dirty="0"/>
              <a:t> </a:t>
            </a:r>
            <a:r>
              <a:rPr lang="en-ID" sz="2400" dirty="0" err="1"/>
              <a:t>kondisi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menyebabkan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bervariasi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yang </a:t>
            </a:r>
            <a:r>
              <a:rPr lang="en-ID" sz="2400" dirty="0" err="1"/>
              <a:t>berbeda</a:t>
            </a:r>
            <a:r>
              <a:rPr lang="en-ID" sz="2400" dirty="0"/>
              <a:t>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200" dirty="0"/>
              <a:t>Jika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cuaca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menyediakan</a:t>
            </a:r>
            <a:r>
              <a:rPr lang="en-ID" sz="2200" dirty="0"/>
              <a:t> </a:t>
            </a:r>
            <a:r>
              <a:rPr lang="en-ID" sz="2200" dirty="0" err="1"/>
              <a:t>produk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cuaca</a:t>
            </a:r>
            <a:r>
              <a:rPr lang="en-ID" sz="2200" dirty="0"/>
              <a:t> </a:t>
            </a:r>
            <a:r>
              <a:rPr lang="en-ID" sz="2200" dirty="0" err="1"/>
              <a:t>tertentu</a:t>
            </a:r>
            <a:r>
              <a:rPr lang="en-ID" sz="2200" dirty="0"/>
              <a:t>,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mengalami</a:t>
            </a:r>
            <a:r>
              <a:rPr lang="en-ID" sz="2200" dirty="0"/>
              <a:t> </a:t>
            </a:r>
            <a:r>
              <a:rPr lang="en-ID" sz="2200" dirty="0" err="1"/>
              <a:t>fenomena</a:t>
            </a:r>
            <a:r>
              <a:rPr lang="en-ID" sz="2200" dirty="0"/>
              <a:t> </a:t>
            </a:r>
            <a:r>
              <a:rPr lang="en-ID" sz="2200" dirty="0" err="1"/>
              <a:t>cuaca</a:t>
            </a:r>
            <a:r>
              <a:rPr lang="en-ID" sz="2200" dirty="0"/>
              <a:t> </a:t>
            </a:r>
            <a:r>
              <a:rPr lang="en-ID" sz="2200" dirty="0" err="1"/>
              <a:t>tertentu</a:t>
            </a:r>
            <a:r>
              <a:rPr lang="en-ID" sz="2200" dirty="0"/>
              <a:t>, </a:t>
            </a:r>
            <a:r>
              <a:rPr lang="en-ID" sz="2200" dirty="0" err="1"/>
              <a:t>mungkin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memerlukan</a:t>
            </a:r>
            <a:r>
              <a:rPr lang="en-ID" sz="2200" dirty="0"/>
              <a:t> </a:t>
            </a:r>
            <a:r>
              <a:rPr lang="en-ID" sz="2200" dirty="0" err="1"/>
              <a:t>personel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semua</a:t>
            </a:r>
            <a:r>
              <a:rPr lang="en-ID" sz="2200" dirty="0"/>
              <a:t> </a:t>
            </a:r>
            <a:r>
              <a:rPr lang="en-ID" sz="2200" dirty="0" err="1"/>
              <a:t>tugas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semua</a:t>
            </a:r>
            <a:r>
              <a:rPr lang="en-ID" sz="2200" dirty="0"/>
              <a:t> </a:t>
            </a:r>
            <a:r>
              <a:rPr lang="en-ID" sz="2200" dirty="0" err="1"/>
              <a:t>keterampilan</a:t>
            </a:r>
            <a:r>
              <a:rPr lang="en-ID" sz="2200" dirty="0"/>
              <a:t> dan </a:t>
            </a:r>
            <a:r>
              <a:rPr lang="en-ID" sz="2200" dirty="0" err="1"/>
              <a:t>pengetahuan</a:t>
            </a:r>
            <a:r>
              <a:rPr lang="en-ID" sz="2200" dirty="0"/>
              <a:t> </a:t>
            </a:r>
            <a:r>
              <a:rPr lang="en-ID" sz="2200" dirty="0" err="1"/>
              <a:t>latar</a:t>
            </a:r>
            <a:r>
              <a:rPr lang="en-ID" sz="2200" dirty="0"/>
              <a:t> </a:t>
            </a:r>
            <a:r>
              <a:rPr lang="en-ID" sz="2200" dirty="0" err="1"/>
              <a:t>belakang</a:t>
            </a:r>
            <a:r>
              <a:rPr lang="en-ID" sz="2200" dirty="0"/>
              <a:t> yang </a:t>
            </a:r>
            <a:r>
              <a:rPr lang="en-ID" sz="2200" dirty="0" err="1"/>
              <a:t>dijelaskan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kerja</a:t>
            </a:r>
            <a:r>
              <a:rPr lang="en-ID" sz="2200" dirty="0"/>
              <a:t>.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kerja</a:t>
            </a:r>
            <a:r>
              <a:rPr lang="en-ID" sz="2200" dirty="0"/>
              <a:t> yang </a:t>
            </a:r>
            <a:r>
              <a:rPr lang="en-ID" sz="2200" dirty="0" err="1"/>
              <a:t>termasuk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regulasi</a:t>
            </a:r>
            <a:r>
              <a:rPr lang="en-ID" sz="2200" dirty="0"/>
              <a:t> </a:t>
            </a:r>
            <a:r>
              <a:rPr lang="en-ID" sz="2200" dirty="0" err="1"/>
              <a:t>internasional</a:t>
            </a:r>
            <a:r>
              <a:rPr lang="en-ID" sz="2200" dirty="0"/>
              <a:t>, </a:t>
            </a:r>
            <a:r>
              <a:rPr lang="en-ID" sz="2200" dirty="0" err="1"/>
              <a:t>persyaratan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 </a:t>
            </a:r>
            <a:r>
              <a:rPr lang="en-ID" sz="2200" dirty="0" err="1"/>
              <a:t>hanya</a:t>
            </a:r>
            <a:r>
              <a:rPr lang="en-ID" sz="2200" dirty="0"/>
              <a:t> </a:t>
            </a:r>
            <a:r>
              <a:rPr lang="en-ID" sz="2200" dirty="0" err="1"/>
              <a:t>berlaku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tingkat</a:t>
            </a:r>
            <a:r>
              <a:rPr lang="en-ID" sz="2200" dirty="0"/>
              <a:t> </a:t>
            </a:r>
            <a:r>
              <a:rPr lang="en-ID" sz="2200" dirty="0" err="1"/>
              <a:t>kedua</a:t>
            </a:r>
            <a:r>
              <a:rPr lang="en-ID" sz="2200" dirty="0"/>
              <a:t>, yang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hal</a:t>
            </a:r>
            <a:r>
              <a:rPr lang="en-ID" sz="2200" dirty="0"/>
              <a:t> </a:t>
            </a:r>
            <a:r>
              <a:rPr lang="en-ID" sz="2200" dirty="0" err="1"/>
              <a:t>ini</a:t>
            </a:r>
            <a:r>
              <a:rPr lang="en-ID" sz="2200" dirty="0"/>
              <a:t>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materi</a:t>
            </a:r>
            <a:r>
              <a:rPr lang="en-ID" sz="2200" dirty="0"/>
              <a:t> </a:t>
            </a:r>
            <a:r>
              <a:rPr lang="en-ID" sz="2200" dirty="0" err="1"/>
              <a:t>panduan</a:t>
            </a:r>
            <a:r>
              <a:rPr lang="en-ID" sz="2200" dirty="0"/>
              <a:t> </a:t>
            </a:r>
            <a:r>
              <a:rPr lang="en-ID" sz="2200" dirty="0" err="1"/>
              <a:t>pendukung</a:t>
            </a:r>
            <a:r>
              <a:rPr lang="en-ID" sz="2200" dirty="0"/>
              <a:t>, </a:t>
            </a:r>
            <a:r>
              <a:rPr lang="en-ID" sz="2200" dirty="0" err="1"/>
              <a:t>bukan</a:t>
            </a:r>
            <a:r>
              <a:rPr lang="en-ID" sz="2200" dirty="0"/>
              <a:t> </a:t>
            </a:r>
            <a:r>
              <a:rPr lang="en-ID" sz="2200" dirty="0" err="1"/>
              <a:t>standar</a:t>
            </a:r>
            <a:r>
              <a:rPr lang="en-ID" sz="2200" dirty="0"/>
              <a:t> </a:t>
            </a:r>
            <a:r>
              <a:rPr lang="en-ID" sz="2200" dirty="0" err="1"/>
              <a:t>internasional</a:t>
            </a:r>
            <a:r>
              <a:rPr lang="en-ID" sz="20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sz="2400" dirty="0" err="1"/>
              <a:t>Deskripsi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 yang </a:t>
            </a:r>
            <a:r>
              <a:rPr lang="en-ID" sz="2400" dirty="0" err="1"/>
              <a:t>diharapkan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latar</a:t>
            </a:r>
            <a:r>
              <a:rPr lang="en-ID" sz="2400" dirty="0"/>
              <a:t> </a:t>
            </a:r>
            <a:r>
              <a:rPr lang="en-ID" sz="2400" dirty="0" err="1"/>
              <a:t>belakang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penting</a:t>
            </a:r>
            <a:r>
              <a:rPr lang="en-ID" sz="2400" dirty="0"/>
              <a:t>,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berlaku</a:t>
            </a:r>
            <a:r>
              <a:rPr lang="en-ID" sz="2400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atas</a:t>
            </a:r>
            <a:r>
              <a:rPr lang="en-ID" sz="2400" dirty="0"/>
              <a:t> </a:t>
            </a:r>
            <a:r>
              <a:rPr lang="en-ID" sz="2400" dirty="0" err="1"/>
              <a:t>diterbitkan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Peraturan</a:t>
            </a:r>
            <a:r>
              <a:rPr lang="en-ID" sz="2400" dirty="0"/>
              <a:t> Teknis, Volume I (WMO-No.49).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lengkap</a:t>
            </a:r>
            <a:r>
              <a:rPr lang="en-ID" sz="2400" dirty="0"/>
              <a:t> </a:t>
            </a:r>
            <a:r>
              <a:rPr lang="en-ID" sz="2400" dirty="0" err="1"/>
              <a:t>terdapat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Kompendium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(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datang</a:t>
            </a:r>
            <a:r>
              <a:rPr lang="en-ID" sz="2400" dirty="0"/>
              <a:t>).</a:t>
            </a:r>
          </a:p>
          <a:p>
            <a:pPr>
              <a:buFont typeface="Wingdings" panose="05000000000000000000" pitchFamily="2" charset="2"/>
              <a:buChar char="ü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288296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1D20-E22D-37B6-8EEC-1687B9A9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b="1" dirty="0"/>
              <a:t>Enabling skills and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919FE-EA00-8C94-E549-808ECCBC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Sementara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sangat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menggambarkan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</a:t>
            </a:r>
            <a:r>
              <a:rPr lang="en-ID" sz="2400" dirty="0" err="1"/>
              <a:t>personel</a:t>
            </a:r>
            <a:r>
              <a:rPr lang="en-ID" sz="2400" dirty="0"/>
              <a:t> yang </a:t>
            </a:r>
            <a:r>
              <a:rPr lang="en-ID" sz="2400" dirty="0" err="1"/>
              <a:t>bertanggung</a:t>
            </a:r>
            <a:r>
              <a:rPr lang="en-ID" sz="2400" dirty="0"/>
              <a:t> </a:t>
            </a:r>
            <a:r>
              <a:rPr lang="en-ID" sz="2400" dirty="0" err="1"/>
              <a:t>jawab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berkontribusi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penggunaan</a:t>
            </a:r>
            <a:r>
              <a:rPr lang="en-ID" sz="2400" dirty="0"/>
              <a:t> data dan </a:t>
            </a:r>
            <a:r>
              <a:rPr lang="en-ID" sz="2400" dirty="0" err="1"/>
              <a:t>produk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yang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diidentifikasi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yang </a:t>
            </a:r>
            <a:r>
              <a:rPr lang="en-ID" sz="2400" dirty="0" err="1"/>
              <a:t>penting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menggambarkan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tepat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dan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pembelajaran</a:t>
            </a:r>
            <a:r>
              <a:rPr lang="en-ID" sz="2400" dirty="0"/>
              <a:t> </a:t>
            </a:r>
            <a:r>
              <a:rPr lang="en-ID" sz="2400" dirty="0" err="1"/>
              <a:t>personel</a:t>
            </a:r>
            <a:r>
              <a:rPr lang="en-ID" sz="2400" dirty="0"/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yang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prasyarat</a:t>
            </a:r>
            <a:r>
              <a:rPr lang="en-ID" sz="2400" dirty="0"/>
              <a:t> </a:t>
            </a:r>
            <a:r>
              <a:rPr lang="en-ID" sz="2400" dirty="0" err="1"/>
              <a:t>mendasar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dan </a:t>
            </a:r>
            <a:r>
              <a:rPr lang="en-ID" sz="2400" dirty="0" err="1"/>
              <a:t>dirangkum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</a:t>
            </a:r>
            <a:r>
              <a:rPr lang="en-ID" sz="2400" dirty="0" err="1"/>
              <a:t>latar</a:t>
            </a:r>
            <a:r>
              <a:rPr lang="en-ID" sz="2400" dirty="0"/>
              <a:t> </a:t>
            </a:r>
            <a:r>
              <a:rPr lang="en-ID" sz="2400" dirty="0" err="1"/>
              <a:t>belakang</a:t>
            </a:r>
            <a:r>
              <a:rPr lang="en-ID" sz="2400" dirty="0"/>
              <a:t> </a:t>
            </a:r>
            <a:r>
              <a:rPr lang="en-ID" sz="2400" dirty="0" err="1"/>
              <a:t>pengetahuan</a:t>
            </a:r>
            <a:r>
              <a:rPr lang="en-ID" sz="2400" dirty="0"/>
              <a:t> dan </a:t>
            </a:r>
            <a:r>
              <a:rPr lang="en-ID" sz="2400" dirty="0" err="1"/>
              <a:t>keterampilan</a:t>
            </a:r>
            <a:endParaRPr lang="en-ID" sz="2400" dirty="0"/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516104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2F6A-34F2-24E2-8673-C01083F69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5543"/>
            <a:ext cx="10515600" cy="537141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sv-SE" sz="2400" dirty="0"/>
              <a:t>Tiga kerangka kerja keterampilan dan pengetahuan yang memungkinkan dikembangkan atau dipersiapkan untuk prakirawan meteorologi adalah: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400" dirty="0"/>
              <a:t>-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Satelit</a:t>
            </a:r>
            <a:r>
              <a:rPr lang="en-ID" sz="2400" dirty="0"/>
              <a:t>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400" dirty="0"/>
              <a:t>-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Radar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ID" sz="2400" dirty="0"/>
              <a:t>-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</a:t>
            </a:r>
            <a:r>
              <a:rPr lang="en-ID" sz="2400" dirty="0" err="1"/>
              <a:t>Prediksi</a:t>
            </a:r>
            <a:r>
              <a:rPr lang="en-ID" sz="2400" dirty="0"/>
              <a:t> </a:t>
            </a:r>
            <a:r>
              <a:rPr lang="en-ID" sz="2400" dirty="0" err="1"/>
              <a:t>Cuaca</a:t>
            </a:r>
            <a:r>
              <a:rPr lang="en-ID" sz="2400" dirty="0"/>
              <a:t> </a:t>
            </a:r>
            <a:r>
              <a:rPr lang="en-ID" sz="2400" dirty="0" err="1"/>
              <a:t>Numerik</a:t>
            </a:r>
            <a:endParaRPr lang="en-ID" sz="240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membutuhkan</a:t>
            </a:r>
            <a:r>
              <a:rPr lang="en-ID" sz="2400" dirty="0"/>
              <a:t> </a:t>
            </a:r>
            <a:r>
              <a:rPr lang="en-ID" sz="2400" dirty="0" err="1"/>
              <a:t>pembaruan</a:t>
            </a:r>
            <a:r>
              <a:rPr lang="en-ID" sz="2400" dirty="0"/>
              <a:t> </a:t>
            </a:r>
            <a:r>
              <a:rPr lang="en-ID" sz="2400" dirty="0" err="1"/>
              <a:t>seiring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berkembangnya</a:t>
            </a:r>
            <a:r>
              <a:rPr lang="en-ID" sz="2400" dirty="0"/>
              <a:t> </a:t>
            </a:r>
            <a:r>
              <a:rPr lang="en-ID" sz="2400" dirty="0" err="1"/>
              <a:t>teknologi</a:t>
            </a:r>
            <a:r>
              <a:rPr lang="en-ID" sz="2400" dirty="0"/>
              <a:t> dan </a:t>
            </a:r>
            <a:r>
              <a:rPr lang="en-ID" sz="2400" dirty="0" err="1"/>
              <a:t>produk</a:t>
            </a:r>
            <a:r>
              <a:rPr lang="en-ID" sz="2400" dirty="0"/>
              <a:t>. </a:t>
            </a:r>
            <a:r>
              <a:rPr lang="en-ID" sz="2400" dirty="0" err="1"/>
              <a:t>Keterampilan</a:t>
            </a:r>
            <a:r>
              <a:rPr lang="en-ID" sz="2400" dirty="0"/>
              <a:t> di </a:t>
            </a:r>
            <a:r>
              <a:rPr lang="en-ID" sz="2400" dirty="0" err="1"/>
              <a:t>bidang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merupakan</a:t>
            </a:r>
            <a:r>
              <a:rPr lang="en-ID" sz="2400" dirty="0"/>
              <a:t> </a:t>
            </a:r>
            <a:r>
              <a:rPr lang="en-ID" sz="2400" dirty="0" err="1"/>
              <a:t>bagian</a:t>
            </a:r>
            <a:r>
              <a:rPr lang="en-ID" sz="2400" dirty="0"/>
              <a:t> integral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54669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E54-6E95-FE12-07D1-14FA9CED7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sz="2400" dirty="0" err="1"/>
              <a:t>Kekurangan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berkontribusi</a:t>
            </a:r>
            <a:r>
              <a:rPr lang="en-ID" sz="2400" dirty="0"/>
              <a:t> pada </a:t>
            </a:r>
            <a:r>
              <a:rPr lang="en-ID" sz="2400" dirty="0" err="1"/>
              <a:t>kekurangan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prakiraan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dan </a:t>
            </a:r>
            <a:r>
              <a:rPr lang="en-ID" sz="2400" dirty="0" err="1"/>
              <a:t>harus</a:t>
            </a:r>
            <a:r>
              <a:rPr lang="en-ID" sz="2400" dirty="0"/>
              <a:t> </a:t>
            </a:r>
            <a:r>
              <a:rPr lang="en-ID" sz="2400" dirty="0" err="1"/>
              <a:t>diatasi</a:t>
            </a:r>
            <a:r>
              <a:rPr lang="en-ID" sz="2400" dirty="0"/>
              <a:t> </a:t>
            </a:r>
            <a:r>
              <a:rPr lang="en-ID" sz="2400" dirty="0" err="1"/>
              <a:t>sebelum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penilaian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penuh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 err="1"/>
              <a:t>Hubungan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kualifikasi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memungkinkan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ditransfer</a:t>
            </a:r>
            <a:r>
              <a:rPr lang="en-ID" sz="2400" dirty="0"/>
              <a:t>, dan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 </a:t>
            </a:r>
            <a:r>
              <a:rPr lang="en-ID" sz="2400" dirty="0" err="1"/>
              <a:t>digambarkan</a:t>
            </a:r>
            <a:r>
              <a:rPr lang="en-ID" sz="2400" dirty="0"/>
              <a:t> pada Gambar 4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52081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94F6-07A4-5005-CC6B-842AA83FB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8714"/>
            <a:ext cx="10515600" cy="55782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4DB23C-1CCA-4699-651C-B64051389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86" y="746353"/>
            <a:ext cx="9258300" cy="557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22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4C459-DE0C-B173-9170-039CB791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CHARACTERISTICS OF COMPETENCIES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3D4E0-16A0-0C57-B763-7E844B62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Kompetensi</a:t>
            </a:r>
            <a:r>
              <a:rPr lang="en-ID" sz="2400" dirty="0"/>
              <a:t> WMO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karakteristik</a:t>
            </a:r>
            <a:r>
              <a:rPr lang="en-ID" sz="2400" dirty="0"/>
              <a:t> yang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bertahan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ujian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dan,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variasi</a:t>
            </a:r>
            <a:r>
              <a:rPr lang="en-ID" sz="2400" dirty="0"/>
              <a:t> di </a:t>
            </a:r>
            <a:r>
              <a:rPr lang="en-ID" sz="2400" dirty="0" err="1"/>
              <a:t>seluruh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dan wilayah 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nb-NO" sz="2400" dirty="0"/>
              <a:t>Kompetensi membahas fungsi pekerjaan tertentu (</a:t>
            </a:r>
            <a:r>
              <a:rPr lang="en-US" sz="2400" dirty="0"/>
              <a:t>Competencies address specific job functions.)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ada</a:t>
            </a:r>
            <a:r>
              <a:rPr lang="en-US" sz="2200" dirty="0"/>
              <a:t> </a:t>
            </a:r>
            <a:r>
              <a:rPr lang="en-US" sz="2200" dirty="0" err="1"/>
              <a:t>kompetensi</a:t>
            </a:r>
            <a:r>
              <a:rPr lang="en-US" sz="2200" dirty="0"/>
              <a:t> </a:t>
            </a:r>
            <a:r>
              <a:rPr lang="en-US" sz="2200" dirty="0" err="1"/>
              <a:t>dasar</a:t>
            </a:r>
            <a:r>
              <a:rPr lang="en-US" sz="2200" dirty="0"/>
              <a:t> </a:t>
            </a:r>
            <a:r>
              <a:rPr lang="en-US" sz="2200" dirty="0" err="1"/>
              <a:t>atau</a:t>
            </a:r>
            <a:r>
              <a:rPr lang="en-US" sz="2200" dirty="0"/>
              <a:t> </a:t>
            </a:r>
            <a:r>
              <a:rPr lang="en-US" sz="2200" dirty="0" err="1"/>
              <a:t>lanjutan</a:t>
            </a:r>
            <a:r>
              <a:rPr lang="en-US" sz="2200" dirty="0"/>
              <a:t>, </a:t>
            </a:r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kompetensi</a:t>
            </a:r>
            <a:r>
              <a:rPr lang="en-US" sz="2200" dirty="0"/>
              <a:t> yang </a:t>
            </a:r>
            <a:r>
              <a:rPr lang="en-US" sz="2200" dirty="0" err="1"/>
              <a:t>sesuai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fungsi</a:t>
            </a:r>
            <a:r>
              <a:rPr lang="en-US" sz="2200" dirty="0"/>
              <a:t> </a:t>
            </a:r>
            <a:r>
              <a:rPr lang="en-US" sz="2200" dirty="0" err="1"/>
              <a:t>pekerjaan</a:t>
            </a:r>
            <a:r>
              <a:rPr lang="en-US" sz="2200" dirty="0"/>
              <a:t> yang </a:t>
            </a:r>
            <a:r>
              <a:rPr lang="en-US" sz="2200" dirty="0" err="1"/>
              <a:t>berbeda</a:t>
            </a:r>
            <a:r>
              <a:rPr lang="en-US" sz="2200" dirty="0"/>
              <a:t>, </a:t>
            </a:r>
            <a:r>
              <a:rPr lang="en-US" sz="2200" dirty="0" err="1"/>
              <a:t>dimana</a:t>
            </a:r>
            <a:r>
              <a:rPr lang="en-US" sz="2200" dirty="0"/>
              <a:t> </a:t>
            </a:r>
            <a:r>
              <a:rPr lang="en-US" sz="2200" dirty="0" err="1"/>
              <a:t>apa</a:t>
            </a:r>
            <a:r>
              <a:rPr lang="en-US" sz="2200" dirty="0"/>
              <a:t> yang </a:t>
            </a:r>
            <a:r>
              <a:rPr lang="en-US" sz="2200" dirty="0" err="1"/>
              <a:t>harus</a:t>
            </a:r>
            <a:r>
              <a:rPr lang="en-US" sz="2200" dirty="0"/>
              <a:t> </a:t>
            </a:r>
            <a:r>
              <a:rPr lang="en-US" sz="2200" dirty="0" err="1"/>
              <a:t>dilakukan</a:t>
            </a:r>
            <a:r>
              <a:rPr lang="en-US" sz="2200" dirty="0"/>
              <a:t>. </a:t>
            </a:r>
            <a:r>
              <a:rPr lang="en-US" sz="2200" dirty="0" err="1"/>
              <a:t>Namun</a:t>
            </a:r>
            <a:r>
              <a:rPr lang="en-US" sz="2200" dirty="0"/>
              <a:t>, </a:t>
            </a:r>
            <a:r>
              <a:rPr lang="en-US" sz="2200" dirty="0" err="1"/>
              <a:t>mereka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secara</a:t>
            </a:r>
            <a:r>
              <a:rPr lang="en-US" sz="2200" dirty="0"/>
              <a:t> </a:t>
            </a:r>
            <a:r>
              <a:rPr lang="en-US" sz="2200" dirty="0" err="1"/>
              <a:t>khusus</a:t>
            </a:r>
            <a:r>
              <a:rPr lang="en-US" sz="2200" dirty="0"/>
              <a:t> </a:t>
            </a:r>
            <a:r>
              <a:rPr lang="en-US" sz="2200" dirty="0" err="1"/>
              <a:t>mendefinisikan</a:t>
            </a:r>
            <a:r>
              <a:rPr lang="en-US" sz="2200" dirty="0"/>
              <a:t> </a:t>
            </a:r>
            <a:r>
              <a:rPr lang="en-US" sz="2200" dirty="0" err="1"/>
              <a:t>tingkat</a:t>
            </a:r>
            <a:r>
              <a:rPr lang="en-US" sz="2200" dirty="0"/>
              <a:t> </a:t>
            </a:r>
            <a:r>
              <a:rPr lang="en-US" sz="2200" dirty="0" err="1"/>
              <a:t>keterampilan</a:t>
            </a:r>
            <a:r>
              <a:rPr lang="en-US" sz="2200" dirty="0"/>
              <a:t> yang </a:t>
            </a:r>
            <a:r>
              <a:rPr lang="en-US" sz="2200" dirty="0" err="1"/>
              <a:t>diharapkan</a:t>
            </a:r>
            <a:r>
              <a:rPr lang="en-US" sz="2200" dirty="0"/>
              <a:t>, yang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tumbuh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pengalaman</a:t>
            </a:r>
            <a:r>
              <a:rPr lang="en-US" sz="2200" dirty="0"/>
              <a:t> dan </a:t>
            </a:r>
            <a:r>
              <a:rPr lang="en-US" sz="2200" dirty="0" err="1"/>
              <a:t>pengembangan</a:t>
            </a:r>
            <a:r>
              <a:rPr lang="en-US" sz="2200" dirty="0"/>
              <a:t> </a:t>
            </a:r>
            <a:r>
              <a:rPr lang="en-US" sz="2200" dirty="0" err="1"/>
              <a:t>profesional</a:t>
            </a:r>
            <a:r>
              <a:rPr lang="en-US" sz="2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5611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8F049-3401-288F-1870-1D6A6A6A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35429"/>
            <a:ext cx="9603275" cy="5030917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sz="2400" dirty="0"/>
              <a:t>Top-level competencies are static and independent of technology (</a:t>
            </a:r>
            <a:r>
              <a:rPr lang="en-US" sz="2400" dirty="0" err="1"/>
              <a:t>Kompetensi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 </a:t>
            </a:r>
            <a:r>
              <a:rPr lang="en-US" sz="2400" dirty="0" err="1"/>
              <a:t>bersifat</a:t>
            </a:r>
            <a:r>
              <a:rPr lang="en-US" sz="2400" dirty="0"/>
              <a:t> statis dan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bergantung</a:t>
            </a:r>
            <a:r>
              <a:rPr lang="en-US" sz="2400" dirty="0"/>
              <a:t> pada </a:t>
            </a:r>
            <a:r>
              <a:rPr lang="en-US" sz="2400" dirty="0" err="1"/>
              <a:t>teknologi</a:t>
            </a:r>
            <a:r>
              <a:rPr lang="en-US" sz="2400" dirty="0"/>
              <a:t>).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dirty="0" err="1"/>
              <a:t>didefinisikan</a:t>
            </a:r>
            <a:r>
              <a:rPr lang="en-ID" sz="2200" dirty="0"/>
              <a:t> </a:t>
            </a:r>
            <a:r>
              <a:rPr lang="en-ID" sz="2200" dirty="0" err="1"/>
              <a:t>sedemikian</a:t>
            </a:r>
            <a:r>
              <a:rPr lang="en-ID" sz="2200" dirty="0"/>
              <a:t> </a:t>
            </a:r>
            <a:r>
              <a:rPr lang="en-ID" sz="2200" dirty="0" err="1"/>
              <a:t>rupa</a:t>
            </a:r>
            <a:r>
              <a:rPr lang="en-ID" sz="2200" dirty="0"/>
              <a:t> </a:t>
            </a:r>
            <a:r>
              <a:rPr lang="en-ID" sz="2200" dirty="0" err="1"/>
              <a:t>sehingga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memerlukan</a:t>
            </a:r>
            <a:r>
              <a:rPr lang="en-ID" sz="2200" dirty="0"/>
              <a:t> </a:t>
            </a:r>
            <a:r>
              <a:rPr lang="en-ID" sz="2200" dirty="0" err="1"/>
              <a:t>perubahan</a:t>
            </a:r>
            <a:r>
              <a:rPr lang="en-ID" sz="2200" dirty="0"/>
              <a:t> yang </a:t>
            </a:r>
            <a:r>
              <a:rPr lang="en-ID" sz="2200" dirty="0" err="1"/>
              <a:t>signifikan</a:t>
            </a:r>
            <a:r>
              <a:rPr lang="en-ID" sz="2200" dirty="0"/>
              <a:t> </a:t>
            </a:r>
            <a:r>
              <a:rPr lang="en-ID" sz="2200" dirty="0" err="1"/>
              <a:t>dari</a:t>
            </a:r>
            <a:r>
              <a:rPr lang="en-ID" sz="2200" dirty="0"/>
              <a:t> </a:t>
            </a:r>
            <a:r>
              <a:rPr lang="en-ID" sz="2200" dirty="0" err="1"/>
              <a:t>waktu</a:t>
            </a:r>
            <a:r>
              <a:rPr lang="en-ID" sz="2200" dirty="0"/>
              <a:t> </a:t>
            </a:r>
            <a:r>
              <a:rPr lang="en-ID" sz="2200" dirty="0" err="1"/>
              <a:t>ke</a:t>
            </a:r>
            <a:r>
              <a:rPr lang="en-ID" sz="2200" dirty="0"/>
              <a:t> </a:t>
            </a:r>
            <a:r>
              <a:rPr lang="en-ID" sz="2200" dirty="0" err="1"/>
              <a:t>waktu</a:t>
            </a:r>
            <a:r>
              <a:rPr lang="en-ID" sz="2200" dirty="0"/>
              <a:t>. </a:t>
            </a:r>
            <a:r>
              <a:rPr lang="en-ID" sz="2200" dirty="0" err="1"/>
              <a:t>Pengenalan</a:t>
            </a:r>
            <a:r>
              <a:rPr lang="en-ID" sz="2200" dirty="0"/>
              <a:t> </a:t>
            </a:r>
            <a:r>
              <a:rPr lang="en-ID" sz="2200" dirty="0" err="1"/>
              <a:t>alat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data </a:t>
            </a:r>
            <a:r>
              <a:rPr lang="en-ID" sz="2200" dirty="0" err="1"/>
              <a:t>baru</a:t>
            </a:r>
            <a:r>
              <a:rPr lang="en-ID" sz="2200" dirty="0"/>
              <a:t> </a:t>
            </a: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mengubah</a:t>
            </a:r>
            <a:r>
              <a:rPr lang="en-ID" sz="2200" dirty="0"/>
              <a:t> </a:t>
            </a:r>
            <a:r>
              <a:rPr lang="en-ID" sz="2200" dirty="0" err="1"/>
              <a:t>tanggung</a:t>
            </a:r>
            <a:r>
              <a:rPr lang="en-ID" sz="2200" dirty="0"/>
              <a:t> </a:t>
            </a:r>
            <a:r>
              <a:rPr lang="en-ID" sz="2200" dirty="0" err="1"/>
              <a:t>jawab</a:t>
            </a:r>
            <a:r>
              <a:rPr lang="en-ID" sz="2200" dirty="0"/>
              <a:t> </a:t>
            </a:r>
            <a:r>
              <a:rPr lang="en-ID" sz="2200" dirty="0" err="1"/>
              <a:t>atau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tugas</a:t>
            </a:r>
            <a:r>
              <a:rPr lang="en-ID" sz="2200" dirty="0"/>
              <a:t>, </a:t>
            </a:r>
            <a:r>
              <a:rPr lang="en-ID" sz="2200" dirty="0" err="1"/>
              <a:t>bahkan</a:t>
            </a:r>
            <a:r>
              <a:rPr lang="en-ID" sz="2200" dirty="0"/>
              <a:t> </a:t>
            </a:r>
            <a:r>
              <a:rPr lang="en-ID" sz="2200" dirty="0" err="1"/>
              <a:t>jika</a:t>
            </a:r>
            <a:r>
              <a:rPr lang="en-ID" sz="2200" dirty="0"/>
              <a:t> </a:t>
            </a:r>
            <a:r>
              <a:rPr lang="en-ID" sz="2200" dirty="0" err="1"/>
              <a:t>itu</a:t>
            </a:r>
            <a:r>
              <a:rPr lang="en-ID" sz="2200" dirty="0"/>
              <a:t> </a:t>
            </a:r>
            <a:r>
              <a:rPr lang="en-ID" sz="2200" dirty="0" err="1"/>
              <a:t>akan</a:t>
            </a:r>
            <a:r>
              <a:rPr lang="en-ID" sz="2200" dirty="0"/>
              <a:t> </a:t>
            </a:r>
            <a:r>
              <a:rPr lang="en-ID" sz="2200" dirty="0" err="1"/>
              <a:t>diselesaikan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cara</a:t>
            </a:r>
            <a:r>
              <a:rPr lang="en-ID" sz="2200" dirty="0"/>
              <a:t> yang </a:t>
            </a:r>
            <a:r>
              <a:rPr lang="en-ID" sz="2200" dirty="0" err="1"/>
              <a:t>berbeda</a:t>
            </a:r>
            <a:r>
              <a:rPr lang="en-ID" sz="2200" dirty="0"/>
              <a:t>.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memilih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mengadaptasi</a:t>
            </a:r>
            <a:r>
              <a:rPr lang="en-ID" sz="2200" dirty="0"/>
              <a:t>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tingkat</a:t>
            </a:r>
            <a:r>
              <a:rPr lang="en-ID" sz="2200" dirty="0"/>
              <a:t> </a:t>
            </a:r>
            <a:r>
              <a:rPr lang="en-ID" sz="2200" dirty="0" err="1"/>
              <a:t>kedua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teknologi</a:t>
            </a:r>
            <a:r>
              <a:rPr lang="en-ID" sz="2200" dirty="0"/>
              <a:t> </a:t>
            </a:r>
            <a:r>
              <a:rPr lang="en-ID" sz="2200" dirty="0" err="1"/>
              <a:t>spesifik</a:t>
            </a:r>
            <a:r>
              <a:rPr lang="en-ID" sz="2200" dirty="0"/>
              <a:t> yang </a:t>
            </a:r>
            <a:r>
              <a:rPr lang="en-ID" sz="2200" dirty="0" err="1"/>
              <a:t>digunakan</a:t>
            </a:r>
            <a:r>
              <a:rPr lang="en-ID" sz="2200" dirty="0"/>
              <a:t> di area </a:t>
            </a:r>
            <a:r>
              <a:rPr lang="en-ID" sz="2200" dirty="0" err="1"/>
              <a:t>layanan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2168662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A2AA-357E-6CD2-A9AA-744396060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381000"/>
            <a:ext cx="9603275" cy="5085346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US" sz="2400" dirty="0"/>
              <a:t>Competencies are generic for the service area and are adaptable (</a:t>
            </a:r>
            <a:r>
              <a:rPr lang="nn-NO" sz="2400" dirty="0"/>
              <a:t>Kompetensi bersifat umum untuk area layanan dan itu dapat disesuaikan)</a:t>
            </a:r>
            <a:endParaRPr lang="en-US" sz="24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secara</a:t>
            </a:r>
            <a:r>
              <a:rPr lang="en-ID" sz="2200" dirty="0"/>
              <a:t> </a:t>
            </a:r>
            <a:r>
              <a:rPr lang="en-ID" sz="2200" dirty="0" err="1"/>
              <a:t>luas</a:t>
            </a:r>
            <a:r>
              <a:rPr lang="en-ID" sz="2200" dirty="0"/>
              <a:t> </a:t>
            </a:r>
            <a:r>
              <a:rPr lang="en-ID" sz="2200" dirty="0" err="1"/>
              <a:t>menggambarkan</a:t>
            </a:r>
            <a:r>
              <a:rPr lang="en-ID" sz="2200" dirty="0"/>
              <a:t> </a:t>
            </a:r>
            <a:r>
              <a:rPr lang="en-ID" sz="2200" dirty="0" err="1"/>
              <a:t>persyaratan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per </a:t>
            </a:r>
            <a:r>
              <a:rPr lang="en-ID" sz="2200" dirty="0" err="1"/>
              <a:t>fungsi</a:t>
            </a:r>
            <a:r>
              <a:rPr lang="en-ID" sz="2200" dirty="0"/>
              <a:t> </a:t>
            </a:r>
            <a:r>
              <a:rPr lang="en-ID" sz="2200" dirty="0" err="1"/>
              <a:t>pekerjaan</a:t>
            </a:r>
            <a:r>
              <a:rPr lang="en-ID" sz="2200" dirty="0"/>
              <a:t>. Hal </a:t>
            </a:r>
            <a:r>
              <a:rPr lang="en-ID" sz="2200" dirty="0" err="1"/>
              <a:t>ini</a:t>
            </a:r>
            <a:r>
              <a:rPr lang="en-ID" sz="2200" dirty="0"/>
              <a:t> agar framework </a:t>
            </a:r>
            <a:r>
              <a:rPr lang="en-ID" sz="2200" dirty="0" err="1"/>
              <a:t>tersebut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diterapkan</a:t>
            </a:r>
            <a:r>
              <a:rPr lang="en-ID" sz="2200" dirty="0"/>
              <a:t> di </a:t>
            </a:r>
            <a:r>
              <a:rPr lang="en-ID" sz="2200" dirty="0" err="1"/>
              <a:t>setiap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Anggota</a:t>
            </a:r>
            <a:r>
              <a:rPr lang="en-ID" sz="2200" dirty="0"/>
              <a:t>.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diminta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menyesuaikan</a:t>
            </a:r>
            <a:r>
              <a:rPr lang="en-ID" sz="2200" dirty="0"/>
              <a:t> </a:t>
            </a:r>
            <a:r>
              <a:rPr lang="en-ID" sz="2200" dirty="0" err="1"/>
              <a:t>kerangka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memenuhi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</a:t>
            </a:r>
            <a:r>
              <a:rPr lang="en-ID" sz="2200" dirty="0" err="1"/>
              <a:t>operasional</a:t>
            </a:r>
            <a:r>
              <a:rPr lang="en-ID" sz="2200" dirty="0"/>
              <a:t> </a:t>
            </a:r>
            <a:r>
              <a:rPr lang="en-ID" sz="2200" dirty="0" err="1"/>
              <a:t>spesifik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. </a:t>
            </a:r>
            <a:r>
              <a:rPr lang="en-ID" sz="2200" dirty="0" err="1"/>
              <a:t>Informasi</a:t>
            </a:r>
            <a:r>
              <a:rPr lang="en-ID" sz="2200" dirty="0"/>
              <a:t> </a:t>
            </a:r>
            <a:r>
              <a:rPr lang="en-ID" sz="2200" dirty="0" err="1"/>
              <a:t>lebih</a:t>
            </a:r>
            <a:r>
              <a:rPr lang="en-ID" sz="2200" dirty="0"/>
              <a:t> </a:t>
            </a:r>
            <a:r>
              <a:rPr lang="en-ID" sz="2200" dirty="0" err="1"/>
              <a:t>lanjut</a:t>
            </a:r>
            <a:r>
              <a:rPr lang="en-ID" sz="2200" dirty="0"/>
              <a:t> </a:t>
            </a:r>
            <a:r>
              <a:rPr lang="en-ID" sz="2200" dirty="0" err="1"/>
              <a:t>tentang</a:t>
            </a:r>
            <a:r>
              <a:rPr lang="en-ID" sz="2200" dirty="0"/>
              <a:t> </a:t>
            </a:r>
            <a:r>
              <a:rPr lang="en-ID" sz="2200" dirty="0" err="1"/>
              <a:t>bagaimana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mengadaptasi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525988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8C89-6E1F-2F13-7EA7-1DB8D9B4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2400" b="1"/>
              <a:t>THE ON GOING </a:t>
            </a:r>
            <a:r>
              <a:rPr lang="en-ID" sz="2400" b="1" dirty="0"/>
              <a:t>COMPETENCY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4756-CBF8-9263-9608-C2B2B2D6D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Pendekatan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proses yang </a:t>
            </a:r>
            <a:r>
              <a:rPr lang="en-ID" sz="2400" dirty="0" err="1"/>
              <a:t>sistematis</a:t>
            </a:r>
            <a:r>
              <a:rPr lang="en-ID" sz="2400" dirty="0"/>
              <a:t> </a:t>
            </a:r>
            <a:r>
              <a:rPr lang="en-ID" sz="2400" dirty="0" err="1"/>
              <a:t>dimana</a:t>
            </a:r>
            <a:r>
              <a:rPr lang="en-ID" sz="2400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sz="2400" dirty="0" err="1"/>
              <a:t>Pengetahuan</a:t>
            </a:r>
            <a:r>
              <a:rPr lang="en-ID" sz="2400" dirty="0"/>
              <a:t>,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perilaku</a:t>
            </a:r>
            <a:r>
              <a:rPr lang="en-ID" sz="2400" dirty="0"/>
              <a:t> dan </a:t>
            </a:r>
            <a:r>
              <a:rPr lang="en-ID" sz="2400" dirty="0" err="1"/>
              <a:t>kriteria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berbagai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.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yang </a:t>
            </a: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WMO,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pertama-tama</a:t>
            </a:r>
            <a:r>
              <a:rPr lang="en-ID" sz="2400" dirty="0"/>
              <a:t> </a:t>
            </a:r>
            <a:r>
              <a:rPr lang="en-ID" sz="2400" dirty="0" err="1"/>
              <a:t>memerlukan</a:t>
            </a:r>
            <a:r>
              <a:rPr lang="en-ID" sz="2400" dirty="0"/>
              <a:t> </a:t>
            </a:r>
            <a:r>
              <a:rPr lang="en-ID" sz="2400" dirty="0" err="1"/>
              <a:t>penyesuaian</a:t>
            </a:r>
            <a:r>
              <a:rPr lang="en-ID" sz="2400" dirty="0"/>
              <a:t> </a:t>
            </a:r>
            <a:r>
              <a:rPr lang="en-ID" sz="2400" dirty="0" err="1"/>
              <a:t>kriteria</a:t>
            </a:r>
            <a:r>
              <a:rPr lang="en-ID" sz="2400" dirty="0"/>
              <a:t> yang </a:t>
            </a:r>
            <a:r>
              <a:rPr lang="en-ID" sz="2400" dirty="0" err="1"/>
              <a:t>ditentukan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mengukur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kriteria</a:t>
            </a:r>
            <a:r>
              <a:rPr lang="en-ID" sz="2400" dirty="0"/>
              <a:t>, </a:t>
            </a:r>
            <a:r>
              <a:rPr lang="en-ID" sz="2400" dirty="0" err="1"/>
              <a:t>maka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penilaian</a:t>
            </a:r>
            <a:r>
              <a:rPr lang="en-ID" sz="2400" dirty="0"/>
              <a:t> yang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perkembangan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668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C33E-A2F4-E8D6-6B11-2C3FC5A9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Lanjutan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697CC-555B-9844-53B3-CEB20EC44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diukur</a:t>
            </a:r>
            <a:r>
              <a:rPr lang="en-ID" sz="2400" dirty="0"/>
              <a:t> </a:t>
            </a:r>
            <a:r>
              <a:rPr lang="en-ID" sz="2400" dirty="0" err="1"/>
              <a:t>terhadap</a:t>
            </a:r>
            <a:r>
              <a:rPr lang="en-ID" sz="2400" dirty="0"/>
              <a:t> </a:t>
            </a:r>
            <a:r>
              <a:rPr lang="en-ID" sz="2400" dirty="0" err="1"/>
              <a:t>kriteria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;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ID" sz="2400" dirty="0"/>
              <a:t>Ketika </a:t>
            </a:r>
            <a:r>
              <a:rPr lang="en-ID" sz="2400" dirty="0" err="1"/>
              <a:t>terjadi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, </a:t>
            </a:r>
            <a:r>
              <a:rPr lang="en-ID" sz="2400" dirty="0" err="1"/>
              <a:t>maka</a:t>
            </a:r>
            <a:r>
              <a:rPr lang="en-ID" sz="2400" dirty="0"/>
              <a:t>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yang </a:t>
            </a:r>
            <a:r>
              <a:rPr lang="en-ID" sz="2400" dirty="0" err="1"/>
              <a:t>relevan</a:t>
            </a:r>
            <a:r>
              <a:rPr lang="en-ID" sz="2400" dirty="0"/>
              <a:t>;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dinilai</a:t>
            </a:r>
            <a:r>
              <a:rPr lang="en-ID" sz="2400" dirty="0"/>
              <a:t>/</a:t>
            </a:r>
            <a:r>
              <a:rPr lang="en-ID" sz="2400" dirty="0" err="1"/>
              <a:t>dievaluasi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menggunakan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yang </a:t>
            </a:r>
            <a:r>
              <a:rPr lang="en-ID" sz="2400" dirty="0" err="1"/>
              <a:t>ditentukan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melihat</a:t>
            </a:r>
            <a:r>
              <a:rPr lang="en-ID" sz="2400" dirty="0"/>
              <a:t> </a:t>
            </a:r>
            <a:r>
              <a:rPr lang="en-ID" sz="2400" dirty="0" err="1"/>
              <a:t>apakah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telah</a:t>
            </a:r>
            <a:r>
              <a:rPr lang="en-ID" sz="2400" dirty="0"/>
              <a:t> </a:t>
            </a:r>
            <a:r>
              <a:rPr lang="en-ID" sz="2400" dirty="0" err="1"/>
              <a:t>terpenuhi</a:t>
            </a:r>
            <a:r>
              <a:rPr lang="en-ID" sz="2400" dirty="0"/>
              <a:t> </a:t>
            </a:r>
            <a:r>
              <a:rPr lang="en-ID" sz="2400" dirty="0" err="1"/>
              <a:t>setelah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?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ID" sz="2400" dirty="0"/>
              <a:t>Langkah 1 </a:t>
            </a:r>
            <a:r>
              <a:rPr lang="en-ID" sz="2400" dirty="0" err="1"/>
              <a:t>hingga</a:t>
            </a:r>
            <a:r>
              <a:rPr lang="en-ID" sz="2400" dirty="0"/>
              <a:t> 5 </a:t>
            </a:r>
            <a:r>
              <a:rPr lang="en-ID" sz="2400" dirty="0" err="1"/>
              <a:t>didokumentasikan</a:t>
            </a:r>
            <a:r>
              <a:rPr lang="en-ID" sz="2400" dirty="0"/>
              <a:t> </a:t>
            </a:r>
            <a:r>
              <a:rPr lang="en-ID" sz="2400" dirty="0" err="1"/>
              <a:t>sesuai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endParaRPr lang="en-ID" sz="2400" dirty="0"/>
          </a:p>
          <a:p>
            <a:pPr marL="0" indent="0" algn="just">
              <a:buNone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692719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001B-B98E-7F9C-7AA2-6509D0ED9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5886"/>
            <a:ext cx="10515600" cy="33147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menjaga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r>
              <a:rPr lang="en-ID" sz="2400" dirty="0"/>
              <a:t> QMS </a:t>
            </a:r>
            <a:r>
              <a:rPr lang="en-ID" sz="2400" dirty="0" err="1"/>
              <a:t>maka</a:t>
            </a:r>
            <a:r>
              <a:rPr lang="en-ID" sz="2400" dirty="0"/>
              <a:t> Langkah 4 dan 5 </a:t>
            </a:r>
            <a:r>
              <a:rPr lang="en-ID" sz="2400" dirty="0" err="1"/>
              <a:t>berlanjut</a:t>
            </a:r>
            <a:r>
              <a:rPr lang="en-ID" sz="2400" dirty="0"/>
              <a:t> </a:t>
            </a:r>
            <a:r>
              <a:rPr lang="en-ID" sz="2400" dirty="0" err="1"/>
              <a:t>sampai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</a:t>
            </a:r>
            <a:r>
              <a:rPr lang="en-ID" sz="2400" dirty="0" err="1"/>
              <a:t>ditunjukkan</a:t>
            </a:r>
            <a:r>
              <a:rPr lang="en-ID" sz="2400" dirty="0"/>
              <a:t> </a:t>
            </a:r>
            <a:r>
              <a:rPr lang="en-ID" sz="2400" dirty="0" err="1"/>
              <a:t>sehingga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dipertahankan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</a:t>
            </a:r>
            <a:r>
              <a:rPr lang="en-ID" sz="2400" dirty="0" err="1"/>
              <a:t>ke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.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dan </a:t>
            </a:r>
            <a:r>
              <a:rPr lang="en-ID" sz="2400" dirty="0" err="1"/>
              <a:t>penilaian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yang </a:t>
            </a:r>
            <a:r>
              <a:rPr lang="en-ID" sz="2400" dirty="0" err="1"/>
              <a:t>berkelanjutan</a:t>
            </a:r>
            <a:r>
              <a:rPr lang="en-ID" sz="2400" dirty="0"/>
              <a:t> </a:t>
            </a:r>
            <a:r>
              <a:rPr lang="en-ID" sz="2400" dirty="0" err="1"/>
              <a:t>disebut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Panduan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sebagai</a:t>
            </a:r>
            <a:r>
              <a:rPr lang="en-ID" sz="2400" dirty="0"/>
              <a:t> </a:t>
            </a:r>
            <a:r>
              <a:rPr lang="en-ID" sz="2400" b="1" dirty="0" err="1"/>
              <a:t>sistem</a:t>
            </a:r>
            <a:r>
              <a:rPr lang="en-ID" sz="2400" b="1" dirty="0"/>
              <a:t> </a:t>
            </a:r>
            <a:r>
              <a:rPr lang="en-ID" sz="2400" b="1" dirty="0" err="1"/>
              <a:t>manajemen</a:t>
            </a:r>
            <a:r>
              <a:rPr lang="en-ID" sz="2400" b="1" dirty="0"/>
              <a:t> </a:t>
            </a:r>
            <a:r>
              <a:rPr lang="en-ID" sz="2400" b="1" dirty="0" err="1"/>
              <a:t>kompetensi</a:t>
            </a:r>
            <a:r>
              <a:rPr lang="en-ID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42770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84B3B-CBF7-9E5B-105D-2278CB03D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D" sz="2400" dirty="0"/>
              <a:t>Banyak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mengadopsi</a:t>
            </a:r>
            <a:r>
              <a:rPr lang="en-ID" sz="2400" dirty="0"/>
              <a:t> QMS, di </a:t>
            </a:r>
            <a:r>
              <a:rPr lang="en-ID" sz="2400" dirty="0" err="1"/>
              <a:t>beberapa</a:t>
            </a:r>
            <a:r>
              <a:rPr lang="en-ID" sz="2400" dirty="0"/>
              <a:t> area </a:t>
            </a:r>
            <a:r>
              <a:rPr lang="en-ID" sz="2400" dirty="0" err="1"/>
              <a:t>layanan</a:t>
            </a:r>
            <a:r>
              <a:rPr lang="en-ID" sz="2400" dirty="0"/>
              <a:t> (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penerbangan</a:t>
            </a:r>
            <a:r>
              <a:rPr lang="en-ID" sz="2400" dirty="0"/>
              <a:t>) </a:t>
            </a:r>
            <a:r>
              <a:rPr lang="en-ID" sz="2400" dirty="0" err="1"/>
              <a:t>penerapan</a:t>
            </a:r>
            <a:r>
              <a:rPr lang="en-ID" sz="2400" dirty="0"/>
              <a:t> QMS </a:t>
            </a:r>
            <a:r>
              <a:rPr lang="en-ID" sz="2400" dirty="0" err="1"/>
              <a:t>dimandatkan</a:t>
            </a:r>
            <a:r>
              <a:rPr lang="en-ID" sz="2400" dirty="0"/>
              <a:t> oleh badan </a:t>
            </a:r>
            <a:r>
              <a:rPr lang="en-ID" sz="2400" dirty="0" err="1"/>
              <a:t>pengatur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 (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Penerbangan</a:t>
            </a:r>
            <a:r>
              <a:rPr lang="en-ID" sz="2400" dirty="0"/>
              <a:t> </a:t>
            </a:r>
            <a:r>
              <a:rPr lang="en-ID" sz="2400" dirty="0" err="1"/>
              <a:t>Sipil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 (ICAO)).</a:t>
            </a:r>
          </a:p>
          <a:p>
            <a:pPr algn="just">
              <a:lnSpc>
                <a:spcPct val="150000"/>
              </a:lnSpc>
            </a:pPr>
            <a:r>
              <a:rPr lang="en-ID" sz="2400" dirty="0" err="1"/>
              <a:t>Implementasi</a:t>
            </a:r>
            <a:r>
              <a:rPr lang="en-ID" sz="2400" dirty="0"/>
              <a:t> QMS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pendorong</a:t>
            </a:r>
            <a:r>
              <a:rPr lang="en-ID" sz="2400" dirty="0"/>
              <a:t> </a:t>
            </a:r>
            <a:r>
              <a:rPr lang="en-ID" sz="2400" dirty="0" err="1"/>
              <a:t>utama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memiliki</a:t>
            </a:r>
            <a:r>
              <a:rPr lang="en-ID" sz="2400" dirty="0"/>
              <a:t> </a:t>
            </a:r>
            <a:r>
              <a:rPr lang="en-ID" sz="2400" dirty="0" err="1"/>
              <a:t>staf</a:t>
            </a:r>
            <a:r>
              <a:rPr lang="en-ID" sz="2400" dirty="0"/>
              <a:t> yang </a:t>
            </a:r>
            <a:r>
              <a:rPr lang="en-ID" sz="2400" dirty="0" err="1"/>
              <a:t>terbukti</a:t>
            </a:r>
            <a:r>
              <a:rPr lang="en-ID" sz="2400" dirty="0"/>
              <a:t> </a:t>
            </a:r>
            <a:r>
              <a:rPr lang="en-ID" sz="2400" dirty="0" err="1"/>
              <a:t>kompeten</a:t>
            </a:r>
            <a:r>
              <a:rPr lang="en-ID" sz="2400" dirty="0"/>
              <a:t> di </a:t>
            </a:r>
            <a:r>
              <a:rPr lang="en-ID" sz="2400" dirty="0" err="1"/>
              <a:t>seluruh</a:t>
            </a:r>
            <a:r>
              <a:rPr lang="en-ID" sz="2400" dirty="0"/>
              <a:t> area </a:t>
            </a:r>
            <a:r>
              <a:rPr lang="en-ID" sz="2400" dirty="0" err="1"/>
              <a:t>layanan</a:t>
            </a:r>
            <a:r>
              <a:rPr lang="en-ID" sz="2400" dirty="0"/>
              <a:t>. </a:t>
            </a:r>
            <a:r>
              <a:rPr lang="en-ID" sz="2400" dirty="0" err="1"/>
              <a:t>Pelaksanaan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dan </a:t>
            </a:r>
            <a:r>
              <a:rPr lang="en-ID" sz="2400" dirty="0" err="1"/>
              <a:t>penilaian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mutu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900620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E519D-4F10-1EA2-DDF3-9407C027F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500" y="685801"/>
            <a:ext cx="8654143" cy="5249236"/>
          </a:xfrm>
        </p:spPr>
      </p:pic>
    </p:spTree>
    <p:extLst>
      <p:ext uri="{BB962C8B-B14F-4D97-AF65-F5344CB8AC3E}">
        <p14:creationId xmlns:p14="http://schemas.microsoft.com/office/powerpoint/2010/main" val="100430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6679-5C8C-2DA4-F36B-9C25351D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BENEFITS OF ADOPTING A COMPETENCY FRAMEWORK</a:t>
            </a:r>
            <a:endParaRPr lang="en-ID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0F25E-804F-6D1E-52EB-9281C9C0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sedang</a:t>
            </a:r>
            <a:r>
              <a:rPr lang="en-ID" sz="2400" dirty="0"/>
              <a:t> </a:t>
            </a:r>
            <a:r>
              <a:rPr lang="en-ID" sz="2400" dirty="0" err="1"/>
              <a:t>dikembangkan</a:t>
            </a:r>
            <a:r>
              <a:rPr lang="en-ID" sz="2400" dirty="0"/>
              <a:t> di </a:t>
            </a:r>
            <a:r>
              <a:rPr lang="en-ID" sz="2400" dirty="0" err="1"/>
              <a:t>banyak</a:t>
            </a:r>
            <a:r>
              <a:rPr lang="en-ID" sz="2400" dirty="0"/>
              <a:t> </a:t>
            </a:r>
            <a:r>
              <a:rPr lang="en-ID" sz="2400" dirty="0" err="1"/>
              <a:t>profesi</a:t>
            </a:r>
            <a:r>
              <a:rPr lang="en-ID" sz="2400" dirty="0"/>
              <a:t> dan </a:t>
            </a:r>
            <a:r>
              <a:rPr lang="en-ID" sz="2400" dirty="0" err="1"/>
              <a:t>industri</a:t>
            </a:r>
            <a:r>
              <a:rPr lang="en-ID" sz="2400" dirty="0"/>
              <a:t>, </a:t>
            </a:r>
            <a:r>
              <a:rPr lang="en-ID" sz="2400" dirty="0" err="1"/>
              <a:t>termasuk</a:t>
            </a:r>
            <a:r>
              <a:rPr lang="en-ID" sz="2400" dirty="0"/>
              <a:t> yang </a:t>
            </a:r>
            <a:r>
              <a:rPr lang="en-ID" sz="2400" dirty="0" err="1"/>
              <a:t>terkait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, </a:t>
            </a:r>
            <a:r>
              <a:rPr lang="en-ID" sz="2400" dirty="0" err="1"/>
              <a:t>hidrologi</a:t>
            </a:r>
            <a:r>
              <a:rPr lang="en-ID" sz="2400" dirty="0"/>
              <a:t>, dan </a:t>
            </a:r>
            <a:r>
              <a:rPr lang="en-ID" sz="2400" dirty="0" err="1"/>
              <a:t>klimatologi</a:t>
            </a:r>
            <a:r>
              <a:rPr lang="en-ID" sz="2400" dirty="0"/>
              <a:t>. </a:t>
            </a:r>
            <a:r>
              <a:rPr lang="en-ID" sz="2400" dirty="0" err="1"/>
              <a:t>Beberapa</a:t>
            </a:r>
            <a:r>
              <a:rPr lang="en-ID" sz="2400" dirty="0"/>
              <a:t> </a:t>
            </a:r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diperoleh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penerapannya</a:t>
            </a:r>
            <a:r>
              <a:rPr lang="en-ID" sz="2400" dirty="0"/>
              <a:t> pada </a:t>
            </a:r>
            <a:r>
              <a:rPr lang="en-ID" sz="2400" dirty="0" err="1"/>
              <a:t>pemeliharaan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konteks</a:t>
            </a:r>
            <a:r>
              <a:rPr lang="en-ID" sz="2400" dirty="0"/>
              <a:t> </a:t>
            </a:r>
            <a:r>
              <a:rPr lang="en-ID" sz="2400" dirty="0" err="1"/>
              <a:t>nasional</a:t>
            </a:r>
            <a:r>
              <a:rPr lang="en-ID" sz="2400" dirty="0"/>
              <a:t> dan </a:t>
            </a:r>
            <a:r>
              <a:rPr lang="en-ID" sz="2400" dirty="0" err="1"/>
              <a:t>internasional</a:t>
            </a:r>
            <a:r>
              <a:rPr lang="en-ID" sz="2400" dirty="0"/>
              <a:t>. </a:t>
            </a:r>
            <a:r>
              <a:rPr lang="en-ID" sz="2400" dirty="0" err="1"/>
              <a:t>Implementasi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penyediaan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. 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Komisi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</a:t>
            </a:r>
            <a:r>
              <a:rPr lang="en-ID" sz="2400" dirty="0" err="1"/>
              <a:t>Aeronautika</a:t>
            </a:r>
            <a:r>
              <a:rPr lang="en-ID" sz="2400" dirty="0"/>
              <a:t> (</a:t>
            </a:r>
            <a:r>
              <a:rPr lang="en-ID" sz="2400" dirty="0" err="1"/>
              <a:t>CAeM</a:t>
            </a:r>
            <a:r>
              <a:rPr lang="en-ID" sz="2400" dirty="0"/>
              <a:t>) </a:t>
            </a:r>
            <a:r>
              <a:rPr lang="en-ID" sz="2400" dirty="0" err="1"/>
              <a:t>mencatat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salah </a:t>
            </a:r>
            <a:r>
              <a:rPr lang="en-ID" sz="2400" dirty="0" err="1"/>
              <a:t>satu</a:t>
            </a:r>
            <a:r>
              <a:rPr lang="en-ID" sz="2400" dirty="0"/>
              <a:t> </a:t>
            </a:r>
            <a:r>
              <a:rPr lang="en-ID" sz="2400" dirty="0" err="1"/>
              <a:t>manfaat</a:t>
            </a:r>
            <a:r>
              <a:rPr lang="en-ID" sz="2400" dirty="0"/>
              <a:t> </a:t>
            </a:r>
            <a:r>
              <a:rPr lang="en-ID" sz="2400" dirty="0" err="1"/>
              <a:t>jangka</a:t>
            </a:r>
            <a:r>
              <a:rPr lang="en-ID" sz="2400" dirty="0"/>
              <a:t> </a:t>
            </a:r>
            <a:r>
              <a:rPr lang="en-ID" sz="2400" dirty="0" err="1"/>
              <a:t>panjang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penerapan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standar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kualitas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yang </a:t>
            </a:r>
            <a:r>
              <a:rPr lang="en-ID" sz="2400" dirty="0" err="1"/>
              <a:t>disediakan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navigasi</a:t>
            </a:r>
            <a:r>
              <a:rPr lang="en-ID" sz="2400" dirty="0"/>
              <a:t> </a:t>
            </a:r>
            <a:r>
              <a:rPr lang="en-ID" sz="2400" dirty="0" err="1"/>
              <a:t>udara</a:t>
            </a:r>
            <a:r>
              <a:rPr lang="en-ID" sz="2400" dirty="0"/>
              <a:t> </a:t>
            </a:r>
            <a:r>
              <a:rPr lang="en-ID" sz="2400" dirty="0" err="1"/>
              <a:t>internasional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memastikan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personel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yang </a:t>
            </a:r>
            <a:r>
              <a:rPr lang="en-ID" sz="2400" dirty="0" err="1"/>
              <a:t>ditetapkan</a:t>
            </a:r>
            <a:r>
              <a:rPr lang="en-ID" sz="2400" dirty="0"/>
              <a:t>. </a:t>
            </a:r>
            <a:r>
              <a:rPr lang="en-ID" sz="2400" dirty="0" err="1"/>
              <a:t>kriteria</a:t>
            </a:r>
            <a:r>
              <a:rPr lang="en-ID" sz="2400" dirty="0"/>
              <a:t> </a:t>
            </a:r>
            <a:r>
              <a:rPr lang="en-ID" sz="2400" dirty="0" err="1"/>
              <a:t>kinerja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66238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4DDF3-78B4-7EFD-CD1B-E7B1C9551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8957" y="1959429"/>
            <a:ext cx="10515600" cy="358684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tujuan</a:t>
            </a:r>
            <a:r>
              <a:rPr lang="en-ID" sz="2400" dirty="0"/>
              <a:t> </a:t>
            </a:r>
            <a:r>
              <a:rPr lang="en-ID" sz="2400" dirty="0" err="1"/>
              <a:t>operasional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perangkat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evaluasi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analisis</a:t>
            </a:r>
            <a:r>
              <a:rPr lang="en-ID" sz="2400" dirty="0"/>
              <a:t> </a:t>
            </a:r>
            <a:r>
              <a:rPr lang="en-ID" sz="2400" dirty="0" err="1"/>
              <a:t>kesenjangan</a:t>
            </a:r>
            <a:r>
              <a:rPr lang="en-ID" sz="2400" dirty="0"/>
              <a:t> </a:t>
            </a:r>
            <a:r>
              <a:rPr lang="en-ID" sz="2400" dirty="0" err="1"/>
              <a:t>antara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, </a:t>
            </a:r>
            <a:r>
              <a:rPr lang="en-ID" sz="2400" dirty="0" err="1"/>
              <a:t>pengetahuan</a:t>
            </a:r>
            <a:r>
              <a:rPr lang="en-ID" sz="2400" dirty="0"/>
              <a:t> dan </a:t>
            </a:r>
            <a:r>
              <a:rPr lang="en-ID" sz="2400" dirty="0" err="1"/>
              <a:t>perilaku</a:t>
            </a:r>
            <a:r>
              <a:rPr lang="en-ID" sz="2400" dirty="0"/>
              <a:t> yang </a:t>
            </a:r>
            <a:r>
              <a:rPr lang="en-ID" sz="2400" dirty="0" err="1"/>
              <a:t>sebenarnya</a:t>
            </a:r>
            <a:r>
              <a:rPr lang="en-ID" sz="2400" dirty="0"/>
              <a:t>, dan </a:t>
            </a:r>
            <a:r>
              <a:rPr lang="en-ID" sz="2400" dirty="0" err="1"/>
              <a:t>keterampilan</a:t>
            </a:r>
            <a:r>
              <a:rPr lang="en-ID" sz="2400" dirty="0"/>
              <a:t>, </a:t>
            </a:r>
            <a:r>
              <a:rPr lang="en-ID" sz="2400" dirty="0" err="1"/>
              <a:t>pengetahuan</a:t>
            </a:r>
            <a:r>
              <a:rPr lang="en-ID" sz="2400" dirty="0"/>
              <a:t> dan </a:t>
            </a:r>
            <a:r>
              <a:rPr lang="en-ID" sz="2400" dirty="0" err="1"/>
              <a:t>perilaku</a:t>
            </a:r>
            <a:r>
              <a:rPr lang="en-ID" sz="2400" dirty="0"/>
              <a:t> yang </a:t>
            </a:r>
            <a:r>
              <a:rPr lang="en-ID" sz="2400" dirty="0" err="1"/>
              <a:t>diinginkan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pedoman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pelatih</a:t>
            </a:r>
            <a:r>
              <a:rPr lang="en-ID" sz="2400" dirty="0"/>
              <a:t>/mentor/</a:t>
            </a:r>
            <a:r>
              <a:rPr lang="en-ID" sz="2400" dirty="0" err="1"/>
              <a:t>manajer</a:t>
            </a:r>
            <a:r>
              <a:rPr lang="en-ID" sz="2400" dirty="0"/>
              <a:t> </a:t>
            </a:r>
            <a:r>
              <a:rPr lang="en-ID" sz="2400" dirty="0" err="1"/>
              <a:t>tentang</a:t>
            </a:r>
            <a:r>
              <a:rPr lang="en-ID" sz="2400" dirty="0"/>
              <a:t> </a:t>
            </a:r>
            <a:r>
              <a:rPr lang="en-ID" sz="2400" dirty="0" err="1"/>
              <a:t>perilaku</a:t>
            </a:r>
            <a:r>
              <a:rPr lang="en-ID" sz="2400" dirty="0"/>
              <a:t> </a:t>
            </a:r>
            <a:r>
              <a:rPr lang="en-ID" sz="2400" dirty="0" err="1"/>
              <a:t>spesifik</a:t>
            </a:r>
            <a:r>
              <a:rPr lang="en-ID" sz="2400" dirty="0"/>
              <a:t> yang </a:t>
            </a:r>
            <a:r>
              <a:rPr lang="en-ID" sz="2400" dirty="0" err="1"/>
              <a:t>perlu</a:t>
            </a:r>
            <a:r>
              <a:rPr lang="en-ID" sz="2400" dirty="0"/>
              <a:t> </a:t>
            </a:r>
            <a:r>
              <a:rPr lang="en-ID" sz="2400" dirty="0" err="1"/>
              <a:t>dikembangkan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098492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FAE6-30F9-4665-B560-88ACDAAF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Lanjutan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BC6BE-5406-B0F8-DBE0-EE812C8C0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D" sz="2200" dirty="0" err="1"/>
              <a:t>Memungkinkan</a:t>
            </a:r>
            <a:r>
              <a:rPr lang="en-ID" sz="2200" dirty="0"/>
              <a:t> </a:t>
            </a:r>
            <a:r>
              <a:rPr lang="en-ID" sz="2200" dirty="0" err="1"/>
              <a:t>pelatihan</a:t>
            </a:r>
            <a:r>
              <a:rPr lang="en-ID" sz="2200" dirty="0"/>
              <a:t> dan </a:t>
            </a:r>
            <a:r>
              <a:rPr lang="en-ID" sz="2200" dirty="0" err="1"/>
              <a:t>pengembangan</a:t>
            </a:r>
            <a:r>
              <a:rPr lang="en-ID" sz="2200" dirty="0"/>
              <a:t> </a:t>
            </a:r>
            <a:r>
              <a:rPr lang="en-ID" sz="2200" dirty="0" err="1"/>
              <a:t>sumber</a:t>
            </a:r>
            <a:r>
              <a:rPr lang="en-ID" sz="2200" dirty="0"/>
              <a:t> </a:t>
            </a:r>
            <a:r>
              <a:rPr lang="en-ID" sz="2200" dirty="0" err="1"/>
              <a:t>daya</a:t>
            </a:r>
            <a:r>
              <a:rPr lang="en-ID" sz="2200" dirty="0"/>
              <a:t> yang </a:t>
            </a:r>
            <a:r>
              <a:rPr lang="en-ID" sz="2200" dirty="0" err="1"/>
              <a:t>efektif</a:t>
            </a:r>
            <a:r>
              <a:rPr lang="en-ID" sz="2200" dirty="0"/>
              <a:t>, </a:t>
            </a:r>
            <a:r>
              <a:rPr lang="en-ID" sz="2200" dirty="0" err="1"/>
              <a:t>efisien</a:t>
            </a:r>
            <a:r>
              <a:rPr lang="en-ID" sz="2200" dirty="0"/>
              <a:t> dan </a:t>
            </a:r>
            <a:r>
              <a:rPr lang="en-ID" sz="2200" dirty="0" err="1"/>
              <a:t>terarah</a:t>
            </a:r>
            <a:r>
              <a:rPr lang="en-ID" sz="2200" dirty="0"/>
              <a:t>;</a:t>
            </a:r>
          </a:p>
          <a:p>
            <a:pPr algn="just"/>
            <a:r>
              <a:rPr lang="en-ID" sz="2200" dirty="0" err="1"/>
              <a:t>Memungkinkan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menentukan</a:t>
            </a:r>
            <a:r>
              <a:rPr lang="en-ID" sz="2200" dirty="0"/>
              <a:t> </a:t>
            </a:r>
            <a:r>
              <a:rPr lang="en-ID" sz="2200" dirty="0" err="1"/>
              <a:t>kebutuhan</a:t>
            </a:r>
            <a:r>
              <a:rPr lang="en-ID" sz="2200" dirty="0"/>
              <a:t> </a:t>
            </a:r>
            <a:r>
              <a:rPr lang="en-ID" sz="2200" dirty="0" err="1"/>
              <a:t>pelatihan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 yang </a:t>
            </a:r>
            <a:r>
              <a:rPr lang="en-ID" sz="2200" dirty="0" err="1"/>
              <a:t>sedang</a:t>
            </a:r>
            <a:r>
              <a:rPr lang="en-ID" sz="2200" dirty="0"/>
              <a:t> </a:t>
            </a:r>
            <a:r>
              <a:rPr lang="en-ID" sz="2200" dirty="0" err="1"/>
              <a:t>berlangsung</a:t>
            </a:r>
            <a:r>
              <a:rPr lang="en-ID" sz="2200" dirty="0"/>
              <a:t> </a:t>
            </a:r>
            <a:r>
              <a:rPr lang="en-ID" sz="2200" dirty="0" err="1"/>
              <a:t>melalui</a:t>
            </a:r>
            <a:r>
              <a:rPr lang="en-ID" sz="2200" dirty="0"/>
              <a:t> </a:t>
            </a:r>
            <a:r>
              <a:rPr lang="en-ID" sz="2200" dirty="0" err="1"/>
              <a:t>penilaian</a:t>
            </a:r>
            <a:r>
              <a:rPr lang="en-ID" sz="2200" dirty="0"/>
              <a:t> </a:t>
            </a:r>
            <a:r>
              <a:rPr lang="en-ID" sz="2200" dirty="0" err="1"/>
              <a:t>berkala</a:t>
            </a:r>
            <a:r>
              <a:rPr lang="en-ID" sz="2200" dirty="0"/>
              <a:t> </a:t>
            </a:r>
            <a:r>
              <a:rPr lang="en-ID" sz="2200" dirty="0" err="1"/>
              <a:t>terhadap</a:t>
            </a:r>
            <a:r>
              <a:rPr lang="en-ID" sz="2200" dirty="0"/>
              <a:t> </a:t>
            </a:r>
            <a:r>
              <a:rPr lang="en-ID" sz="2200" dirty="0" err="1"/>
              <a:t>individu</a:t>
            </a:r>
            <a:r>
              <a:rPr lang="en-ID" sz="2200" dirty="0"/>
              <a:t> </a:t>
            </a:r>
            <a:r>
              <a:rPr lang="en-ID" sz="2200" dirty="0" err="1"/>
              <a:t>terhadap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 yang </a:t>
            </a:r>
            <a:r>
              <a:rPr lang="en-ID" sz="2200" dirty="0" err="1"/>
              <a:t>dibutuhkan</a:t>
            </a:r>
            <a:r>
              <a:rPr lang="en-ID" sz="2200" dirty="0"/>
              <a:t>;</a:t>
            </a:r>
          </a:p>
          <a:p>
            <a:pPr algn="just"/>
            <a:r>
              <a:rPr lang="en-ID" sz="2200" dirty="0" err="1"/>
              <a:t>Membantu</a:t>
            </a:r>
            <a:r>
              <a:rPr lang="en-ID" sz="2200" dirty="0"/>
              <a:t> </a:t>
            </a:r>
            <a:r>
              <a:rPr lang="en-ID" sz="2200" dirty="0" err="1"/>
              <a:t>perencanaan</a:t>
            </a:r>
            <a:r>
              <a:rPr lang="en-ID" sz="2200" dirty="0"/>
              <a:t> </a:t>
            </a:r>
            <a:r>
              <a:rPr lang="en-ID" sz="2200" dirty="0" err="1"/>
              <a:t>karir</a:t>
            </a:r>
            <a:r>
              <a:rPr lang="en-ID" sz="2200" dirty="0"/>
              <a:t> dan </a:t>
            </a:r>
            <a:r>
              <a:rPr lang="en-ID" sz="2200" dirty="0" err="1"/>
              <a:t>suksesi</a:t>
            </a:r>
            <a:endParaRPr lang="en-ID" sz="2200" dirty="0"/>
          </a:p>
          <a:p>
            <a:pPr marL="0" indent="0" algn="just">
              <a:buNone/>
            </a:pP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784162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68B6-8A6B-CADC-B6AC-1A226F01C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543"/>
            <a:ext cx="10515600" cy="3630386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Manajemen</a:t>
            </a:r>
            <a:r>
              <a:rPr lang="en-ID" sz="2400" dirty="0"/>
              <a:t> </a:t>
            </a:r>
            <a:r>
              <a:rPr lang="en-ID" sz="2400" dirty="0" err="1"/>
              <a:t>perubahan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Penyediaan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meteorologi</a:t>
            </a:r>
            <a:r>
              <a:rPr lang="en-ID" sz="2400" dirty="0"/>
              <a:t> yang </a:t>
            </a:r>
            <a:r>
              <a:rPr lang="en-ID" sz="2400" dirty="0" err="1"/>
              <a:t>berubah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cepat</a:t>
            </a:r>
            <a:r>
              <a:rPr lang="en-ID" sz="2400" dirty="0"/>
              <a:t>, di mana area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berkembang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pengiriman</a:t>
            </a:r>
            <a:r>
              <a:rPr lang="en-ID" sz="2400" dirty="0"/>
              <a:t> </a:t>
            </a:r>
            <a:r>
              <a:rPr lang="en-ID" sz="2400" dirty="0" err="1"/>
              <a:t>produk</a:t>
            </a:r>
            <a:r>
              <a:rPr lang="en-ID" sz="2400" dirty="0"/>
              <a:t> </a:t>
            </a:r>
            <a:r>
              <a:rPr lang="en-ID" sz="2400" dirty="0" err="1"/>
              <a:t>perkiraan</a:t>
            </a:r>
            <a:r>
              <a:rPr lang="en-ID" sz="2400" dirty="0"/>
              <a:t> </a:t>
            </a:r>
            <a:r>
              <a:rPr lang="en-ID" sz="2400" dirty="0" err="1"/>
              <a:t>biasa</a:t>
            </a:r>
            <a:r>
              <a:rPr lang="en-ID" sz="2400" dirty="0"/>
              <a:t> </a:t>
            </a:r>
            <a:r>
              <a:rPr lang="en-ID" sz="2400" dirty="0" err="1"/>
              <a:t>menjadi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berbasis</a:t>
            </a:r>
            <a:r>
              <a:rPr lang="en-ID" sz="2400" dirty="0"/>
              <a:t> </a:t>
            </a:r>
            <a:r>
              <a:rPr lang="en-ID" sz="2400" dirty="0" err="1"/>
              <a:t>dampak</a:t>
            </a:r>
            <a:r>
              <a:rPr lang="en-ID" sz="2400" dirty="0"/>
              <a:t> yang </a:t>
            </a:r>
            <a:r>
              <a:rPr lang="en-ID" sz="2400" dirty="0" err="1"/>
              <a:t>berfokus</a:t>
            </a:r>
            <a:r>
              <a:rPr lang="en-ID" sz="2400" dirty="0"/>
              <a:t> pada </a:t>
            </a:r>
            <a:r>
              <a:rPr lang="en-ID" sz="2400" dirty="0" err="1"/>
              <a:t>pengguna</a:t>
            </a:r>
            <a:r>
              <a:rPr lang="en-ID" sz="2400" dirty="0"/>
              <a:t>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Menerapkan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yang </a:t>
            </a:r>
            <a:r>
              <a:rPr lang="en-ID" sz="2400" dirty="0" err="1"/>
              <a:t>memungkinkan</a:t>
            </a:r>
            <a:r>
              <a:rPr lang="en-ID" sz="2400" dirty="0"/>
              <a:t> </a:t>
            </a:r>
            <a:r>
              <a:rPr lang="en-ID" sz="2400" dirty="0" err="1"/>
              <a:t>organisasi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memahami</a:t>
            </a:r>
            <a:r>
              <a:rPr lang="en-ID" sz="2400" dirty="0"/>
              <a:t> di mana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sekarang</a:t>
            </a:r>
            <a:r>
              <a:rPr lang="en-ID" sz="2400" dirty="0"/>
              <a:t>, dan </a:t>
            </a:r>
            <a:r>
              <a:rPr lang="en-ID" sz="2400" dirty="0" err="1"/>
              <a:t>menyediakan</a:t>
            </a:r>
            <a:r>
              <a:rPr lang="en-ID" sz="2400" dirty="0"/>
              <a:t> </a:t>
            </a:r>
            <a:r>
              <a:rPr lang="en-ID" sz="2400" dirty="0" err="1"/>
              <a:t>alat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memetakan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pelatihan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keterampilan</a:t>
            </a:r>
            <a:r>
              <a:rPr lang="en-ID" sz="2400" dirty="0"/>
              <a:t> dan </a:t>
            </a:r>
            <a:r>
              <a:rPr lang="en-ID" sz="2400" dirty="0" err="1"/>
              <a:t>pengetahuan</a:t>
            </a:r>
            <a:r>
              <a:rPr lang="en-ID" sz="2400" dirty="0"/>
              <a:t> yang </a:t>
            </a:r>
            <a:r>
              <a:rPr lang="en-ID" sz="2400" dirty="0" err="1"/>
              <a:t>dibutuhkan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028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0BF32-9246-7A8A-B266-C258BC14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050" y="423519"/>
            <a:ext cx="9603275" cy="567081"/>
          </a:xfrm>
        </p:spPr>
        <p:txBody>
          <a:bodyPr>
            <a:normAutofit/>
          </a:bodyPr>
          <a:lstStyle/>
          <a:p>
            <a:r>
              <a:rPr lang="en-US" sz="2400" dirty="0" err="1"/>
              <a:t>Lanjutan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EE2E-DEA5-FB4B-088F-67AEDDB06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050" y="1371600"/>
            <a:ext cx="9603275" cy="4366888"/>
          </a:xfrm>
        </p:spPr>
        <p:txBody>
          <a:bodyPr>
            <a:normAutofit/>
          </a:bodyPr>
          <a:lstStyle/>
          <a:p>
            <a:pPr algn="just"/>
            <a:r>
              <a:rPr lang="en-ID" sz="2200" dirty="0"/>
              <a:t>Selain </a:t>
            </a:r>
            <a:r>
              <a:rPr lang="en-ID" sz="2200" dirty="0" err="1"/>
              <a:t>itu</a:t>
            </a:r>
            <a:r>
              <a:rPr lang="en-ID" sz="2200" dirty="0"/>
              <a:t>, </a:t>
            </a:r>
            <a:r>
              <a:rPr lang="en-ID" sz="2200" dirty="0" err="1"/>
              <a:t>metode</a:t>
            </a:r>
            <a:r>
              <a:rPr lang="en-ID" sz="2200" dirty="0"/>
              <a:t> dan </a:t>
            </a:r>
            <a:r>
              <a:rPr lang="en-ID" sz="2200" dirty="0" err="1"/>
              <a:t>teknologi</a:t>
            </a:r>
            <a:r>
              <a:rPr lang="en-ID" sz="2200" dirty="0"/>
              <a:t> </a:t>
            </a:r>
            <a:r>
              <a:rPr lang="en-ID" sz="2200" dirty="0" err="1"/>
              <a:t>penyampaian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akan</a:t>
            </a:r>
            <a:r>
              <a:rPr lang="en-ID" sz="2200" dirty="0"/>
              <a:t> </a:t>
            </a:r>
            <a:r>
              <a:rPr lang="en-ID" sz="2200" dirty="0" err="1"/>
              <a:t>berubah</a:t>
            </a:r>
            <a:r>
              <a:rPr lang="en-ID" sz="2200" dirty="0"/>
              <a:t> </a:t>
            </a:r>
            <a:r>
              <a:rPr lang="en-ID" sz="2200" dirty="0" err="1"/>
              <a:t>seiring</a:t>
            </a:r>
            <a:r>
              <a:rPr lang="en-ID" sz="2200" dirty="0"/>
              <a:t> </a:t>
            </a:r>
            <a:r>
              <a:rPr lang="en-ID" sz="2200" dirty="0" err="1"/>
              <a:t>waktu</a:t>
            </a:r>
            <a:r>
              <a:rPr lang="en-ID" sz="2200" dirty="0"/>
              <a:t>, </a:t>
            </a:r>
            <a:r>
              <a:rPr lang="en-ID" sz="2200" dirty="0" err="1"/>
              <a:t>kompetensi</a:t>
            </a:r>
            <a:r>
              <a:rPr lang="en-ID" sz="2200" dirty="0"/>
              <a:t> inti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penyediaan</a:t>
            </a:r>
            <a:r>
              <a:rPr lang="en-ID" sz="2200" dirty="0"/>
              <a:t> </a:t>
            </a:r>
            <a:r>
              <a:rPr lang="en-ID" sz="2200" dirty="0" err="1"/>
              <a:t>layanan</a:t>
            </a:r>
            <a:r>
              <a:rPr lang="en-ID" sz="2200" dirty="0"/>
              <a:t> </a:t>
            </a:r>
            <a:r>
              <a:rPr lang="en-ID" sz="2200" dirty="0" err="1"/>
              <a:t>akan</a:t>
            </a:r>
            <a:r>
              <a:rPr lang="en-ID" sz="2200" dirty="0"/>
              <a:t> </a:t>
            </a:r>
            <a:r>
              <a:rPr lang="en-ID" sz="2200" dirty="0" err="1"/>
              <a:t>tetap</a:t>
            </a:r>
            <a:r>
              <a:rPr lang="en-ID" sz="2200" dirty="0"/>
              <a:t> </a:t>
            </a:r>
            <a:r>
              <a:rPr lang="en-ID" sz="2200" dirty="0" err="1"/>
              <a:t>cukup</a:t>
            </a:r>
            <a:r>
              <a:rPr lang="en-ID" sz="2200" dirty="0"/>
              <a:t> statis. Oleh </a:t>
            </a:r>
            <a:r>
              <a:rPr lang="en-ID" sz="2200" dirty="0" err="1"/>
              <a:t>karena</a:t>
            </a:r>
            <a:r>
              <a:rPr lang="en-ID" sz="2200" dirty="0"/>
              <a:t> </a:t>
            </a:r>
            <a:r>
              <a:rPr lang="en-ID" sz="2200" dirty="0" err="1"/>
              <a:t>itu</a:t>
            </a:r>
            <a:r>
              <a:rPr lang="en-ID" sz="2200" dirty="0"/>
              <a:t>, </a:t>
            </a:r>
            <a:r>
              <a:rPr lang="en-ID" sz="2200" dirty="0" err="1"/>
              <a:t>kompetensi</a:t>
            </a:r>
            <a:r>
              <a:rPr lang="en-ID" sz="2200" dirty="0"/>
              <a:t> </a:t>
            </a:r>
            <a:r>
              <a:rPr lang="en-ID" sz="2200" dirty="0" err="1"/>
              <a:t>memberikan</a:t>
            </a:r>
            <a:r>
              <a:rPr lang="en-ID" sz="2200" dirty="0"/>
              <a:t> </a:t>
            </a:r>
            <a:r>
              <a:rPr lang="en-ID" sz="2200" dirty="0" err="1"/>
              <a:t>kontinuitas</a:t>
            </a:r>
            <a:r>
              <a:rPr lang="en-ID" sz="2200" dirty="0"/>
              <a:t>, </a:t>
            </a:r>
            <a:r>
              <a:rPr lang="en-ID" sz="2200" dirty="0" err="1"/>
              <a:t>konsistensi</a:t>
            </a:r>
            <a:r>
              <a:rPr lang="en-ID" sz="2200" dirty="0"/>
              <a:t> dan </a:t>
            </a:r>
            <a:r>
              <a:rPr lang="en-ID" sz="2200" dirty="0" err="1"/>
              <a:t>jaminan</a:t>
            </a:r>
            <a:r>
              <a:rPr lang="en-ID" sz="2200" dirty="0"/>
              <a:t> </a:t>
            </a:r>
            <a:r>
              <a:rPr lang="en-ID" sz="2200" dirty="0" err="1"/>
              <a:t>kualitas</a:t>
            </a:r>
            <a:r>
              <a:rPr lang="en-ID" sz="2200" dirty="0"/>
              <a:t> </a:t>
            </a:r>
            <a:r>
              <a:rPr lang="en-ID" sz="2200" dirty="0" err="1"/>
              <a:t>melalui</a:t>
            </a:r>
            <a:r>
              <a:rPr lang="en-ID" sz="2200" dirty="0"/>
              <a:t> masa </a:t>
            </a:r>
            <a:r>
              <a:rPr lang="en-ID" sz="2200" dirty="0" err="1"/>
              <a:t>perubahan</a:t>
            </a:r>
            <a:r>
              <a:rPr lang="en-ID" sz="2200" dirty="0"/>
              <a:t>, </a:t>
            </a:r>
            <a:r>
              <a:rPr lang="en-ID" sz="2200" dirty="0" err="1"/>
              <a:t>tetapi</a:t>
            </a:r>
            <a:r>
              <a:rPr lang="en-ID" sz="2200" dirty="0"/>
              <a:t> </a:t>
            </a:r>
            <a:r>
              <a:rPr lang="en-ID" sz="2200" dirty="0" err="1"/>
              <a:t>masih</a:t>
            </a:r>
            <a:r>
              <a:rPr lang="en-ID" sz="2200" dirty="0"/>
              <a:t> </a:t>
            </a:r>
            <a:r>
              <a:rPr lang="en-ID" sz="2200" dirty="0" err="1"/>
              <a:t>memiliki</a:t>
            </a:r>
            <a:r>
              <a:rPr lang="en-ID" sz="2200" dirty="0"/>
              <a:t> </a:t>
            </a:r>
            <a:r>
              <a:rPr lang="en-ID" sz="2200" dirty="0" err="1"/>
              <a:t>fleksibilitas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berkembang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mencerminkan</a:t>
            </a:r>
            <a:r>
              <a:rPr lang="en-ID" sz="2200" dirty="0"/>
              <a:t> </a:t>
            </a:r>
            <a:r>
              <a:rPr lang="en-ID" sz="2200" dirty="0" err="1"/>
              <a:t>transisi</a:t>
            </a:r>
            <a:r>
              <a:rPr lang="en-ID" sz="2200" dirty="0"/>
              <a:t> yang </a:t>
            </a:r>
            <a:r>
              <a:rPr lang="en-ID" sz="2200" dirty="0" err="1"/>
              <a:t>signifikan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suatu</a:t>
            </a:r>
            <a:r>
              <a:rPr lang="en-ID" sz="2200" dirty="0"/>
              <a:t> </a:t>
            </a:r>
            <a:r>
              <a:rPr lang="en-ID" sz="2200" dirty="0" err="1"/>
              <a:t>peran</a:t>
            </a:r>
            <a:r>
              <a:rPr lang="en-ID" sz="2200" dirty="0"/>
              <a:t>;</a:t>
            </a:r>
          </a:p>
          <a:p>
            <a:pPr algn="just"/>
            <a:r>
              <a:rPr lang="en-ID" sz="2200" dirty="0" err="1"/>
              <a:t>Menyediakan</a:t>
            </a:r>
            <a:r>
              <a:rPr lang="en-ID" sz="2200" dirty="0"/>
              <a:t> </a:t>
            </a:r>
            <a:r>
              <a:rPr lang="en-ID" sz="2200" dirty="0" err="1"/>
              <a:t>alat</a:t>
            </a:r>
            <a:r>
              <a:rPr lang="en-ID" sz="2200" dirty="0"/>
              <a:t> yang </a:t>
            </a:r>
            <a:r>
              <a:rPr lang="en-ID" sz="2200" dirty="0" err="1"/>
              <a:t>dapat</a:t>
            </a:r>
            <a:r>
              <a:rPr lang="en-ID" sz="2200" dirty="0"/>
              <a:t> </a:t>
            </a:r>
            <a:r>
              <a:rPr lang="en-ID" sz="2200" dirty="0" err="1"/>
              <a:t>digunakan</a:t>
            </a:r>
            <a:r>
              <a:rPr lang="en-ID" sz="2200" dirty="0"/>
              <a:t> </a:t>
            </a:r>
            <a:r>
              <a:rPr lang="en-ID" sz="2200" dirty="0" err="1"/>
              <a:t>organisasi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mendokumentasikan</a:t>
            </a:r>
            <a:r>
              <a:rPr lang="en-ID" sz="2200" dirty="0"/>
              <a:t> proses </a:t>
            </a:r>
            <a:r>
              <a:rPr lang="en-ID" sz="2200" dirty="0" err="1"/>
              <a:t>manajemen</a:t>
            </a:r>
            <a:r>
              <a:rPr lang="en-ID" sz="2200" dirty="0"/>
              <a:t> </a:t>
            </a:r>
            <a:r>
              <a:rPr lang="en-ID" sz="2200" dirty="0" err="1"/>
              <a:t>kualitas</a:t>
            </a:r>
            <a:r>
              <a:rPr lang="en-ID" sz="2200" dirty="0"/>
              <a:t> </a:t>
            </a:r>
            <a:r>
              <a:rPr lang="en-ID" sz="2200" dirty="0" err="1"/>
              <a:t>mereka</a:t>
            </a:r>
            <a:r>
              <a:rPr lang="en-ID" sz="2200" dirty="0"/>
              <a:t>. </a:t>
            </a:r>
            <a:r>
              <a:rPr lang="en-ID" sz="2200" dirty="0" err="1"/>
              <a:t>Siklus</a:t>
            </a:r>
            <a:r>
              <a:rPr lang="en-ID" sz="2200" dirty="0"/>
              <a:t> </a:t>
            </a:r>
            <a:r>
              <a:rPr lang="en-ID" sz="2200" dirty="0" err="1"/>
              <a:t>manajemen</a:t>
            </a:r>
            <a:r>
              <a:rPr lang="en-ID" sz="2200" dirty="0"/>
              <a:t> </a:t>
            </a:r>
            <a:r>
              <a:rPr lang="en-ID" sz="2200" dirty="0" err="1"/>
              <a:t>mutu</a:t>
            </a:r>
            <a:r>
              <a:rPr lang="en-ID" sz="2200" dirty="0"/>
              <a:t> </a:t>
            </a:r>
            <a:r>
              <a:rPr lang="en-ID" sz="2200" dirty="0" err="1"/>
              <a:t>mendasar</a:t>
            </a:r>
            <a:r>
              <a:rPr lang="en-ID" sz="2200" dirty="0"/>
              <a:t> </a:t>
            </a:r>
            <a:r>
              <a:rPr lang="en-ID" sz="2200" dirty="0" err="1"/>
              <a:t>dari</a:t>
            </a:r>
            <a:r>
              <a:rPr lang="en-ID" sz="2200" dirty="0"/>
              <a:t> "</a:t>
            </a:r>
            <a:r>
              <a:rPr lang="en-ID" sz="2200" dirty="0" err="1"/>
              <a:t>rencanakan</a:t>
            </a:r>
            <a:r>
              <a:rPr lang="en-ID" sz="2200" dirty="0"/>
              <a:t>, </a:t>
            </a:r>
            <a:r>
              <a:rPr lang="en-ID" sz="2200" dirty="0" err="1"/>
              <a:t>lakukan</a:t>
            </a:r>
            <a:r>
              <a:rPr lang="en-ID" sz="2200" dirty="0"/>
              <a:t>, </a:t>
            </a:r>
            <a:r>
              <a:rPr lang="en-ID" sz="2200" dirty="0" err="1"/>
              <a:t>periksa</a:t>
            </a:r>
            <a:r>
              <a:rPr lang="en-ID" sz="2200" dirty="0"/>
              <a:t>, dan </a:t>
            </a:r>
            <a:r>
              <a:rPr lang="en-ID" sz="2200" dirty="0" err="1"/>
              <a:t>bertindak</a:t>
            </a:r>
            <a:r>
              <a:rPr lang="en-ID" sz="2200" dirty="0"/>
              <a:t>" </a:t>
            </a:r>
            <a:r>
              <a:rPr lang="en-ID" sz="2200" dirty="0" err="1"/>
              <a:t>tercermin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siklus</a:t>
            </a:r>
            <a:r>
              <a:rPr lang="en-ID" sz="2200" dirty="0"/>
              <a:t> </a:t>
            </a:r>
            <a:r>
              <a:rPr lang="en-ID" sz="2200" dirty="0" err="1"/>
              <a:t>manajemen</a:t>
            </a:r>
            <a:r>
              <a:rPr lang="en-ID" sz="2200" dirty="0"/>
              <a:t> </a:t>
            </a:r>
            <a:r>
              <a:rPr lang="en-ID" sz="2200" dirty="0" err="1"/>
              <a:t>kompetensi</a:t>
            </a:r>
            <a:r>
              <a:rPr lang="en-ID" sz="2200" dirty="0"/>
              <a:t>;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12147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5165E-A969-5A2D-6D1F-C8DF63F2B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motivasi</a:t>
            </a:r>
            <a:r>
              <a:rPr lang="en-ID" sz="2400" dirty="0"/>
              <a:t> </a:t>
            </a:r>
            <a:r>
              <a:rPr lang="en-ID" sz="2400" dirty="0" err="1"/>
              <a:t>individu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mereka</a:t>
            </a:r>
            <a:r>
              <a:rPr lang="en-ID" sz="2400" dirty="0"/>
              <a:t> </a:t>
            </a:r>
            <a:r>
              <a:rPr lang="en-ID" sz="2400" dirty="0" err="1"/>
              <a:t>sendiri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memenuhi</a:t>
            </a:r>
            <a:r>
              <a:rPr lang="en-ID" sz="2400" dirty="0"/>
              <a:t> </a:t>
            </a:r>
            <a:r>
              <a:rPr lang="en-ID" sz="2400" dirty="0" err="1"/>
              <a:t>peran</a:t>
            </a:r>
            <a:r>
              <a:rPr lang="en-ID" sz="2400" dirty="0"/>
              <a:t>;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D" sz="2400" dirty="0" err="1"/>
              <a:t>Memberikan</a:t>
            </a:r>
            <a:r>
              <a:rPr lang="en-ID" sz="2400" dirty="0"/>
              <a:t> </a:t>
            </a:r>
            <a:r>
              <a:rPr lang="en-ID" sz="2400" dirty="0" err="1"/>
              <a:t>panduan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mengembangkan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. </a:t>
            </a:r>
            <a:r>
              <a:rPr lang="en-ID" sz="2400" dirty="0" err="1"/>
              <a:t>Misalnya</a:t>
            </a:r>
            <a:r>
              <a:rPr lang="en-ID" sz="2400" dirty="0"/>
              <a:t>,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kebutuhan</a:t>
            </a:r>
            <a:r>
              <a:rPr lang="en-ID" sz="2400" dirty="0"/>
              <a:t> </a:t>
            </a:r>
            <a:r>
              <a:rPr lang="en-ID" sz="2400" dirty="0" err="1"/>
              <a:t>akan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iklim</a:t>
            </a:r>
            <a:r>
              <a:rPr lang="en-ID" sz="2400" dirty="0"/>
              <a:t> </a:t>
            </a:r>
            <a:r>
              <a:rPr lang="en-ID" sz="2400" dirty="0" err="1"/>
              <a:t>terungkap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penerapan</a:t>
            </a:r>
            <a:r>
              <a:rPr lang="en-ID" sz="2400" dirty="0"/>
              <a:t>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Global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Layanan</a:t>
            </a:r>
            <a:r>
              <a:rPr lang="en-ID" sz="2400" dirty="0"/>
              <a:t> </a:t>
            </a:r>
            <a:r>
              <a:rPr lang="en-ID" sz="2400" dirty="0" err="1"/>
              <a:t>Iklim</a:t>
            </a:r>
            <a:r>
              <a:rPr lang="en-ID" sz="2400" dirty="0"/>
              <a:t> (GFCS), </a:t>
            </a:r>
            <a:r>
              <a:rPr lang="en-ID" sz="2400" dirty="0" err="1"/>
              <a:t>kerangka</a:t>
            </a:r>
            <a:r>
              <a:rPr lang="en-ID" sz="2400" dirty="0"/>
              <a:t> </a:t>
            </a:r>
            <a:r>
              <a:rPr lang="en-ID" sz="2400" dirty="0" err="1"/>
              <a:t>kerja</a:t>
            </a:r>
            <a:r>
              <a:rPr lang="en-ID" sz="2400" dirty="0"/>
              <a:t> </a:t>
            </a:r>
            <a:r>
              <a:rPr lang="en-ID" sz="2400" dirty="0" err="1"/>
              <a:t>kompetensi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membantu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dirty="0" err="1"/>
              <a:t>menentukan</a:t>
            </a:r>
            <a:r>
              <a:rPr lang="en-ID" sz="2400" dirty="0"/>
              <a:t> </a:t>
            </a:r>
            <a:r>
              <a:rPr lang="en-ID" sz="2400" dirty="0" err="1"/>
              <a:t>persyaratan</a:t>
            </a:r>
            <a:r>
              <a:rPr lang="en-ID" sz="2400" dirty="0"/>
              <a:t> </a:t>
            </a:r>
            <a:r>
              <a:rPr lang="en-ID" sz="2400" dirty="0" err="1"/>
              <a:t>pengembangan</a:t>
            </a:r>
            <a:r>
              <a:rPr lang="en-ID" sz="2400" dirty="0"/>
              <a:t> </a:t>
            </a:r>
            <a:r>
              <a:rPr lang="en-ID" sz="2400" dirty="0" err="1"/>
              <a:t>sumber</a:t>
            </a:r>
            <a:r>
              <a:rPr lang="en-ID" sz="2400" dirty="0"/>
              <a:t> </a:t>
            </a:r>
            <a:r>
              <a:rPr lang="en-ID" sz="2400" dirty="0" err="1"/>
              <a:t>daya</a:t>
            </a:r>
            <a:r>
              <a:rPr lang="en-ID" sz="2400" dirty="0"/>
              <a:t> </a:t>
            </a:r>
            <a:r>
              <a:rPr lang="en-ID" sz="2400" dirty="0" err="1"/>
              <a:t>manusia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5200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A76626-D6CF-CB3D-B029-9B743D67B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100" y="713014"/>
            <a:ext cx="6955971" cy="5856515"/>
          </a:xfrm>
        </p:spPr>
      </p:pic>
    </p:spTree>
    <p:extLst>
      <p:ext uri="{BB962C8B-B14F-4D97-AF65-F5344CB8AC3E}">
        <p14:creationId xmlns:p14="http://schemas.microsoft.com/office/powerpoint/2010/main" val="1158437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F21CD-8228-C24A-461F-F9D16582D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413" y="381000"/>
            <a:ext cx="6357257" cy="6199414"/>
          </a:xfrm>
        </p:spPr>
      </p:pic>
    </p:spTree>
    <p:extLst>
      <p:ext uri="{BB962C8B-B14F-4D97-AF65-F5344CB8AC3E}">
        <p14:creationId xmlns:p14="http://schemas.microsoft.com/office/powerpoint/2010/main" val="1629109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6C9B91-1BA0-B4A7-9820-A4D984FA6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871" y="772886"/>
            <a:ext cx="9372599" cy="5742214"/>
          </a:xfrm>
        </p:spPr>
      </p:pic>
    </p:spTree>
    <p:extLst>
      <p:ext uri="{BB962C8B-B14F-4D97-AF65-F5344CB8AC3E}">
        <p14:creationId xmlns:p14="http://schemas.microsoft.com/office/powerpoint/2010/main" val="122718982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1432</TotalTime>
  <Words>1922</Words>
  <Application>Microsoft Office PowerPoint</Application>
  <PresentationFormat>Widescreen</PresentationFormat>
  <Paragraphs>86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Gill Sans MT</vt:lpstr>
      <vt:lpstr>Wingdings</vt:lpstr>
      <vt:lpstr>Gallery</vt:lpstr>
      <vt:lpstr>Office Theme</vt:lpstr>
      <vt:lpstr>REGULASI INTERNASIONAL DI BIDANG METEOROLOGI MINGGU KE – 9/M8C KOMPETENSI</vt:lpstr>
      <vt:lpstr>KOMPETENSI WMO NO 1205 MOTIVATION FOR COMPETENCIES WITHIN WMO</vt:lpstr>
      <vt:lpstr>PowerPoint Presentation</vt:lpstr>
      <vt:lpstr>QUALIFICATION VERSUS COMPETENCY</vt:lpstr>
      <vt:lpstr>Lanjutan</vt:lpstr>
      <vt:lpstr>COMPETENCY STANDARDS VERSUS RECOMMENDED PRACTICES</vt:lpstr>
      <vt:lpstr>Lanjutan</vt:lpstr>
      <vt:lpstr>PowerPoint Presentation</vt:lpstr>
      <vt:lpstr>PowerPoint Presentation</vt:lpstr>
      <vt:lpstr>TYPES OF COMPETENCY</vt:lpstr>
      <vt:lpstr>PowerPoint Presentation</vt:lpstr>
      <vt:lpstr>ANATOMY OF A WMO COMPETENCY FRAMEWORK</vt:lpstr>
      <vt:lpstr>PowerPoint Presentation</vt:lpstr>
      <vt:lpstr>PowerPoint Presentation</vt:lpstr>
      <vt:lpstr>Enabling skills and knowledge</vt:lpstr>
      <vt:lpstr>PowerPoint Presentation</vt:lpstr>
      <vt:lpstr>PowerPoint Presentation</vt:lpstr>
      <vt:lpstr>PowerPoint Presentation</vt:lpstr>
      <vt:lpstr>CHARACTERISTICS OF COMPETENCIES</vt:lpstr>
      <vt:lpstr>PowerPoint Presentation</vt:lpstr>
      <vt:lpstr>PowerPoint Presentation</vt:lpstr>
      <vt:lpstr>THE ON GOING COMPETENCY PROCESS</vt:lpstr>
      <vt:lpstr>Lanjutan</vt:lpstr>
      <vt:lpstr>PowerPoint Presentation</vt:lpstr>
      <vt:lpstr>PowerPoint Presentation</vt:lpstr>
      <vt:lpstr>PowerPoint Presentation</vt:lpstr>
      <vt:lpstr>BENEFITS OF ADOPTING A COMPETENCY FRAMEWORK</vt:lpstr>
      <vt:lpstr>PowerPoint Presentation</vt:lpstr>
      <vt:lpstr>Lanjutan</vt:lpstr>
      <vt:lpstr>PowerPoint Presentation</vt:lpstr>
      <vt:lpstr>Lanjutan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pdkl.office365</dc:creator>
  <cp:lastModifiedBy>maman.sudarisman</cp:lastModifiedBy>
  <cp:revision>53</cp:revision>
  <dcterms:created xsi:type="dcterms:W3CDTF">2022-11-08T03:46:44Z</dcterms:created>
  <dcterms:modified xsi:type="dcterms:W3CDTF">2026-05-18T04:54:34Z</dcterms:modified>
</cp:coreProperties>
</file>