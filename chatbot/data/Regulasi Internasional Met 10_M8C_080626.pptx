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83" r:id="rId5"/>
    <p:sldId id="259" r:id="rId6"/>
    <p:sldId id="260" r:id="rId7"/>
    <p:sldId id="261" r:id="rId8"/>
    <p:sldId id="284" r:id="rId9"/>
    <p:sldId id="262" r:id="rId10"/>
    <p:sldId id="285" r:id="rId11"/>
    <p:sldId id="263" r:id="rId12"/>
    <p:sldId id="264" r:id="rId13"/>
    <p:sldId id="265" r:id="rId14"/>
    <p:sldId id="268" r:id="rId15"/>
    <p:sldId id="286" r:id="rId16"/>
    <p:sldId id="266" r:id="rId17"/>
    <p:sldId id="267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7" r:id="rId27"/>
    <p:sldId id="278" r:id="rId28"/>
    <p:sldId id="279" r:id="rId29"/>
    <p:sldId id="280" r:id="rId30"/>
    <p:sldId id="281" r:id="rId31"/>
    <p:sldId id="288" r:id="rId32"/>
    <p:sldId id="28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3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637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3489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377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3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6957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138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174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575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275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289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2424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3728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4249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7974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9777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03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9D4EE-B097-4C07-ABF6-AA88F2A0B34F}" type="datetimeFigureOut">
              <a:rPr lang="en-ID" smtClean="0"/>
              <a:t>08/06/2026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EAF6488-AE42-4812-BAC6-4011905327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602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8D31-381D-B90A-BA7D-E436209AC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30337"/>
          </a:xfrm>
        </p:spPr>
        <p:txBody>
          <a:bodyPr>
            <a:normAutofit/>
          </a:bodyPr>
          <a:lstStyle/>
          <a:p>
            <a:r>
              <a:rPr lang="en-US" sz="2800" dirty="0"/>
              <a:t>REGULASI INTERNASIONAL BIDANG METEOROLOGI</a:t>
            </a:r>
            <a:br>
              <a:rPr lang="en-US" sz="2800" dirty="0"/>
            </a:br>
            <a:r>
              <a:rPr lang="en-US" sz="2800" dirty="0"/>
              <a:t>MINGGU KE 10/M8C</a:t>
            </a:r>
            <a:br>
              <a:rPr lang="en-US" sz="2800" dirty="0"/>
            </a:br>
            <a:r>
              <a:rPr lang="en-US" sz="2800" dirty="0"/>
              <a:t>KEPEMIMPINAN</a:t>
            </a:r>
            <a:endParaRPr lang="en-ID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78295-3C2E-6C8D-4AFC-9F96C6E73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6956"/>
            <a:ext cx="9144000" cy="1300843"/>
          </a:xfrm>
        </p:spPr>
        <p:txBody>
          <a:bodyPr>
            <a:normAutofit/>
          </a:bodyPr>
          <a:lstStyle/>
          <a:p>
            <a:r>
              <a:rPr lang="en-US" dirty="0" err="1"/>
              <a:t>Maman</a:t>
            </a:r>
            <a:r>
              <a:rPr lang="en-US" dirty="0"/>
              <a:t> </a:t>
            </a:r>
            <a:r>
              <a:rPr lang="en-US" dirty="0" err="1"/>
              <a:t>Sudarisman</a:t>
            </a:r>
            <a:endParaRPr lang="en-US" dirty="0"/>
          </a:p>
          <a:p>
            <a:r>
              <a:rPr lang="en-US" dirty="0" err="1"/>
              <a:t>Sekolah</a:t>
            </a:r>
            <a:r>
              <a:rPr lang="en-US" dirty="0"/>
              <a:t> Tinggi </a:t>
            </a:r>
            <a:r>
              <a:rPr lang="en-US" dirty="0" err="1"/>
              <a:t>Meteorologi</a:t>
            </a:r>
            <a:r>
              <a:rPr lang="en-US" dirty="0"/>
              <a:t> </a:t>
            </a:r>
            <a:r>
              <a:rPr lang="en-US" dirty="0" err="1"/>
              <a:t>Klimatologi</a:t>
            </a:r>
            <a:r>
              <a:rPr lang="en-US" dirty="0"/>
              <a:t> dan </a:t>
            </a:r>
            <a:r>
              <a:rPr lang="en-US" dirty="0" err="1"/>
              <a:t>Geofisika</a:t>
            </a:r>
            <a:endParaRPr lang="en-US" dirty="0"/>
          </a:p>
          <a:p>
            <a:r>
              <a:rPr lang="en-US" dirty="0"/>
              <a:t>08 Juni 2026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6278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257B-2BD6-9797-099C-1BFAEBE7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97" y="431519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 </a:t>
            </a:r>
            <a:r>
              <a:rPr lang="en-US" sz="2400" b="1" dirty="0"/>
              <a:t>LEADERSHIP AND MANAGEMENT IN A NATIONAL </a:t>
            </a:r>
            <a:br>
              <a:rPr lang="en-US" sz="2400" b="1" dirty="0"/>
            </a:br>
            <a:r>
              <a:rPr lang="en-US" sz="2400" b="1" dirty="0"/>
              <a:t>METEOROLOGICAL AND HYDROLOGICAL SERVICE</a:t>
            </a:r>
            <a:endParaRPr lang="en-I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477FE-15AD-9FF9-1349-5B27624FF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6198" y="2008414"/>
            <a:ext cx="8915400" cy="377762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D" sz="2400" dirty="0" err="1"/>
              <a:t>Dalam</a:t>
            </a:r>
            <a:r>
              <a:rPr lang="en-ID" sz="2400" dirty="0"/>
              <a:t> dunia yang </a:t>
            </a:r>
            <a:r>
              <a:rPr lang="en-ID" sz="2400" dirty="0" err="1"/>
              <a:t>kompleks</a:t>
            </a:r>
            <a:r>
              <a:rPr lang="en-ID" sz="2400" dirty="0"/>
              <a:t>, </a:t>
            </a:r>
            <a:r>
              <a:rPr lang="en-ID" sz="2400" dirty="0" err="1"/>
              <a:t>cepat</a:t>
            </a:r>
            <a:r>
              <a:rPr lang="en-ID" sz="2400" dirty="0"/>
              <a:t> </a:t>
            </a:r>
            <a:r>
              <a:rPr lang="en-ID" sz="2400" dirty="0" err="1"/>
              <a:t>berubah</a:t>
            </a:r>
            <a:r>
              <a:rPr lang="en-ID" sz="2400" dirty="0"/>
              <a:t>, dan </a:t>
            </a:r>
            <a:r>
              <a:rPr lang="en-ID" sz="2400" dirty="0" err="1"/>
              <a:t>interaktif</a:t>
            </a:r>
            <a:r>
              <a:rPr lang="en-ID" sz="2400" dirty="0"/>
              <a:t>,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jelas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, </a:t>
            </a:r>
            <a:r>
              <a:rPr lang="en-ID" sz="2400" dirty="0" err="1"/>
              <a:t>selain</a:t>
            </a:r>
            <a:r>
              <a:rPr lang="en-ID" sz="2400" dirty="0"/>
              <a:t>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kemampuan</a:t>
            </a:r>
            <a:r>
              <a:rPr lang="en-ID" sz="2400" dirty="0"/>
              <a:t> </a:t>
            </a:r>
            <a:r>
              <a:rPr lang="en-ID" sz="2400" dirty="0" err="1"/>
              <a:t>ilmiah</a:t>
            </a:r>
            <a:r>
              <a:rPr lang="en-ID" sz="2400" dirty="0"/>
              <a:t> dan </a:t>
            </a:r>
            <a:r>
              <a:rPr lang="en-ID" sz="2400" dirty="0" err="1"/>
              <a:t>teknis</a:t>
            </a:r>
            <a:r>
              <a:rPr lang="en-ID" sz="2400" dirty="0"/>
              <a:t> yang </a:t>
            </a:r>
            <a:r>
              <a:rPr lang="en-ID" sz="2400" dirty="0" err="1"/>
              <a:t>berkelanjutan</a:t>
            </a:r>
            <a:r>
              <a:rPr lang="en-ID" sz="2400" dirty="0"/>
              <a:t>, NMHS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pemimpin</a:t>
            </a:r>
            <a:r>
              <a:rPr lang="en-ID" sz="2400" dirty="0"/>
              <a:t> yang </a:t>
            </a:r>
            <a:r>
              <a:rPr lang="en-ID" sz="2400" dirty="0" err="1"/>
              <a:t>efektif</a:t>
            </a:r>
            <a:r>
              <a:rPr lang="en-ID" sz="2400" dirty="0"/>
              <a:t> dan </a:t>
            </a:r>
            <a:r>
              <a:rPr lang="en-ID" sz="2400" dirty="0" err="1"/>
              <a:t>adaptif</a:t>
            </a:r>
            <a:r>
              <a:rPr lang="en-ID" sz="2400" dirty="0"/>
              <a:t>;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tercermin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upaya</a:t>
            </a:r>
            <a:r>
              <a:rPr lang="en-ID" sz="2400" dirty="0"/>
              <a:t> </a:t>
            </a:r>
            <a:r>
              <a:rPr lang="en-ID" sz="2400" dirty="0" err="1"/>
              <a:t>peningkatan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masing-masing NMHS dan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konteks</a:t>
            </a:r>
            <a:r>
              <a:rPr lang="en-ID" sz="2400" dirty="0"/>
              <a:t> WMO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luas</a:t>
            </a:r>
            <a:endParaRPr lang="en-ID" sz="2400" dirty="0"/>
          </a:p>
          <a:p>
            <a:pPr algn="just">
              <a:lnSpc>
                <a:spcPct val="150000"/>
              </a:lnSpc>
            </a:pPr>
            <a:r>
              <a:rPr lang="en-ID" sz="2400" dirty="0"/>
              <a:t>Bagian </a:t>
            </a:r>
            <a:r>
              <a:rPr lang="en-ID" sz="2400" dirty="0" err="1"/>
              <a:t>berikut</a:t>
            </a:r>
            <a:r>
              <a:rPr lang="en-ID" sz="2400" dirty="0"/>
              <a:t> </a:t>
            </a:r>
            <a:r>
              <a:rPr lang="en-ID" sz="2400" dirty="0" err="1"/>
              <a:t>menguraikan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tantangan</a:t>
            </a:r>
            <a:r>
              <a:rPr lang="en-ID" sz="2400" dirty="0"/>
              <a:t> </a:t>
            </a:r>
            <a:r>
              <a:rPr lang="en-ID" sz="2400" dirty="0" err="1"/>
              <a:t>kepemimpinan</a:t>
            </a:r>
            <a:r>
              <a:rPr lang="en-ID" sz="2400" dirty="0"/>
              <a:t> dan </a:t>
            </a:r>
            <a:r>
              <a:rPr lang="en-ID" sz="2400" dirty="0" err="1"/>
              <a:t>manajemen</a:t>
            </a:r>
            <a:r>
              <a:rPr lang="en-ID" sz="2400" dirty="0"/>
              <a:t> senior di NMHS, </a:t>
            </a:r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perbedaan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istilah</a:t>
            </a:r>
            <a:r>
              <a:rPr lang="en-ID" sz="2400" dirty="0"/>
              <a:t> "</a:t>
            </a:r>
            <a:r>
              <a:rPr lang="en-ID" sz="2400" dirty="0" err="1"/>
              <a:t>kepemimpinan</a:t>
            </a:r>
            <a:r>
              <a:rPr lang="en-ID" sz="2400" dirty="0"/>
              <a:t>" dan "</a:t>
            </a:r>
            <a:r>
              <a:rPr lang="en-ID" sz="2400" dirty="0" err="1"/>
              <a:t>manajemen</a:t>
            </a:r>
            <a:r>
              <a:rPr lang="en-ID" sz="2400" dirty="0"/>
              <a:t>",.</a:t>
            </a:r>
          </a:p>
        </p:txBody>
      </p:sp>
    </p:spTree>
    <p:extLst>
      <p:ext uri="{BB962C8B-B14F-4D97-AF65-F5344CB8AC3E}">
        <p14:creationId xmlns:p14="http://schemas.microsoft.com/office/powerpoint/2010/main" val="357087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C6793-9FF8-1FD0-796D-6C68AF5E5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9553"/>
            <a:ext cx="8911687" cy="752933"/>
          </a:xfrm>
        </p:spPr>
        <p:txBody>
          <a:bodyPr>
            <a:normAutofit/>
          </a:bodyPr>
          <a:lstStyle/>
          <a:p>
            <a:r>
              <a:rPr lang="en-ID" sz="2400" b="1" dirty="0"/>
              <a:t>THE LEADERSHIP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9C88-84F4-B92D-DAA7-B43D15268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670"/>
            <a:ext cx="10515600" cy="5034643"/>
          </a:xfrm>
        </p:spPr>
        <p:txBody>
          <a:bodyPr>
            <a:normAutofit lnSpcReduction="10000"/>
          </a:bodyPr>
          <a:lstStyle/>
          <a:p>
            <a:pPr algn="just"/>
            <a:r>
              <a:rPr lang="en-ID" sz="2000" dirty="0"/>
              <a:t>Peran </a:t>
            </a:r>
            <a:r>
              <a:rPr lang="en-ID" sz="2000" dirty="0" err="1"/>
              <a:t>kepemimpinan</a:t>
            </a:r>
            <a:r>
              <a:rPr lang="en-ID" sz="2000" dirty="0"/>
              <a:t> senior </a:t>
            </a:r>
            <a:r>
              <a:rPr lang="en-ID" sz="2000" dirty="0" err="1"/>
              <a:t>dalam</a:t>
            </a:r>
            <a:r>
              <a:rPr lang="en-ID" sz="2000" dirty="0"/>
              <a:t> NMHS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tuntutan</a:t>
            </a:r>
            <a:r>
              <a:rPr lang="en-ID" sz="2000" dirty="0"/>
              <a:t> </a:t>
            </a:r>
            <a:r>
              <a:rPr lang="en-ID" sz="2000" dirty="0" err="1"/>
              <a:t>tugas</a:t>
            </a:r>
            <a:r>
              <a:rPr lang="en-ID" sz="2000" dirty="0"/>
              <a:t>. </a:t>
            </a:r>
            <a:r>
              <a:rPr lang="en-ID" sz="2000" dirty="0" err="1"/>
              <a:t>Transisi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peran</a:t>
            </a:r>
            <a:r>
              <a:rPr lang="en-ID" sz="2000" dirty="0"/>
              <a:t> </a:t>
            </a:r>
            <a:r>
              <a:rPr lang="en-ID" sz="2000" dirty="0" err="1"/>
              <a:t>manajemen</a:t>
            </a:r>
            <a:r>
              <a:rPr lang="en-ID" sz="2000" dirty="0"/>
              <a:t> dan </a:t>
            </a:r>
            <a:r>
              <a:rPr lang="en-ID" sz="2000" dirty="0" err="1"/>
              <a:t>kepemimpinan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NMHS juga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tantangan</a:t>
            </a:r>
            <a:r>
              <a:rPr lang="en-ID" sz="2000" dirty="0"/>
              <a:t> </a:t>
            </a:r>
            <a:r>
              <a:rPr lang="en-ID" sz="2000" dirty="0" err="1"/>
              <a:t>bagi</a:t>
            </a:r>
            <a:r>
              <a:rPr lang="en-ID" sz="2000" dirty="0"/>
              <a:t> </a:t>
            </a:r>
            <a:r>
              <a:rPr lang="en-ID" sz="2000" dirty="0" err="1"/>
              <a:t>individu</a:t>
            </a:r>
            <a:r>
              <a:rPr lang="en-ID" sz="2000" dirty="0"/>
              <a:t> yang </a:t>
            </a:r>
            <a:r>
              <a:rPr lang="en-ID" sz="2000" dirty="0" err="1"/>
              <a:t>bersangkutan</a:t>
            </a:r>
            <a:endParaRPr lang="en-ID" sz="2000" dirty="0"/>
          </a:p>
          <a:p>
            <a:pPr algn="just"/>
            <a:r>
              <a:rPr lang="en-ID" sz="2000" dirty="0" err="1"/>
              <a:t>Bagi</a:t>
            </a:r>
            <a:r>
              <a:rPr lang="en-ID" sz="2000" dirty="0"/>
              <a:t> </a:t>
            </a:r>
            <a:r>
              <a:rPr lang="en-ID" sz="2000" dirty="0" err="1"/>
              <a:t>mereka</a:t>
            </a:r>
            <a:r>
              <a:rPr lang="en-ID" sz="2000" dirty="0"/>
              <a:t> yang </a:t>
            </a:r>
            <a:r>
              <a:rPr lang="en-ID" sz="2000" dirty="0" err="1"/>
              <a:t>beralih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peran</a:t>
            </a:r>
            <a:r>
              <a:rPr lang="en-ID" sz="2000" dirty="0"/>
              <a:t> </a:t>
            </a:r>
            <a:r>
              <a:rPr lang="en-ID" sz="2000" dirty="0" err="1"/>
              <a:t>ilmiah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teknis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NMHS, </a:t>
            </a:r>
            <a:r>
              <a:rPr lang="en-ID" sz="2000" dirty="0" err="1"/>
              <a:t>tantangannya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dikaitkan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jenis</a:t>
            </a:r>
            <a:r>
              <a:rPr lang="en-ID" sz="2000" dirty="0"/>
              <a:t> </a:t>
            </a:r>
            <a:r>
              <a:rPr lang="en-ID" sz="2000" dirty="0" err="1"/>
              <a:t>tanggung</a:t>
            </a:r>
            <a:r>
              <a:rPr lang="en-ID" sz="2000" dirty="0"/>
              <a:t> </a:t>
            </a:r>
            <a:r>
              <a:rPr lang="en-ID" sz="2000" dirty="0" err="1"/>
              <a:t>jawab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000" dirty="0" err="1"/>
              <a:t>pengelolaan</a:t>
            </a:r>
            <a:r>
              <a:rPr lang="en-ID" sz="2000" dirty="0"/>
              <a:t> orang,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000" dirty="0" err="1"/>
              <a:t>pengembangan</a:t>
            </a:r>
            <a:r>
              <a:rPr lang="en-ID" sz="2000" dirty="0"/>
              <a:t> </a:t>
            </a:r>
            <a:r>
              <a:rPr lang="en-ID" sz="2000" dirty="0" err="1"/>
              <a:t>perencanaan</a:t>
            </a:r>
            <a:r>
              <a:rPr lang="en-ID" sz="2000" dirty="0"/>
              <a:t> dan </a:t>
            </a:r>
            <a:r>
              <a:rPr lang="en-ID" sz="2000" dirty="0" err="1"/>
              <a:t>kebijakan</a:t>
            </a:r>
            <a:r>
              <a:rPr lang="en-ID" sz="2000" dirty="0"/>
              <a:t>,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000" dirty="0" err="1"/>
              <a:t>pengelolaan</a:t>
            </a:r>
            <a:r>
              <a:rPr lang="en-ID" sz="2000" dirty="0"/>
              <a:t> </a:t>
            </a:r>
            <a:r>
              <a:rPr lang="en-ID" sz="2000" dirty="0" err="1"/>
              <a:t>keuangan</a:t>
            </a:r>
            <a:r>
              <a:rPr lang="en-ID" sz="2000" dirty="0"/>
              <a:t>,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000" dirty="0" err="1"/>
              <a:t>mengidentifikasi</a:t>
            </a:r>
            <a:r>
              <a:rPr lang="en-ID" sz="2000" dirty="0"/>
              <a:t> </a:t>
            </a:r>
            <a:r>
              <a:rPr lang="en-ID" sz="2000" dirty="0" err="1"/>
              <a:t>peluang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dukungan</a:t>
            </a:r>
            <a:r>
              <a:rPr lang="en-ID" sz="2000" dirty="0"/>
              <a:t> </a:t>
            </a:r>
            <a:r>
              <a:rPr lang="en-ID" sz="2000" dirty="0" err="1"/>
              <a:t>keuangan</a:t>
            </a:r>
            <a:r>
              <a:rPr lang="en-ID" sz="2000" dirty="0"/>
              <a:t>,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000" dirty="0" err="1"/>
              <a:t>berurusan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pemangku</a:t>
            </a:r>
            <a:r>
              <a:rPr lang="en-ID" sz="2000" dirty="0"/>
              <a:t> </a:t>
            </a:r>
            <a:r>
              <a:rPr lang="en-ID" sz="2000" dirty="0" err="1"/>
              <a:t>kepentingan</a:t>
            </a:r>
            <a:r>
              <a:rPr lang="en-ID" sz="2000" dirty="0"/>
              <a:t>, dan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000" dirty="0" err="1"/>
              <a:t>bidang</a:t>
            </a:r>
            <a:r>
              <a:rPr lang="en-ID" sz="2000" dirty="0"/>
              <a:t> lain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pemerintah</a:t>
            </a:r>
            <a:r>
              <a:rPr lang="en-ID" sz="2000" dirty="0"/>
              <a:t>, dan </a:t>
            </a: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peran</a:t>
            </a:r>
            <a:r>
              <a:rPr lang="en-ID" sz="2000" dirty="0"/>
              <a:t> </a:t>
            </a:r>
            <a:r>
              <a:rPr lang="en-ID" sz="2000" dirty="0" err="1"/>
              <a:t>perwakilan</a:t>
            </a:r>
            <a:r>
              <a:rPr lang="en-ID" sz="2000" dirty="0"/>
              <a:t>. </a:t>
            </a:r>
            <a:r>
              <a:rPr lang="en-ID" sz="2000" dirty="0" err="1"/>
              <a:t>Transisi</a:t>
            </a:r>
            <a:r>
              <a:rPr lang="en-ID" sz="2000" dirty="0"/>
              <a:t> </a:t>
            </a:r>
            <a:r>
              <a:rPr lang="en-ID" sz="2000" dirty="0" err="1"/>
              <a:t>semacam</a:t>
            </a:r>
            <a:r>
              <a:rPr lang="en-ID" sz="2000" dirty="0"/>
              <a:t> </a:t>
            </a:r>
            <a:r>
              <a:rPr lang="en-ID" sz="2000" dirty="0" err="1"/>
              <a:t>itu</a:t>
            </a:r>
            <a:r>
              <a:rPr lang="en-ID" sz="2000" dirty="0"/>
              <a:t> </a:t>
            </a:r>
            <a:r>
              <a:rPr lang="en-ID" sz="2000" dirty="0" err="1"/>
              <a:t>membutuhkan</a:t>
            </a:r>
            <a:r>
              <a:rPr lang="en-ID" sz="2000" dirty="0"/>
              <a:t> </a:t>
            </a:r>
            <a:r>
              <a:rPr lang="en-ID" sz="2000" dirty="0" err="1"/>
              <a:t>seperangkat</a:t>
            </a:r>
            <a:r>
              <a:rPr lang="en-ID" sz="2000" dirty="0"/>
              <a:t> </a:t>
            </a:r>
            <a:r>
              <a:rPr lang="en-ID" sz="2000" dirty="0" err="1"/>
              <a:t>keterampilan</a:t>
            </a:r>
            <a:r>
              <a:rPr lang="en-ID" sz="2000" dirty="0"/>
              <a:t> dan </a:t>
            </a:r>
            <a:r>
              <a:rPr lang="en-ID" sz="2000" dirty="0" err="1"/>
              <a:t>perilaku</a:t>
            </a:r>
            <a:r>
              <a:rPr lang="en-ID" sz="2000" dirty="0"/>
              <a:t> </a:t>
            </a:r>
            <a:r>
              <a:rPr lang="en-ID" sz="2000" dirty="0" err="1"/>
              <a:t>tertentu</a:t>
            </a:r>
            <a:r>
              <a:rPr lang="en-ID" sz="2000" dirty="0"/>
              <a:t> yang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mudah</a:t>
            </a:r>
            <a:r>
              <a:rPr lang="en-ID" sz="2000" dirty="0"/>
              <a:t> </a:t>
            </a:r>
            <a:r>
              <a:rPr lang="en-ID" sz="2000" dirty="0" err="1"/>
              <a:t>diperoleh</a:t>
            </a:r>
            <a:r>
              <a:rPr lang="en-ID" dirty="0"/>
              <a:t>.</a:t>
            </a:r>
          </a:p>
          <a:p>
            <a:pPr marL="0" indent="0" algn="just">
              <a:buNone/>
            </a:pP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37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ECCD-DE51-2257-569E-EA4634C63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729"/>
            <a:ext cx="10515600" cy="486523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D" sz="2400" dirty="0" err="1"/>
              <a:t>Mereka</a:t>
            </a:r>
            <a:r>
              <a:rPr lang="en-ID" sz="2400" dirty="0"/>
              <a:t> yang </a:t>
            </a:r>
            <a:r>
              <a:rPr lang="en-ID" sz="2400" dirty="0" err="1"/>
              <a:t>datang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 </a:t>
            </a:r>
            <a:r>
              <a:rPr lang="en-ID" sz="2400" dirty="0" err="1"/>
              <a:t>manajemen</a:t>
            </a:r>
            <a:r>
              <a:rPr lang="en-ID" sz="2400" dirty="0"/>
              <a:t> senior di NMHS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luar</a:t>
            </a:r>
            <a:r>
              <a:rPr lang="en-ID" sz="2400" dirty="0"/>
              <a:t>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pengalaman</a:t>
            </a:r>
            <a:r>
              <a:rPr lang="en-ID" sz="2400" dirty="0"/>
              <a:t> </a:t>
            </a:r>
            <a:r>
              <a:rPr lang="en-ID" sz="2400" dirty="0" err="1"/>
              <a:t>manajemen</a:t>
            </a:r>
            <a:r>
              <a:rPr lang="en-ID" sz="2400" dirty="0"/>
              <a:t> dan </a:t>
            </a:r>
            <a:r>
              <a:rPr lang="en-ID" sz="2400" dirty="0" err="1"/>
              <a:t>kepemimpinan</a:t>
            </a:r>
            <a:r>
              <a:rPr lang="en-ID" sz="2400" dirty="0"/>
              <a:t> di </a:t>
            </a:r>
            <a:r>
              <a:rPr lang="en-ID" sz="2400" dirty="0" err="1"/>
              <a:t>bidang</a:t>
            </a:r>
            <a:r>
              <a:rPr lang="en-ID" sz="2400" dirty="0"/>
              <a:t> lain </a:t>
            </a:r>
            <a:r>
              <a:rPr lang="en-ID" sz="2400" dirty="0" err="1"/>
              <a:t>tetapi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terbiasa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konteks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menjalankan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endParaRPr lang="en-ID" sz="2400" dirty="0"/>
          </a:p>
          <a:p>
            <a:pPr algn="just">
              <a:lnSpc>
                <a:spcPct val="150000"/>
              </a:lnSpc>
            </a:pPr>
            <a:r>
              <a:rPr lang="en-ID" sz="2400" dirty="0" err="1"/>
              <a:t>Sementara</a:t>
            </a:r>
            <a:r>
              <a:rPr lang="en-ID" sz="2400" dirty="0"/>
              <a:t> </a:t>
            </a:r>
            <a:r>
              <a:rPr lang="en-ID" sz="2400" dirty="0" err="1"/>
              <a:t>istilah</a:t>
            </a:r>
            <a:r>
              <a:rPr lang="en-ID" sz="2400" dirty="0"/>
              <a:t> "</a:t>
            </a:r>
            <a:r>
              <a:rPr lang="en-ID" sz="2400" dirty="0" err="1"/>
              <a:t>manajemen</a:t>
            </a:r>
            <a:r>
              <a:rPr lang="en-ID" sz="2400" dirty="0"/>
              <a:t>" dan "</a:t>
            </a:r>
            <a:r>
              <a:rPr lang="en-ID" sz="2400" dirty="0" err="1"/>
              <a:t>kepemimpinan</a:t>
            </a:r>
            <a:r>
              <a:rPr lang="en-ID" sz="2400" dirty="0"/>
              <a:t>" </a:t>
            </a:r>
            <a:r>
              <a:rPr lang="en-ID" sz="2400" dirty="0" err="1"/>
              <a:t>kadang-kadang</a:t>
            </a:r>
            <a:r>
              <a:rPr lang="en-ID" sz="2400" dirty="0"/>
              <a:t> </a:t>
            </a:r>
            <a:r>
              <a:rPr lang="en-ID" sz="2400" dirty="0" err="1"/>
              <a:t>digunakan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bergantian</a:t>
            </a:r>
            <a:r>
              <a:rPr lang="en-ID" sz="2400" dirty="0"/>
              <a:t>,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Pedoman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, </a:t>
            </a:r>
            <a:r>
              <a:rPr lang="en-ID" sz="2400" b="1" dirty="0"/>
              <a:t>"</a:t>
            </a:r>
            <a:r>
              <a:rPr lang="en-ID" sz="2400" b="1" dirty="0" err="1"/>
              <a:t>manajemen</a:t>
            </a:r>
            <a:r>
              <a:rPr lang="en-ID" sz="2400" b="1" dirty="0"/>
              <a:t>" </a:t>
            </a:r>
            <a:r>
              <a:rPr lang="en-ID" sz="2400" dirty="0" err="1"/>
              <a:t>diartikan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proses </a:t>
            </a:r>
            <a:r>
              <a:rPr lang="en-ID" sz="2400" dirty="0" err="1"/>
              <a:t>mengelola</a:t>
            </a:r>
            <a:r>
              <a:rPr lang="en-ID" sz="2400" dirty="0"/>
              <a:t> </a:t>
            </a:r>
            <a:r>
              <a:rPr lang="en-ID" sz="2400" dirty="0" err="1"/>
              <a:t>aktivitas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dan orang-orang yang </a:t>
            </a:r>
            <a:r>
              <a:rPr lang="en-ID" sz="2400" dirty="0" err="1"/>
              <a:t>terlibat</a:t>
            </a:r>
            <a:r>
              <a:rPr lang="en-ID" sz="2400" dirty="0"/>
              <a:t>, dan </a:t>
            </a:r>
            <a:r>
              <a:rPr lang="en-ID" sz="2400" b="1" dirty="0"/>
              <a:t>"</a:t>
            </a:r>
            <a:r>
              <a:rPr lang="en-ID" sz="2400" b="1" dirty="0" err="1"/>
              <a:t>kepemimpinan</a:t>
            </a:r>
            <a:r>
              <a:rPr lang="en-ID" sz="2400" b="1" dirty="0"/>
              <a:t>"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menyiratkan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.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menetapkan</a:t>
            </a:r>
            <a:r>
              <a:rPr lang="en-ID" sz="2400" dirty="0"/>
              <a:t> </a:t>
            </a:r>
            <a:r>
              <a:rPr lang="en-ID" sz="2400" dirty="0" err="1"/>
              <a:t>arah</a:t>
            </a:r>
            <a:r>
              <a:rPr lang="en-ID" sz="2400" dirty="0"/>
              <a:t>,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visi</a:t>
            </a:r>
            <a:r>
              <a:rPr lang="en-ID" sz="2400" dirty="0"/>
              <a:t> dan </a:t>
            </a:r>
            <a:r>
              <a:rPr lang="en-ID" sz="2400" dirty="0" err="1"/>
              <a:t>menginspirasi</a:t>
            </a:r>
            <a:r>
              <a:rPr lang="en-ID" sz="2400" dirty="0"/>
              <a:t> orang lain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potensi</a:t>
            </a:r>
            <a:r>
              <a:rPr lang="en-ID" sz="2400" dirty="0"/>
              <a:t> </a:t>
            </a:r>
            <a:r>
              <a:rPr lang="en-ID" sz="2400" dirty="0" err="1"/>
              <a:t>penuh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endParaRPr lang="en-ID" sz="2400" dirty="0"/>
          </a:p>
          <a:p>
            <a:pPr marL="0" indent="0" algn="just"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41237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966F-BF8E-2663-5870-EB54E7EDE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343"/>
            <a:ext cx="10515600" cy="544762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D" sz="2400" dirty="0" err="1"/>
              <a:t>Pentingnya</a:t>
            </a:r>
            <a:r>
              <a:rPr lang="en-ID" sz="2400" dirty="0"/>
              <a:t> </a:t>
            </a:r>
            <a:r>
              <a:rPr lang="en-ID" sz="2400" dirty="0" err="1"/>
              <a:t>dukungan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kepemimpinan</a:t>
            </a:r>
            <a:r>
              <a:rPr lang="en-ID" sz="2400" dirty="0"/>
              <a:t> dan </a:t>
            </a:r>
            <a:r>
              <a:rPr lang="en-ID" sz="2400" dirty="0" err="1"/>
              <a:t>manajemen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direktur</a:t>
            </a:r>
            <a:r>
              <a:rPr lang="en-ID" sz="2400" dirty="0"/>
              <a:t> dan </a:t>
            </a:r>
            <a:r>
              <a:rPr lang="en-ID" sz="2400" dirty="0" err="1"/>
              <a:t>staf</a:t>
            </a:r>
            <a:r>
              <a:rPr lang="en-ID" sz="2400" dirty="0"/>
              <a:t> senior NMHS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diakui</a:t>
            </a:r>
            <a:r>
              <a:rPr lang="en-ID" sz="2400" dirty="0"/>
              <a:t> oleh WMO. </a:t>
            </a:r>
            <a:r>
              <a:rPr lang="en-ID" sz="2400" dirty="0" err="1"/>
              <a:t>Sejumlah</a:t>
            </a:r>
            <a:r>
              <a:rPr lang="en-ID" sz="2400" dirty="0"/>
              <a:t> </a:t>
            </a:r>
            <a:r>
              <a:rPr lang="en-ID" sz="2400" dirty="0" err="1"/>
              <a:t>mekanisme</a:t>
            </a:r>
            <a:r>
              <a:rPr lang="en-ID" sz="2400" dirty="0"/>
              <a:t> </a:t>
            </a:r>
            <a:r>
              <a:rPr lang="en-ID" sz="2400" dirty="0" err="1"/>
              <a:t>tersedia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mendukung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kapasitas</a:t>
            </a:r>
            <a:r>
              <a:rPr lang="en-ID" sz="2400" dirty="0"/>
              <a:t> di </a:t>
            </a:r>
            <a:r>
              <a:rPr lang="en-ID" sz="2400" dirty="0" err="1"/>
              <a:t>bidang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endParaRPr lang="en-ID" sz="2400" dirty="0"/>
          </a:p>
          <a:p>
            <a:pPr algn="just">
              <a:lnSpc>
                <a:spcPct val="150000"/>
              </a:lnSpc>
            </a:pPr>
            <a:r>
              <a:rPr lang="en-ID" sz="2400" dirty="0" err="1"/>
              <a:t>Tidaklah</a:t>
            </a:r>
            <a:r>
              <a:rPr lang="en-ID" sz="2400" dirty="0"/>
              <a:t> </a:t>
            </a:r>
            <a:r>
              <a:rPr lang="en-ID" sz="2400" dirty="0" err="1"/>
              <a:t>mungkin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tepat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Pedoman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materi</a:t>
            </a:r>
            <a:r>
              <a:rPr lang="en-ID" sz="2400" dirty="0"/>
              <a:t> yang </a:t>
            </a:r>
            <a:r>
              <a:rPr lang="en-ID" sz="2400" dirty="0" err="1"/>
              <a:t>definitif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ekstensif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kepemimpinan</a:t>
            </a:r>
            <a:r>
              <a:rPr lang="en-ID" sz="2400" dirty="0"/>
              <a:t>. </a:t>
            </a:r>
            <a:r>
              <a:rPr lang="en-ID" sz="2400" dirty="0" err="1"/>
              <a:t>Topik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dibahas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kursus</a:t>
            </a:r>
            <a:r>
              <a:rPr lang="en-ID" sz="2400" dirty="0"/>
              <a:t> </a:t>
            </a:r>
            <a:r>
              <a:rPr lang="en-ID" sz="2400" dirty="0" err="1"/>
              <a:t>bisnis</a:t>
            </a:r>
            <a:r>
              <a:rPr lang="en-ID" sz="2400" dirty="0"/>
              <a:t>, </a:t>
            </a:r>
            <a:r>
              <a:rPr lang="en-ID" sz="2400" dirty="0" err="1"/>
              <a:t>buku</a:t>
            </a:r>
            <a:r>
              <a:rPr lang="en-ID" sz="2400" dirty="0"/>
              <a:t>, dan program </a:t>
            </a:r>
            <a:r>
              <a:rPr lang="en-ID" sz="2400" dirty="0" err="1"/>
              <a:t>pelatihan</a:t>
            </a:r>
            <a:r>
              <a:rPr lang="en-ID" sz="2400" dirty="0"/>
              <a:t> dan </a:t>
            </a:r>
            <a:r>
              <a:rPr lang="en-ID" sz="2400" dirty="0" err="1"/>
              <a:t>pengembangan</a:t>
            </a:r>
            <a:r>
              <a:rPr lang="en-ID" sz="2400" dirty="0"/>
              <a:t> di </a:t>
            </a:r>
            <a:r>
              <a:rPr lang="en-ID" sz="2400" dirty="0" err="1"/>
              <a:t>seluruh</a:t>
            </a:r>
            <a:r>
              <a:rPr lang="en-ID" sz="2400" dirty="0"/>
              <a:t> dunia. </a:t>
            </a:r>
            <a:r>
              <a:rPr lang="en-ID" sz="2400" dirty="0" err="1"/>
              <a:t>Selain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, </a:t>
            </a:r>
            <a:r>
              <a:rPr lang="en-ID" sz="2400" dirty="0" err="1"/>
              <a:t>sebagian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 </a:t>
            </a:r>
            <a:r>
              <a:rPr lang="en-ID" sz="2400" dirty="0" err="1"/>
              <a:t>pemerintah</a:t>
            </a:r>
            <a:r>
              <a:rPr lang="en-ID" sz="2400" dirty="0"/>
              <a:t>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program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kepemimpinan</a:t>
            </a:r>
            <a:r>
              <a:rPr lang="en-ID" sz="2400" dirty="0"/>
              <a:t> </a:t>
            </a:r>
            <a:r>
              <a:rPr lang="en-ID" sz="2400" dirty="0" err="1"/>
              <a:t>berkualitas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yang </a:t>
            </a:r>
            <a:r>
              <a:rPr lang="en-ID" sz="2400" dirty="0" err="1"/>
              <a:t>signifikan</a:t>
            </a:r>
            <a:r>
              <a:rPr lang="en-ID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2076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189A1-A0C8-AAC3-2EB0-CFA9B9BF7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743" y="878566"/>
            <a:ext cx="10515600" cy="5043263"/>
          </a:xfrm>
        </p:spPr>
        <p:txBody>
          <a:bodyPr>
            <a:normAutofit lnSpcReduction="10000"/>
          </a:bodyPr>
          <a:lstStyle/>
          <a:p>
            <a:pPr algn="just"/>
            <a:r>
              <a:rPr lang="en-ID" sz="2000" dirty="0" err="1"/>
              <a:t>Direktur</a:t>
            </a:r>
            <a:r>
              <a:rPr lang="en-ID" sz="2000" dirty="0"/>
              <a:t> NMHS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sejumlah</a:t>
            </a:r>
            <a:r>
              <a:rPr lang="en-ID" sz="2000" dirty="0"/>
              <a:t> </a:t>
            </a:r>
            <a:r>
              <a:rPr lang="en-ID" sz="2000" dirty="0" err="1"/>
              <a:t>peran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1800" dirty="0"/>
              <a:t>Chief executive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1800" dirty="0"/>
              <a:t>Peran Wakil </a:t>
            </a:r>
            <a:r>
              <a:rPr lang="en-ID" sz="1800" dirty="0" err="1"/>
              <a:t>Tetap</a:t>
            </a:r>
            <a:r>
              <a:rPr lang="en-ID" sz="1800" dirty="0"/>
              <a:t> </a:t>
            </a:r>
            <a:r>
              <a:rPr lang="en-ID" sz="1800" dirty="0" err="1"/>
              <a:t>Anggota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WMO (Representative WMO)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sv-SE" sz="1800" dirty="0"/>
              <a:t>Bertanggung jawab kepada menteri pemerintah (atau pejabat pemerintah yang lebih senior)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1800" dirty="0" err="1"/>
              <a:t>Tanggung</a:t>
            </a:r>
            <a:r>
              <a:rPr lang="en-ID" sz="1800" dirty="0"/>
              <a:t> </a:t>
            </a:r>
            <a:r>
              <a:rPr lang="en-ID" sz="1800" dirty="0" err="1"/>
              <a:t>jawab</a:t>
            </a:r>
            <a:r>
              <a:rPr lang="en-ID" sz="1800" dirty="0"/>
              <a:t> </a:t>
            </a:r>
            <a:r>
              <a:rPr lang="en-ID" sz="1800" dirty="0" err="1"/>
              <a:t>hukum</a:t>
            </a:r>
            <a:r>
              <a:rPr lang="en-ID" sz="1800" dirty="0"/>
              <a:t> </a:t>
            </a:r>
            <a:r>
              <a:rPr lang="en-ID" sz="1800" dirty="0" err="1"/>
              <a:t>jika</a:t>
            </a:r>
            <a:r>
              <a:rPr lang="en-ID" sz="1800" dirty="0"/>
              <a:t> NMHS </a:t>
            </a:r>
            <a:r>
              <a:rPr lang="en-ID" sz="1800" dirty="0" err="1"/>
              <a:t>memiliki</a:t>
            </a:r>
            <a:r>
              <a:rPr lang="en-ID" sz="1800" dirty="0"/>
              <a:t> </a:t>
            </a:r>
            <a:r>
              <a:rPr lang="en-ID" sz="1800" dirty="0" err="1"/>
              <a:t>kerangka</a:t>
            </a:r>
            <a:r>
              <a:rPr lang="en-ID" sz="1800" dirty="0"/>
              <a:t> </a:t>
            </a:r>
            <a:r>
              <a:rPr lang="en-ID" sz="1800" dirty="0" err="1"/>
              <a:t>hukum</a:t>
            </a:r>
            <a:r>
              <a:rPr lang="en-ID" sz="1800" dirty="0"/>
              <a:t> </a:t>
            </a:r>
            <a:r>
              <a:rPr lang="en-ID" sz="1800" dirty="0" err="1"/>
              <a:t>terkait</a:t>
            </a:r>
            <a:endParaRPr lang="en-ID" sz="18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1800" dirty="0" err="1"/>
              <a:t>Advokat</a:t>
            </a:r>
            <a:r>
              <a:rPr lang="en-ID" sz="1800" dirty="0"/>
              <a:t> </a:t>
            </a:r>
            <a:r>
              <a:rPr lang="en-ID" sz="1800" dirty="0" err="1"/>
              <a:t>utama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NMHS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hal</a:t>
            </a:r>
            <a:r>
              <a:rPr lang="en-ID" sz="1800" dirty="0"/>
              <a:t> status, </a:t>
            </a:r>
            <a:r>
              <a:rPr lang="en-ID" sz="1800" dirty="0" err="1"/>
              <a:t>visibilitas</a:t>
            </a:r>
            <a:r>
              <a:rPr lang="en-ID" sz="1800" dirty="0"/>
              <a:t>, dan </a:t>
            </a:r>
            <a:r>
              <a:rPr lang="en-ID" sz="1800" dirty="0" err="1"/>
              <a:t>sumber</a:t>
            </a:r>
            <a:r>
              <a:rPr lang="en-ID" sz="1800" dirty="0"/>
              <a:t> </a:t>
            </a:r>
            <a:r>
              <a:rPr lang="en-ID" sz="1800" dirty="0" err="1"/>
              <a:t>daya</a:t>
            </a:r>
            <a:r>
              <a:rPr lang="en-ID" sz="1800" dirty="0"/>
              <a:t> NMHS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1800" dirty="0"/>
              <a:t>Orang </a:t>
            </a:r>
            <a:r>
              <a:rPr lang="en-ID" sz="1800" dirty="0" err="1"/>
              <a:t>kunci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menetapkan</a:t>
            </a:r>
            <a:r>
              <a:rPr lang="en-ID" sz="1800" dirty="0"/>
              <a:t> </a:t>
            </a:r>
            <a:r>
              <a:rPr lang="en-ID" sz="1800" dirty="0" err="1"/>
              <a:t>visi</a:t>
            </a:r>
            <a:r>
              <a:rPr lang="en-ID" sz="1800" dirty="0"/>
              <a:t> dan </a:t>
            </a:r>
            <a:r>
              <a:rPr lang="en-ID" sz="1800" dirty="0" err="1"/>
              <a:t>budaya</a:t>
            </a:r>
            <a:r>
              <a:rPr lang="en-ID" sz="1800" dirty="0"/>
              <a:t> </a:t>
            </a:r>
            <a:r>
              <a:rPr lang="en-ID" sz="1800" dirty="0" err="1"/>
              <a:t>organisasi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staf</a:t>
            </a:r>
            <a:r>
              <a:rPr lang="en-ID" sz="1800" dirty="0"/>
              <a:t> NMHS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1800" dirty="0" err="1"/>
              <a:t>Bertanggung</a:t>
            </a:r>
            <a:r>
              <a:rPr lang="en-ID" sz="1800" dirty="0"/>
              <a:t> </a:t>
            </a:r>
            <a:r>
              <a:rPr lang="en-ID" sz="1800" dirty="0" err="1"/>
              <a:t>jawab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pengembangan</a:t>
            </a:r>
            <a:r>
              <a:rPr lang="en-ID" sz="1800" dirty="0"/>
              <a:t> </a:t>
            </a:r>
            <a:r>
              <a:rPr lang="en-ID" sz="1800" dirty="0" err="1"/>
              <a:t>staf</a:t>
            </a:r>
            <a:r>
              <a:rPr lang="en-ID" sz="1800" dirty="0"/>
              <a:t> dan </a:t>
            </a:r>
            <a:r>
              <a:rPr lang="en-ID" sz="1800" dirty="0" err="1"/>
              <a:t>infrastruktur</a:t>
            </a:r>
            <a:r>
              <a:rPr lang="en-ID" sz="1800" dirty="0"/>
              <a:t> NMHS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it-IT" sz="1800" dirty="0"/>
              <a:t>Juru bicara NMHS di media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/>
              <a:t>Principal representative in partnership arrangements;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/>
              <a:t>A key person in the management of relationships with major user groups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/>
              <a:t>Membership of related boards and councils.</a:t>
            </a:r>
            <a:endParaRPr lang="en-ID" sz="1800" dirty="0"/>
          </a:p>
          <a:p>
            <a:pPr lvl="1" algn="just">
              <a:buFont typeface="Wingdings" panose="05000000000000000000" pitchFamily="2" charset="2"/>
              <a:buChar char="ü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3742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DE76-7DF1-C2C5-CF38-E819F5AA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611" y="455381"/>
            <a:ext cx="8911687" cy="128089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D" sz="2400" b="1" dirty="0"/>
              <a:t>Pada </a:t>
            </a:r>
            <a:r>
              <a:rPr lang="en-ID" sz="2400" b="1" dirty="0" err="1"/>
              <a:t>dekade</a:t>
            </a:r>
            <a:r>
              <a:rPr lang="en-ID" sz="2400" b="1" dirty="0"/>
              <a:t> </a:t>
            </a:r>
            <a:r>
              <a:rPr lang="en-ID" sz="2400" b="1" dirty="0" err="1"/>
              <a:t>kedua</a:t>
            </a:r>
            <a:r>
              <a:rPr lang="en-ID" sz="2400" b="1" dirty="0"/>
              <a:t> </a:t>
            </a:r>
            <a:r>
              <a:rPr lang="en-ID" sz="2400" b="1" dirty="0" err="1"/>
              <a:t>milenium</a:t>
            </a:r>
            <a:r>
              <a:rPr lang="en-ID" sz="2400" b="1" dirty="0"/>
              <a:t> </a:t>
            </a:r>
            <a:r>
              <a:rPr lang="en-ID" sz="2400" b="1" dirty="0" err="1"/>
              <a:t>ini</a:t>
            </a:r>
            <a:r>
              <a:rPr lang="en-ID" sz="2400" b="1" dirty="0"/>
              <a:t>, </a:t>
            </a:r>
            <a:r>
              <a:rPr lang="en-ID" sz="2400" b="1" dirty="0" err="1"/>
              <a:t>tekanan</a:t>
            </a:r>
            <a:r>
              <a:rPr lang="en-ID" sz="2400" b="1" dirty="0"/>
              <a:t> pada </a:t>
            </a:r>
            <a:r>
              <a:rPr lang="en-ID" sz="2400" b="1" dirty="0" err="1"/>
              <a:t>direktur</a:t>
            </a:r>
            <a:r>
              <a:rPr lang="en-ID" sz="2400" b="1" dirty="0"/>
              <a:t> dan </a:t>
            </a:r>
            <a:r>
              <a:rPr lang="en-ID" sz="2400" b="1" dirty="0" err="1"/>
              <a:t>staf</a:t>
            </a:r>
            <a:r>
              <a:rPr lang="en-ID" sz="2400" b="1" dirty="0"/>
              <a:t> senior NMHS </a:t>
            </a:r>
            <a:r>
              <a:rPr lang="en-ID" sz="2400" b="1" dirty="0" err="1"/>
              <a:t>telah</a:t>
            </a:r>
            <a:r>
              <a:rPr lang="en-ID" sz="2400" b="1" dirty="0"/>
              <a:t> </a:t>
            </a:r>
            <a:r>
              <a:rPr lang="en-ID" sz="2400" b="1" dirty="0" err="1"/>
              <a:t>meningkat</a:t>
            </a:r>
            <a:r>
              <a:rPr lang="en-ID" sz="2400" b="1" dirty="0"/>
              <a:t> </a:t>
            </a:r>
            <a:r>
              <a:rPr lang="en-ID" sz="2400" b="1" dirty="0" err="1"/>
              <a:t>secara</a:t>
            </a:r>
            <a:r>
              <a:rPr lang="en-ID" sz="2400" b="1" dirty="0"/>
              <a:t> </a:t>
            </a:r>
            <a:r>
              <a:rPr lang="en-ID" sz="2400" b="1" dirty="0" err="1"/>
              <a:t>signifikan</a:t>
            </a:r>
            <a:r>
              <a:rPr lang="en-ID" sz="2400" b="1" dirty="0"/>
              <a:t>, </a:t>
            </a:r>
            <a:r>
              <a:rPr lang="en-ID" sz="2400" b="1" dirty="0" err="1"/>
              <a:t>karena</a:t>
            </a:r>
            <a:r>
              <a:rPr lang="en-ID" sz="2400" b="1" dirty="0"/>
              <a:t> </a:t>
            </a:r>
            <a:r>
              <a:rPr lang="en-ID" sz="2400" b="1" dirty="0" err="1"/>
              <a:t>isu-isu</a:t>
            </a:r>
            <a:r>
              <a:rPr lang="en-ID" sz="2400" b="1" dirty="0"/>
              <a:t> </a:t>
            </a:r>
            <a:r>
              <a:rPr lang="en-ID" sz="2400" b="1" dirty="0" err="1"/>
              <a:t>seperti</a:t>
            </a:r>
            <a:r>
              <a:rPr lang="en-ID" sz="2400" b="1" dirty="0"/>
              <a:t> </a:t>
            </a:r>
            <a:r>
              <a:rPr lang="en-ID" sz="24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F169-770B-8F7D-2EF2-3ADF8154D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6326" y="2209800"/>
            <a:ext cx="8915400" cy="3777622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The global focus on the importance of climate change and variability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The frequency and severity of major disasters and the increase in populations and infrastructure exposed to risk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Meningkatnya</a:t>
            </a:r>
            <a:r>
              <a:rPr lang="en-ID" sz="2000" dirty="0"/>
              <a:t> </a:t>
            </a:r>
            <a:r>
              <a:rPr lang="en-ID" sz="2000" dirty="0" err="1"/>
              <a:t>kesadaran</a:t>
            </a:r>
            <a:r>
              <a:rPr lang="en-ID" sz="2000" dirty="0"/>
              <a:t> di </a:t>
            </a:r>
            <a:r>
              <a:rPr lang="en-ID" sz="2000" dirty="0" err="1"/>
              <a:t>antara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r>
              <a:rPr lang="en-ID" sz="2000" dirty="0"/>
              <a:t> </a:t>
            </a:r>
            <a:r>
              <a:rPr lang="en-ID" sz="2000" dirty="0" err="1"/>
              <a:t>tentang</a:t>
            </a:r>
            <a:r>
              <a:rPr lang="en-ID" sz="2000" dirty="0"/>
              <a:t> </a:t>
            </a:r>
            <a:r>
              <a:rPr lang="en-ID" sz="2000" dirty="0" err="1"/>
              <a:t>masalah</a:t>
            </a:r>
            <a:r>
              <a:rPr lang="en-ID" sz="2000" dirty="0"/>
              <a:t> </a:t>
            </a:r>
            <a:r>
              <a:rPr lang="en-ID" sz="2000" dirty="0" err="1"/>
              <a:t>variabilitas</a:t>
            </a:r>
            <a:r>
              <a:rPr lang="en-ID" sz="2000" dirty="0"/>
              <a:t> dan </a:t>
            </a:r>
            <a:r>
              <a:rPr lang="en-ID" sz="2000" dirty="0" err="1"/>
              <a:t>perubahan</a:t>
            </a:r>
            <a:r>
              <a:rPr lang="en-ID" sz="2000" dirty="0"/>
              <a:t> </a:t>
            </a:r>
            <a:r>
              <a:rPr lang="en-ID" sz="2000" dirty="0" err="1"/>
              <a:t>iklim</a:t>
            </a:r>
            <a:r>
              <a:rPr lang="en-ID" sz="2000" dirty="0"/>
              <a:t>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permintaan</a:t>
            </a:r>
            <a:r>
              <a:rPr lang="en-ID" sz="2000" dirty="0"/>
              <a:t> yang </a:t>
            </a:r>
            <a:r>
              <a:rPr lang="en-ID" sz="2000" dirty="0" err="1"/>
              <a:t>meningkat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layanan</a:t>
            </a:r>
            <a:r>
              <a:rPr lang="en-ID" sz="2000" dirty="0"/>
              <a:t> yang </a:t>
            </a:r>
            <a:r>
              <a:rPr lang="en-ID" sz="2000" dirty="0" err="1"/>
              <a:t>ditargetkan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018136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029E4-E9DF-1759-4C85-E0042ABE7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7083" y="1172796"/>
            <a:ext cx="8915400" cy="4512408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Tujuan</a:t>
            </a:r>
            <a:r>
              <a:rPr lang="en-ID" sz="2000" dirty="0"/>
              <a:t> </a:t>
            </a:r>
            <a:r>
              <a:rPr lang="en-ID" sz="2000" dirty="0" err="1"/>
              <a:t>pembangunan</a:t>
            </a:r>
            <a:r>
              <a:rPr lang="en-ID" sz="2000" dirty="0"/>
              <a:t> yang </a:t>
            </a:r>
            <a:r>
              <a:rPr lang="en-ID" sz="2000" dirty="0" err="1"/>
              <a:t>disepakati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internasional</a:t>
            </a:r>
            <a:r>
              <a:rPr lang="en-ID" sz="2000" dirty="0"/>
              <a:t> yang </a:t>
            </a:r>
            <a:r>
              <a:rPr lang="en-ID" sz="2000" dirty="0" err="1"/>
              <a:t>diharapkan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disumbangkan</a:t>
            </a:r>
            <a:r>
              <a:rPr lang="en-ID" sz="2000" dirty="0"/>
              <a:t> oleh </a:t>
            </a:r>
            <a:r>
              <a:rPr lang="en-ID" sz="2000" dirty="0" err="1"/>
              <a:t>Anggota</a:t>
            </a:r>
            <a:r>
              <a:rPr lang="en-ID" sz="2000" dirty="0"/>
              <a:t> WMO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Proyek</a:t>
            </a:r>
            <a:r>
              <a:rPr lang="en-ID" sz="2000" dirty="0"/>
              <a:t> </a:t>
            </a:r>
            <a:r>
              <a:rPr lang="en-ID" sz="2000" dirty="0" err="1"/>
              <a:t>kolaboratif</a:t>
            </a:r>
            <a:r>
              <a:rPr lang="en-ID" sz="2000" dirty="0"/>
              <a:t> </a:t>
            </a:r>
            <a:r>
              <a:rPr lang="en-ID" sz="2000" dirty="0" err="1"/>
              <a:t>internasional</a:t>
            </a:r>
            <a:r>
              <a:rPr lang="en-ID" sz="2000" dirty="0"/>
              <a:t> yang </a:t>
            </a:r>
            <a:r>
              <a:rPr lang="en-ID" sz="2000" dirty="0" err="1"/>
              <a:t>menawarkan</a:t>
            </a:r>
            <a:r>
              <a:rPr lang="en-ID" sz="2000" dirty="0"/>
              <a:t> </a:t>
            </a:r>
            <a:r>
              <a:rPr lang="en-ID" sz="2000" dirty="0" err="1"/>
              <a:t>manfaat</a:t>
            </a:r>
            <a:r>
              <a:rPr lang="en-ID" sz="2000" dirty="0"/>
              <a:t> </a:t>
            </a:r>
            <a:r>
              <a:rPr lang="en-ID" sz="2000" dirty="0" err="1"/>
              <a:t>bagi</a:t>
            </a:r>
            <a:r>
              <a:rPr lang="en-ID" sz="2000" dirty="0"/>
              <a:t> </a:t>
            </a:r>
            <a:r>
              <a:rPr lang="en-ID" sz="2000" dirty="0" err="1"/>
              <a:t>Anggota</a:t>
            </a:r>
            <a:r>
              <a:rPr lang="en-ID" sz="2000" dirty="0"/>
              <a:t> dan NMHS </a:t>
            </a:r>
            <a:r>
              <a:rPr lang="en-ID" sz="2000" dirty="0" err="1"/>
              <a:t>tetapi</a:t>
            </a:r>
            <a:r>
              <a:rPr lang="en-ID" sz="2000" dirty="0"/>
              <a:t> </a:t>
            </a:r>
            <a:r>
              <a:rPr lang="en-ID" sz="2000" dirty="0" err="1"/>
              <a:t>memerlukan</a:t>
            </a:r>
            <a:r>
              <a:rPr lang="en-ID" sz="2000" dirty="0"/>
              <a:t> </a:t>
            </a:r>
            <a:r>
              <a:rPr lang="en-ID" sz="2000" dirty="0" err="1"/>
              <a:t>upaya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keterlibatan</a:t>
            </a:r>
            <a:r>
              <a:rPr lang="en-ID" sz="2000" dirty="0"/>
              <a:t> yang </a:t>
            </a:r>
            <a:r>
              <a:rPr lang="en-ID" sz="2000" dirty="0" err="1"/>
              <a:t>berhasil</a:t>
            </a:r>
            <a:r>
              <a:rPr lang="en-ID" sz="20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Perbaikan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observasi</a:t>
            </a:r>
            <a:r>
              <a:rPr lang="en-ID" sz="2000" dirty="0"/>
              <a:t>, </a:t>
            </a:r>
            <a:r>
              <a:rPr lang="en-ID" sz="2000" dirty="0" err="1"/>
              <a:t>prakiraan</a:t>
            </a:r>
            <a:r>
              <a:rPr lang="en-ID" sz="2000" dirty="0"/>
              <a:t>, </a:t>
            </a:r>
            <a:r>
              <a:rPr lang="en-ID" sz="2000" dirty="0" err="1"/>
              <a:t>komunikasi</a:t>
            </a:r>
            <a:r>
              <a:rPr lang="en-ID" sz="2000" dirty="0"/>
              <a:t> dan </a:t>
            </a:r>
            <a:r>
              <a:rPr lang="en-ID" sz="2000" dirty="0" err="1"/>
              <a:t>teknologi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Laju</a:t>
            </a:r>
            <a:r>
              <a:rPr lang="en-ID" sz="2000" dirty="0"/>
              <a:t> </a:t>
            </a:r>
            <a:r>
              <a:rPr lang="en-ID" sz="2000" dirty="0" err="1"/>
              <a:t>keseluruhan</a:t>
            </a:r>
            <a:r>
              <a:rPr lang="en-ID" sz="2000" dirty="0"/>
              <a:t> </a:t>
            </a:r>
            <a:r>
              <a:rPr lang="en-ID" sz="2000" dirty="0" err="1"/>
              <a:t>perubahan</a:t>
            </a:r>
            <a:r>
              <a:rPr lang="en-ID" sz="2000" dirty="0"/>
              <a:t> </a:t>
            </a:r>
            <a:r>
              <a:rPr lang="en-ID" sz="2000" dirty="0" err="1"/>
              <a:t>sosial</a:t>
            </a:r>
            <a:r>
              <a:rPr lang="en-ID" sz="2000" dirty="0"/>
              <a:t> dan </a:t>
            </a:r>
            <a:r>
              <a:rPr lang="en-ID" sz="2000" dirty="0" err="1"/>
              <a:t>teknologi</a:t>
            </a:r>
            <a:endParaRPr lang="en-ID" sz="2000" dirty="0"/>
          </a:p>
          <a:p>
            <a:pPr marL="457200" lvl="1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3186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A74DC-0F02-CBA6-201B-D4007E8ED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0070" y="1159329"/>
            <a:ext cx="9693729" cy="501763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200" dirty="0" err="1"/>
              <a:t>Masalah</a:t>
            </a:r>
            <a:r>
              <a:rPr lang="en-ID" sz="2200" dirty="0"/>
              <a:t> </a:t>
            </a:r>
            <a:r>
              <a:rPr lang="en-ID" sz="2200" dirty="0" err="1"/>
              <a:t>kepemimpinan</a:t>
            </a:r>
            <a:r>
              <a:rPr lang="en-ID" sz="2200" dirty="0"/>
              <a:t> dan </a:t>
            </a:r>
            <a:r>
              <a:rPr lang="en-ID" sz="2200" dirty="0" err="1"/>
              <a:t>manajemen</a:t>
            </a:r>
            <a:r>
              <a:rPr lang="en-ID" sz="2200" dirty="0"/>
              <a:t> yang </a:t>
            </a:r>
            <a:r>
              <a:rPr lang="en-ID" sz="2200" dirty="0" err="1"/>
              <a:t>semakin</a:t>
            </a:r>
            <a:r>
              <a:rPr lang="en-ID" sz="2200" dirty="0"/>
              <a:t> </a:t>
            </a:r>
            <a:r>
              <a:rPr lang="en-ID" sz="2200" dirty="0" err="1"/>
              <a:t>mendapat</a:t>
            </a:r>
            <a:r>
              <a:rPr lang="en-ID" sz="2200" dirty="0"/>
              <a:t> </a:t>
            </a:r>
            <a:r>
              <a:rPr lang="en-ID" sz="2200" dirty="0" err="1"/>
              <a:t>perhatian</a:t>
            </a:r>
            <a:r>
              <a:rPr lang="en-ID" sz="2200" dirty="0"/>
              <a:t> </a:t>
            </a:r>
            <a:r>
              <a:rPr lang="en-ID" sz="2200" dirty="0" err="1"/>
              <a:t>internasional</a:t>
            </a:r>
            <a:r>
              <a:rPr lang="en-ID" sz="2200" dirty="0"/>
              <a:t> </a:t>
            </a:r>
            <a:r>
              <a:rPr lang="en-ID" sz="2200" dirty="0" err="1"/>
              <a:t>adalah</a:t>
            </a:r>
            <a:r>
              <a:rPr lang="en-ID" sz="2200" dirty="0"/>
              <a:t> </a:t>
            </a:r>
            <a:r>
              <a:rPr lang="en-ID" sz="2200" dirty="0" err="1"/>
              <a:t>kebutuhan</a:t>
            </a:r>
            <a:r>
              <a:rPr lang="en-ID" sz="2200" dirty="0"/>
              <a:t> dan </a:t>
            </a:r>
            <a:r>
              <a:rPr lang="en-ID" sz="2200" dirty="0" err="1"/>
              <a:t>potensi</a:t>
            </a:r>
            <a:r>
              <a:rPr lang="en-ID" sz="2200" dirty="0"/>
              <a:t> </a:t>
            </a:r>
            <a:r>
              <a:rPr lang="en-ID" sz="2200" dirty="0" err="1"/>
              <a:t>keterlibatan</a:t>
            </a:r>
            <a:r>
              <a:rPr lang="en-ID" sz="2200" dirty="0"/>
              <a:t> </a:t>
            </a:r>
            <a:r>
              <a:rPr lang="en-ID" sz="2200" dirty="0" err="1"/>
              <a:t>perempuan</a:t>
            </a:r>
            <a:r>
              <a:rPr lang="en-ID" sz="2200" dirty="0"/>
              <a:t> yang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besar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NMHS, </a:t>
            </a:r>
            <a:r>
              <a:rPr lang="en-ID" sz="2200" dirty="0" err="1"/>
              <a:t>terutama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peran</a:t>
            </a:r>
            <a:r>
              <a:rPr lang="en-ID" sz="2200" dirty="0"/>
              <a:t> </a:t>
            </a:r>
            <a:r>
              <a:rPr lang="en-ID" sz="2200" dirty="0" err="1"/>
              <a:t>kepemimpinan</a:t>
            </a:r>
            <a:r>
              <a:rPr lang="en-ID" sz="2200" dirty="0"/>
              <a:t>. WMO </a:t>
            </a:r>
            <a:r>
              <a:rPr lang="en-ID" sz="2200" dirty="0" err="1"/>
              <a:t>telah</a:t>
            </a:r>
            <a:r>
              <a:rPr lang="en-ID" sz="2200" dirty="0"/>
              <a:t> </a:t>
            </a:r>
            <a:r>
              <a:rPr lang="en-ID" sz="2200" dirty="0" err="1"/>
              <a:t>menunjukkan</a:t>
            </a:r>
            <a:r>
              <a:rPr lang="en-ID" sz="2200" dirty="0"/>
              <a:t> </a:t>
            </a:r>
            <a:r>
              <a:rPr lang="en-ID" sz="2200" dirty="0" err="1"/>
              <a:t>kepemimpinan</a:t>
            </a:r>
            <a:r>
              <a:rPr lang="en-ID" sz="2200" dirty="0"/>
              <a:t> di </a:t>
            </a:r>
            <a:r>
              <a:rPr lang="en-ID" sz="2200" dirty="0" err="1"/>
              <a:t>bidang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atas</a:t>
            </a:r>
            <a:r>
              <a:rPr lang="en-ID" sz="2200" dirty="0"/>
              <a:t> </a:t>
            </a:r>
            <a:r>
              <a:rPr lang="en-ID" sz="2200" dirty="0" err="1"/>
              <a:t>nama</a:t>
            </a:r>
            <a:r>
              <a:rPr lang="en-ID" sz="2200" dirty="0"/>
              <a:t> </a:t>
            </a:r>
            <a:r>
              <a:rPr lang="en-ID" sz="2200" dirty="0" err="1"/>
              <a:t>Anggota</a:t>
            </a:r>
            <a:r>
              <a:rPr lang="en-ID" sz="2200" dirty="0"/>
              <a:t>, </a:t>
            </a:r>
            <a:r>
              <a:rPr lang="en-ID" sz="2200" dirty="0" err="1"/>
              <a:t>termasuk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mengadakan</a:t>
            </a:r>
            <a:r>
              <a:rPr lang="en-ID" sz="2200" dirty="0"/>
              <a:t> </a:t>
            </a:r>
            <a:r>
              <a:rPr lang="en-ID" sz="2200" dirty="0" err="1"/>
              <a:t>konferensi</a:t>
            </a:r>
            <a:r>
              <a:rPr lang="en-ID" sz="2200" dirty="0"/>
              <a:t> Gender Dimensions of Weather and Climate Services di </a:t>
            </a:r>
            <a:r>
              <a:rPr lang="en-ID" sz="2200" dirty="0" err="1"/>
              <a:t>Jenewa</a:t>
            </a:r>
            <a:r>
              <a:rPr lang="en-ID" sz="2200" dirty="0"/>
              <a:t> pada November 2014. Pada </a:t>
            </a:r>
            <a:r>
              <a:rPr lang="en-ID" sz="2200" dirty="0" err="1"/>
              <a:t>sesi</a:t>
            </a:r>
            <a:r>
              <a:rPr lang="en-ID" sz="2200" dirty="0"/>
              <a:t> </a:t>
            </a:r>
            <a:r>
              <a:rPr lang="en-ID" sz="2200" dirty="0" err="1"/>
              <a:t>ketujuh</a:t>
            </a:r>
            <a:r>
              <a:rPr lang="en-ID" sz="2200" dirty="0"/>
              <a:t> </a:t>
            </a:r>
            <a:r>
              <a:rPr lang="en-ID" sz="2200" dirty="0" err="1"/>
              <a:t>belas</a:t>
            </a:r>
            <a:r>
              <a:rPr lang="en-ID" sz="2200" dirty="0"/>
              <a:t>, </a:t>
            </a:r>
            <a:r>
              <a:rPr lang="en-ID" sz="2200" dirty="0" err="1"/>
              <a:t>Kongres</a:t>
            </a:r>
            <a:r>
              <a:rPr lang="en-ID" sz="2200" dirty="0"/>
              <a:t> </a:t>
            </a:r>
            <a:r>
              <a:rPr lang="en-ID" sz="2200" dirty="0" err="1"/>
              <a:t>Meteorologi</a:t>
            </a:r>
            <a:r>
              <a:rPr lang="en-ID" sz="2200" dirty="0"/>
              <a:t> Dunia </a:t>
            </a:r>
            <a:r>
              <a:rPr lang="en-ID" sz="2200" dirty="0" err="1"/>
              <a:t>mengadopsi</a:t>
            </a:r>
            <a:r>
              <a:rPr lang="en-ID" sz="2200" dirty="0"/>
              <a:t> </a:t>
            </a:r>
            <a:r>
              <a:rPr lang="en-ID" sz="2200" dirty="0" err="1"/>
              <a:t>Resolusi</a:t>
            </a:r>
            <a:r>
              <a:rPr lang="en-ID" sz="2200" dirty="0"/>
              <a:t> 59</a:t>
            </a:r>
          </a:p>
        </p:txBody>
      </p:sp>
    </p:spTree>
    <p:extLst>
      <p:ext uri="{BB962C8B-B14F-4D97-AF65-F5344CB8AC3E}">
        <p14:creationId xmlns:p14="http://schemas.microsoft.com/office/powerpoint/2010/main" val="145671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2215F-2594-992C-C95A-3E4BF187A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971"/>
            <a:ext cx="10515600" cy="56979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000" b="1" dirty="0" err="1"/>
              <a:t>Beberapa</a:t>
            </a:r>
            <a:r>
              <a:rPr lang="en-ID" sz="2000" b="1" dirty="0"/>
              <a:t> </a:t>
            </a:r>
            <a:r>
              <a:rPr lang="en-ID" sz="2000" b="1" dirty="0" err="1"/>
              <a:t>tantangan</a:t>
            </a:r>
            <a:r>
              <a:rPr lang="en-ID" sz="2000" b="1" dirty="0"/>
              <a:t> paling </a:t>
            </a:r>
            <a:r>
              <a:rPr lang="en-ID" sz="2000" b="1" dirty="0" err="1"/>
              <a:t>umum</a:t>
            </a:r>
            <a:r>
              <a:rPr lang="en-ID" sz="2000" b="1" dirty="0"/>
              <a:t> </a:t>
            </a:r>
            <a:r>
              <a:rPr lang="en-ID" sz="2000" b="1" dirty="0" err="1"/>
              <a:t>bagi</a:t>
            </a:r>
            <a:r>
              <a:rPr lang="en-ID" sz="2000" b="1" dirty="0"/>
              <a:t> </a:t>
            </a:r>
            <a:r>
              <a:rPr lang="en-ID" sz="2000" b="1" dirty="0" err="1"/>
              <a:t>direktur</a:t>
            </a:r>
            <a:r>
              <a:rPr lang="en-ID" sz="2000" b="1" dirty="0"/>
              <a:t> dan </a:t>
            </a:r>
            <a:r>
              <a:rPr lang="en-ID" sz="2000" b="1" dirty="0" err="1"/>
              <a:t>staf</a:t>
            </a:r>
            <a:r>
              <a:rPr lang="en-ID" sz="2000" b="1" dirty="0"/>
              <a:t> senior </a:t>
            </a:r>
            <a:r>
              <a:rPr lang="en-ID" sz="2000" b="1" dirty="0" err="1"/>
              <a:t>adalah</a:t>
            </a:r>
            <a:r>
              <a:rPr lang="en-ID" sz="2000" b="1" dirty="0"/>
              <a:t>  </a:t>
            </a:r>
            <a:r>
              <a:rPr lang="en-ID" sz="2000" dirty="0"/>
              <a:t>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Memastikan</a:t>
            </a:r>
            <a:r>
              <a:rPr lang="en-ID" sz="2000" dirty="0"/>
              <a:t> NMHS </a:t>
            </a:r>
            <a:r>
              <a:rPr lang="en-ID" sz="2000" dirty="0" err="1"/>
              <a:t>mampu</a:t>
            </a:r>
            <a:r>
              <a:rPr lang="en-ID" sz="2000" dirty="0"/>
              <a:t> </a:t>
            </a:r>
            <a:r>
              <a:rPr lang="en-ID" sz="2000" dirty="0" err="1"/>
              <a:t>memenuhi</a:t>
            </a:r>
            <a:r>
              <a:rPr lang="en-ID" sz="2000" dirty="0"/>
              <a:t> </a:t>
            </a:r>
            <a:r>
              <a:rPr lang="en-ID" sz="2000" dirty="0" err="1"/>
              <a:t>kebutuhan</a:t>
            </a:r>
            <a:r>
              <a:rPr lang="en-ID" sz="2000" dirty="0"/>
              <a:t> </a:t>
            </a:r>
            <a:r>
              <a:rPr lang="en-ID" sz="2000" dirty="0" err="1"/>
              <a:t>nasional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meteorologi</a:t>
            </a:r>
            <a:r>
              <a:rPr lang="en-ID" sz="2000" dirty="0"/>
              <a:t> dan data </a:t>
            </a:r>
            <a:r>
              <a:rPr lang="en-ID" sz="2000" dirty="0" err="1"/>
              <a:t>terkait</a:t>
            </a:r>
            <a:r>
              <a:rPr lang="en-ID" sz="2000" dirty="0"/>
              <a:t>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layanan</a:t>
            </a:r>
            <a:r>
              <a:rPr lang="en-ID" sz="2000" dirty="0"/>
              <a:t> yang </a:t>
            </a:r>
            <a:r>
              <a:rPr lang="en-ID" sz="2000" dirty="0" err="1"/>
              <a:t>relevan</a:t>
            </a:r>
            <a:r>
              <a:rPr lang="en-ID" sz="2000" dirty="0"/>
              <a:t> dan </a:t>
            </a:r>
            <a:r>
              <a:rPr lang="en-ID" sz="2000" dirty="0" err="1"/>
              <a:t>berkelanjutan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Mengklarifikasi</a:t>
            </a:r>
            <a:r>
              <a:rPr lang="en-ID" sz="2000" dirty="0"/>
              <a:t> dan </a:t>
            </a:r>
            <a:r>
              <a:rPr lang="en-ID" sz="2000" dirty="0" err="1"/>
              <a:t>mengartikulasikan</a:t>
            </a:r>
            <a:r>
              <a:rPr lang="en-ID" sz="2000" dirty="0"/>
              <a:t> </a:t>
            </a:r>
            <a:r>
              <a:rPr lang="en-ID" sz="2000" dirty="0" err="1"/>
              <a:t>mandat</a:t>
            </a:r>
            <a:r>
              <a:rPr lang="en-ID" sz="2000" dirty="0"/>
              <a:t> NMHS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Merumuskan</a:t>
            </a:r>
            <a:r>
              <a:rPr lang="en-ID" sz="2000" dirty="0"/>
              <a:t> dan </a:t>
            </a:r>
            <a:r>
              <a:rPr lang="en-ID" sz="2000" dirty="0" err="1"/>
              <a:t>menerapkan</a:t>
            </a:r>
            <a:r>
              <a:rPr lang="en-ID" sz="2000" dirty="0"/>
              <a:t> </a:t>
            </a:r>
            <a:r>
              <a:rPr lang="en-ID" sz="2000" dirty="0" err="1"/>
              <a:t>rencana</a:t>
            </a:r>
            <a:r>
              <a:rPr lang="en-ID" sz="2000" dirty="0"/>
              <a:t> </a:t>
            </a:r>
            <a:r>
              <a:rPr lang="en-ID" sz="2000" dirty="0" err="1"/>
              <a:t>strategis</a:t>
            </a:r>
            <a:r>
              <a:rPr lang="en-ID" sz="2000" dirty="0"/>
              <a:t> yang </a:t>
            </a:r>
            <a:r>
              <a:rPr lang="en-ID" sz="2000" dirty="0" err="1"/>
              <a:t>efektif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argumen</a:t>
            </a:r>
            <a:r>
              <a:rPr lang="en-ID" sz="2000" dirty="0"/>
              <a:t> yang </a:t>
            </a:r>
            <a:r>
              <a:rPr lang="en-ID" sz="2000" dirty="0" err="1"/>
              <a:t>kuat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mendapatkan</a:t>
            </a:r>
            <a:r>
              <a:rPr lang="en-ID" sz="2000" dirty="0"/>
              <a:t> </a:t>
            </a:r>
            <a:r>
              <a:rPr lang="en-ID" sz="2000" dirty="0" err="1"/>
              <a:t>sumber</a:t>
            </a:r>
            <a:r>
              <a:rPr lang="en-ID" sz="2000" dirty="0"/>
              <a:t> </a:t>
            </a:r>
            <a:r>
              <a:rPr lang="en-ID" sz="2000" dirty="0" err="1"/>
              <a:t>daya</a:t>
            </a:r>
            <a:r>
              <a:rPr lang="en-ID" sz="2000" dirty="0"/>
              <a:t> </a:t>
            </a:r>
            <a:r>
              <a:rPr lang="en-ID" sz="2000" dirty="0" err="1"/>
              <a:t>keuangan</a:t>
            </a:r>
            <a:r>
              <a:rPr lang="en-ID" sz="2000" dirty="0"/>
              <a:t>, </a:t>
            </a:r>
            <a:r>
              <a:rPr lang="en-ID" sz="2000" dirty="0" err="1"/>
              <a:t>teknis</a:t>
            </a:r>
            <a:r>
              <a:rPr lang="en-ID" sz="2000" dirty="0"/>
              <a:t> dan </a:t>
            </a:r>
            <a:r>
              <a:rPr lang="en-ID" sz="2000" dirty="0" err="1"/>
              <a:t>manusia</a:t>
            </a:r>
            <a:r>
              <a:rPr lang="en-ID" sz="2000" dirty="0"/>
              <a:t> yang </a:t>
            </a:r>
            <a:r>
              <a:rPr lang="en-ID" sz="2000" dirty="0" err="1"/>
              <a:t>cukup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melaksanakan</a:t>
            </a:r>
            <a:r>
              <a:rPr lang="en-ID" sz="2000" dirty="0"/>
              <a:t> </a:t>
            </a:r>
            <a:r>
              <a:rPr lang="en-ID" sz="2000" dirty="0" err="1"/>
              <a:t>mandat</a:t>
            </a:r>
            <a:r>
              <a:rPr lang="en-ID" sz="2000" dirty="0"/>
              <a:t> NMHS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Rekrutmen</a:t>
            </a:r>
            <a:r>
              <a:rPr lang="en-ID" sz="2000" dirty="0"/>
              <a:t>, </a:t>
            </a:r>
            <a:r>
              <a:rPr lang="en-ID" sz="2000" dirty="0" err="1"/>
              <a:t>retensi</a:t>
            </a:r>
            <a:r>
              <a:rPr lang="en-ID" sz="2000" dirty="0"/>
              <a:t>, </a:t>
            </a:r>
            <a:r>
              <a:rPr lang="en-ID" sz="2000" dirty="0" err="1"/>
              <a:t>motivasi</a:t>
            </a:r>
            <a:r>
              <a:rPr lang="en-ID" sz="2000" dirty="0"/>
              <a:t> dan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penghargaan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staf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Pemeliharaan</a:t>
            </a:r>
            <a:r>
              <a:rPr lang="en-ID" sz="2000" dirty="0"/>
              <a:t> </a:t>
            </a:r>
            <a:r>
              <a:rPr lang="en-ID" sz="2000" dirty="0" err="1"/>
              <a:t>jaringan</a:t>
            </a:r>
            <a:r>
              <a:rPr lang="en-ID" sz="2000" dirty="0"/>
              <a:t>, </a:t>
            </a:r>
            <a:r>
              <a:rPr lang="en-ID" sz="2000" dirty="0" err="1"/>
              <a:t>peralatan</a:t>
            </a:r>
            <a:r>
              <a:rPr lang="en-ID" sz="2000" dirty="0"/>
              <a:t> dan </a:t>
            </a:r>
            <a:r>
              <a:rPr lang="en-ID" sz="2000" dirty="0" err="1"/>
              <a:t>infrastruktur</a:t>
            </a:r>
            <a:r>
              <a:rPr lang="en-ID" sz="2000" dirty="0"/>
              <a:t> </a:t>
            </a:r>
            <a:r>
              <a:rPr lang="en-ID" sz="2000" dirty="0" err="1"/>
              <a:t>pendukung</a:t>
            </a:r>
            <a:r>
              <a:rPr lang="en-ID" sz="2000" dirty="0"/>
              <a:t> </a:t>
            </a:r>
            <a:r>
              <a:rPr lang="en-ID" sz="2000" dirty="0" err="1"/>
              <a:t>lainnya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D" dirty="0"/>
          </a:p>
          <a:p>
            <a:pPr marL="457200" lvl="1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0989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10A1-2004-9FCA-03D5-CEDC5AF23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314"/>
            <a:ext cx="10515600" cy="4968649"/>
          </a:xfrm>
        </p:spPr>
        <p:txBody>
          <a:bodyPr>
            <a:normAutofit fontScale="92500"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Memberikan</a:t>
            </a:r>
            <a:r>
              <a:rPr lang="en-ID" sz="2000" dirty="0"/>
              <a:t> </a:t>
            </a:r>
            <a:r>
              <a:rPr lang="en-ID" sz="2000" dirty="0" err="1"/>
              <a:t>layanan</a:t>
            </a:r>
            <a:r>
              <a:rPr lang="en-ID" sz="2000" dirty="0"/>
              <a:t> yang </a:t>
            </a:r>
            <a:r>
              <a:rPr lang="en-ID" sz="2000" dirty="0" err="1"/>
              <a:t>relevan</a:t>
            </a:r>
            <a:r>
              <a:rPr lang="en-ID" sz="2000" dirty="0"/>
              <a:t> dan </a:t>
            </a:r>
            <a:r>
              <a:rPr lang="en-ID" sz="2000" dirty="0" err="1"/>
              <a:t>berkualitas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memenuhi</a:t>
            </a:r>
            <a:r>
              <a:rPr lang="en-ID" sz="2000" dirty="0"/>
              <a:t> </a:t>
            </a:r>
            <a:r>
              <a:rPr lang="en-ID" sz="2000" dirty="0" err="1"/>
              <a:t>berbagai</a:t>
            </a:r>
            <a:r>
              <a:rPr lang="en-ID" sz="2000" dirty="0"/>
              <a:t> </a:t>
            </a:r>
            <a:r>
              <a:rPr lang="en-ID" sz="2000" dirty="0" err="1"/>
              <a:t>kebutuhan</a:t>
            </a:r>
            <a:r>
              <a:rPr lang="en-ID" sz="2000" dirty="0"/>
              <a:t> </a:t>
            </a:r>
            <a:r>
              <a:rPr lang="en-ID" sz="2000" dirty="0" err="1"/>
              <a:t>pengguna</a:t>
            </a:r>
            <a:r>
              <a:rPr lang="en-ID" sz="2000" dirty="0"/>
              <a:t> </a:t>
            </a:r>
            <a:r>
              <a:rPr lang="en-ID" sz="2000" dirty="0" err="1"/>
              <a:t>akhir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kapasitas</a:t>
            </a:r>
            <a:r>
              <a:rPr lang="en-ID" sz="2000" dirty="0"/>
              <a:t> dan </a:t>
            </a:r>
            <a:r>
              <a:rPr lang="en-ID" sz="2000" dirty="0" err="1"/>
              <a:t>kinerja</a:t>
            </a:r>
            <a:r>
              <a:rPr lang="en-ID" sz="2000" dirty="0"/>
              <a:t> yang </a:t>
            </a:r>
            <a:r>
              <a:rPr lang="en-ID" sz="2000" dirty="0" err="1"/>
              <a:t>berkelanjutan</a:t>
            </a:r>
            <a:r>
              <a:rPr lang="en-ID" sz="20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Mengelola</a:t>
            </a:r>
            <a:r>
              <a:rPr lang="en-ID" sz="2000" dirty="0"/>
              <a:t> </a:t>
            </a:r>
            <a:r>
              <a:rPr lang="en-ID" sz="2000" dirty="0" err="1"/>
              <a:t>proyek</a:t>
            </a:r>
            <a:r>
              <a:rPr lang="en-ID" sz="2000" dirty="0"/>
              <a:t> </a:t>
            </a:r>
            <a:r>
              <a:rPr lang="en-ID" sz="2000" dirty="0" err="1"/>
              <a:t>pembangunan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Mengikuti</a:t>
            </a:r>
            <a:r>
              <a:rPr lang="en-ID" sz="2000" dirty="0"/>
              <a:t> </a:t>
            </a:r>
            <a:r>
              <a:rPr lang="en-ID" sz="2000" dirty="0" err="1"/>
              <a:t>perkembangan</a:t>
            </a:r>
            <a:r>
              <a:rPr lang="en-ID" sz="2000" dirty="0"/>
              <a:t> yang </a:t>
            </a:r>
            <a:r>
              <a:rPr lang="en-ID" sz="2000" dirty="0" err="1"/>
              <a:t>relevan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ilmu</a:t>
            </a:r>
            <a:r>
              <a:rPr lang="en-ID" sz="2000" dirty="0"/>
              <a:t> </a:t>
            </a:r>
            <a:r>
              <a:rPr lang="en-ID" sz="2000" dirty="0" err="1"/>
              <a:t>pengetahuan</a:t>
            </a:r>
            <a:r>
              <a:rPr lang="en-ID" sz="2000" dirty="0"/>
              <a:t> dan </a:t>
            </a:r>
            <a:r>
              <a:rPr lang="en-ID" sz="2000" dirty="0" err="1"/>
              <a:t>teknologi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Penghargaan</a:t>
            </a:r>
            <a:r>
              <a:rPr lang="en-ID" sz="2000" dirty="0"/>
              <a:t> </a:t>
            </a:r>
            <a:r>
              <a:rPr lang="en-ID" sz="2000" dirty="0" err="1"/>
              <a:t>terhadap</a:t>
            </a:r>
            <a:r>
              <a:rPr lang="en-ID" sz="2000" dirty="0"/>
              <a:t>, dan </a:t>
            </a:r>
            <a:r>
              <a:rPr lang="en-ID" sz="2000" dirty="0" err="1"/>
              <a:t>kemampuan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memenuhi</a:t>
            </a:r>
            <a:r>
              <a:rPr lang="en-ID" sz="2000" dirty="0"/>
              <a:t>, </a:t>
            </a:r>
            <a:r>
              <a:rPr lang="en-ID" sz="2000" dirty="0" err="1"/>
              <a:t>kewajiban</a:t>
            </a:r>
            <a:r>
              <a:rPr lang="en-ID" sz="2000" dirty="0"/>
              <a:t> </a:t>
            </a:r>
            <a:r>
              <a:rPr lang="en-ID" sz="2000" dirty="0" err="1"/>
              <a:t>internasional</a:t>
            </a:r>
            <a:r>
              <a:rPr lang="en-ID" sz="2000" dirty="0"/>
              <a:t>, </a:t>
            </a:r>
            <a:r>
              <a:rPr lang="en-ID" sz="2000" dirty="0" err="1"/>
              <a:t>tujuan</a:t>
            </a:r>
            <a:r>
              <a:rPr lang="en-ID" sz="2000" dirty="0"/>
              <a:t> </a:t>
            </a:r>
            <a:r>
              <a:rPr lang="en-ID" sz="2000" dirty="0" err="1"/>
              <a:t>pembangunan</a:t>
            </a:r>
            <a:r>
              <a:rPr lang="en-ID" sz="2000" dirty="0"/>
              <a:t> yang </a:t>
            </a:r>
            <a:r>
              <a:rPr lang="en-ID" sz="2000" dirty="0" err="1"/>
              <a:t>disepakati</a:t>
            </a:r>
            <a:r>
              <a:rPr lang="en-ID" sz="2000" dirty="0"/>
              <a:t>, dan </a:t>
            </a:r>
            <a:r>
              <a:rPr lang="en-ID" sz="2000" dirty="0" err="1"/>
              <a:t>prakarsa</a:t>
            </a:r>
            <a:r>
              <a:rPr lang="en-ID" sz="2000" dirty="0"/>
              <a:t> </a:t>
            </a:r>
            <a:r>
              <a:rPr lang="en-ID" sz="2000" dirty="0" err="1"/>
              <a:t>internasional</a:t>
            </a:r>
            <a:r>
              <a:rPr lang="en-ID" sz="2000" dirty="0"/>
              <a:t> </a:t>
            </a:r>
            <a:r>
              <a:rPr lang="en-ID" sz="2000" dirty="0" err="1"/>
              <a:t>lainnya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Hubungan</a:t>
            </a:r>
            <a:r>
              <a:rPr lang="en-ID" sz="2000" dirty="0"/>
              <a:t> </a:t>
            </a:r>
            <a:r>
              <a:rPr lang="en-ID" sz="2000" dirty="0" err="1"/>
              <a:t>pemangku</a:t>
            </a:r>
            <a:r>
              <a:rPr lang="en-ID" sz="2000" dirty="0"/>
              <a:t> </a:t>
            </a:r>
            <a:r>
              <a:rPr lang="en-ID" sz="2000" dirty="0" err="1"/>
              <a:t>kepentingan</a:t>
            </a:r>
            <a:r>
              <a:rPr lang="en-ID" sz="2000" dirty="0"/>
              <a:t> (</a:t>
            </a:r>
            <a:r>
              <a:rPr lang="en-ID" sz="2000" dirty="0" err="1"/>
              <a:t>pemerintah</a:t>
            </a:r>
            <a:r>
              <a:rPr lang="en-ID" sz="2000" dirty="0"/>
              <a:t>, </a:t>
            </a:r>
            <a:r>
              <a:rPr lang="en-ID" sz="2000" dirty="0" err="1"/>
              <a:t>pengguna</a:t>
            </a:r>
            <a:r>
              <a:rPr lang="en-ID" sz="2000" dirty="0"/>
              <a:t> </a:t>
            </a:r>
            <a:r>
              <a:rPr lang="en-ID" sz="2000" dirty="0" err="1"/>
              <a:t>akhir</a:t>
            </a:r>
            <a:r>
              <a:rPr lang="en-ID" sz="2000" dirty="0"/>
              <a:t>, </a:t>
            </a:r>
            <a:r>
              <a:rPr lang="en-ID" sz="2000" dirty="0" err="1"/>
              <a:t>mitra</a:t>
            </a:r>
            <a:r>
              <a:rPr lang="en-ID" sz="2000" dirty="0"/>
              <a:t>, </a:t>
            </a:r>
            <a:r>
              <a:rPr lang="en-ID" sz="2000" dirty="0" err="1"/>
              <a:t>staf</a:t>
            </a:r>
            <a:r>
              <a:rPr lang="en-ID" sz="2000" dirty="0"/>
              <a:t>)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ID" dirty="0"/>
          </a:p>
          <a:p>
            <a:pPr algn="just"/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96760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E25D-0D38-9969-C783-DF9D59C0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614" y="392340"/>
            <a:ext cx="10308771" cy="554438"/>
          </a:xfrm>
        </p:spPr>
        <p:txBody>
          <a:bodyPr>
            <a:normAutofit/>
          </a:bodyPr>
          <a:lstStyle/>
          <a:p>
            <a:r>
              <a:rPr lang="en-ID" sz="2400" b="1" i="1" dirty="0"/>
              <a:t>A LEADERSHIP CAPABILITY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6A5A-20F2-E1B5-CA6C-3E35AE6C3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1175656"/>
            <a:ext cx="8915400" cy="5034643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D" sz="3200" dirty="0" err="1"/>
              <a:t>Kebutuhan</a:t>
            </a:r>
            <a:r>
              <a:rPr lang="en-ID" sz="3200" dirty="0"/>
              <a:t> masing-masing </a:t>
            </a:r>
            <a:r>
              <a:rPr lang="en-ID" sz="3200" dirty="0" err="1"/>
              <a:t>direktur</a:t>
            </a:r>
            <a:r>
              <a:rPr lang="en-ID" sz="3200" dirty="0"/>
              <a:t> NMHS </a:t>
            </a:r>
            <a:r>
              <a:rPr lang="en-ID" sz="3200" dirty="0" err="1"/>
              <a:t>untuk</a:t>
            </a:r>
            <a:r>
              <a:rPr lang="en-ID" sz="3200" dirty="0"/>
              <a:t> </a:t>
            </a:r>
            <a:r>
              <a:rPr lang="en-ID" sz="3200" dirty="0" err="1"/>
              <a:t>informasi</a:t>
            </a:r>
            <a:r>
              <a:rPr lang="en-ID" sz="3200" dirty="0"/>
              <a:t>, saran dan </a:t>
            </a:r>
            <a:r>
              <a:rPr lang="en-ID" sz="3200" dirty="0" err="1"/>
              <a:t>dukungan</a:t>
            </a:r>
            <a:r>
              <a:rPr lang="en-ID" sz="3200" dirty="0"/>
              <a:t> </a:t>
            </a:r>
            <a:r>
              <a:rPr lang="en-ID" sz="3200" dirty="0" err="1"/>
              <a:t>akan</a:t>
            </a:r>
            <a:r>
              <a:rPr lang="en-ID" sz="3200" dirty="0"/>
              <a:t> </a:t>
            </a:r>
            <a:r>
              <a:rPr lang="en-ID" sz="3200" dirty="0" err="1"/>
              <a:t>bervariasi</a:t>
            </a:r>
            <a:r>
              <a:rPr lang="en-ID" sz="3200" dirty="0"/>
              <a:t>, </a:t>
            </a:r>
            <a:r>
              <a:rPr lang="en-ID" sz="3200" dirty="0" err="1"/>
              <a:t>demikian</a:t>
            </a:r>
            <a:r>
              <a:rPr lang="en-ID" sz="3200" dirty="0"/>
              <a:t> juga </a:t>
            </a:r>
            <a:r>
              <a:rPr lang="en-ID" sz="3200" dirty="0" err="1"/>
              <a:t>langkah</a:t>
            </a:r>
            <a:r>
              <a:rPr lang="en-ID" sz="3200" dirty="0"/>
              <a:t> </a:t>
            </a:r>
            <a:r>
              <a:rPr lang="en-ID" sz="3200" dirty="0" err="1"/>
              <a:t>perkembangan</a:t>
            </a:r>
            <a:r>
              <a:rPr lang="en-ID" sz="3200" dirty="0"/>
              <a:t> </a:t>
            </a:r>
            <a:r>
              <a:rPr lang="en-ID" sz="3200" dirty="0" err="1"/>
              <a:t>mereka</a:t>
            </a:r>
            <a:r>
              <a:rPr lang="en-ID" sz="3200" dirty="0"/>
              <a:t> </a:t>
            </a:r>
            <a:r>
              <a:rPr lang="en-ID" sz="3200" dirty="0" err="1"/>
              <a:t>sendiri</a:t>
            </a:r>
            <a:r>
              <a:rPr lang="en-ID" sz="3200" dirty="0"/>
              <a:t>, </a:t>
            </a:r>
            <a:r>
              <a:rPr lang="en-ID" sz="3200" dirty="0" err="1"/>
              <a:t>tergantung</a:t>
            </a:r>
            <a:r>
              <a:rPr lang="en-ID" sz="3200" dirty="0"/>
              <a:t> pada </a:t>
            </a:r>
            <a:r>
              <a:rPr lang="en-ID" sz="3200" dirty="0" err="1"/>
              <a:t>faktor-faktor</a:t>
            </a:r>
            <a:r>
              <a:rPr lang="en-ID" sz="3200" dirty="0"/>
              <a:t> </a:t>
            </a:r>
            <a:r>
              <a:rPr lang="en-ID" sz="3200" dirty="0" err="1"/>
              <a:t>seperti</a:t>
            </a:r>
            <a:r>
              <a:rPr lang="en-ID" sz="3200" dirty="0"/>
              <a:t> </a:t>
            </a:r>
            <a:r>
              <a:rPr lang="en-ID" sz="3200" dirty="0" err="1"/>
              <a:t>ukuran</a:t>
            </a:r>
            <a:r>
              <a:rPr lang="en-ID" sz="3200" dirty="0"/>
              <a:t> NMHS, </a:t>
            </a:r>
            <a:r>
              <a:rPr lang="en-ID" sz="3200" dirty="0" err="1"/>
              <a:t>ruang</a:t>
            </a:r>
            <a:r>
              <a:rPr lang="en-ID" sz="3200" dirty="0"/>
              <a:t> </a:t>
            </a:r>
            <a:r>
              <a:rPr lang="en-ID" sz="3200" dirty="0" err="1"/>
              <a:t>lingkup</a:t>
            </a:r>
            <a:r>
              <a:rPr lang="en-ID" sz="3200" dirty="0"/>
              <a:t> </a:t>
            </a:r>
            <a:r>
              <a:rPr lang="en-ID" sz="3200" dirty="0" err="1"/>
              <a:t>tanggung</a:t>
            </a:r>
            <a:r>
              <a:rPr lang="en-ID" sz="3200" dirty="0"/>
              <a:t> </a:t>
            </a:r>
            <a:r>
              <a:rPr lang="en-ID" sz="3200" dirty="0" err="1"/>
              <a:t>jawabnya</a:t>
            </a:r>
            <a:r>
              <a:rPr lang="en-ID" sz="3200" dirty="0"/>
              <a:t>, </a:t>
            </a:r>
            <a:r>
              <a:rPr lang="en-ID" sz="3200" dirty="0" err="1"/>
              <a:t>kerentanan</a:t>
            </a:r>
            <a:r>
              <a:rPr lang="en-ID" sz="3200" dirty="0"/>
              <a:t> negara dan </a:t>
            </a:r>
            <a:r>
              <a:rPr lang="en-ID" sz="3200" dirty="0" err="1"/>
              <a:t>latar</a:t>
            </a:r>
            <a:r>
              <a:rPr lang="en-ID" sz="3200" dirty="0"/>
              <a:t> </a:t>
            </a:r>
            <a:r>
              <a:rPr lang="en-ID" sz="3200" dirty="0" err="1"/>
              <a:t>belakang</a:t>
            </a:r>
            <a:r>
              <a:rPr lang="en-ID" sz="3200" dirty="0"/>
              <a:t> </a:t>
            </a:r>
            <a:r>
              <a:rPr lang="en-ID" sz="3200" dirty="0" err="1"/>
              <a:t>mereka</a:t>
            </a:r>
            <a:r>
              <a:rPr lang="en-ID" sz="3200" dirty="0"/>
              <a:t> </a:t>
            </a:r>
            <a:r>
              <a:rPr lang="en-ID" sz="3200" dirty="0" err="1"/>
              <a:t>sendiri</a:t>
            </a:r>
            <a:r>
              <a:rPr lang="en-ID" sz="32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3200" dirty="0" err="1"/>
              <a:t>Dalam</a:t>
            </a:r>
            <a:r>
              <a:rPr lang="en-ID" sz="3200" dirty="0"/>
              <a:t> </a:t>
            </a:r>
            <a:r>
              <a:rPr lang="en-ID" sz="3200" dirty="0" err="1"/>
              <a:t>konteks</a:t>
            </a:r>
            <a:r>
              <a:rPr lang="en-ID" sz="3200" dirty="0"/>
              <a:t> </a:t>
            </a:r>
            <a:r>
              <a:rPr lang="en-ID" sz="3200" dirty="0" err="1"/>
              <a:t>Pedoman</a:t>
            </a:r>
            <a:r>
              <a:rPr lang="en-ID" sz="3200" dirty="0"/>
              <a:t> </a:t>
            </a:r>
            <a:r>
              <a:rPr lang="en-ID" sz="3200" dirty="0" err="1"/>
              <a:t>ini</a:t>
            </a:r>
            <a:r>
              <a:rPr lang="en-ID" sz="3200" dirty="0"/>
              <a:t>, </a:t>
            </a:r>
            <a:r>
              <a:rPr lang="en-ID" sz="3200" dirty="0" err="1"/>
              <a:t>direktur</a:t>
            </a:r>
            <a:r>
              <a:rPr lang="en-ID" sz="3200" dirty="0"/>
              <a:t> yang </a:t>
            </a:r>
            <a:r>
              <a:rPr lang="en-ID" sz="3200" dirty="0" err="1"/>
              <a:t>memiliki</a:t>
            </a:r>
            <a:r>
              <a:rPr lang="en-ID" sz="3200" dirty="0"/>
              <a:t> </a:t>
            </a:r>
            <a:r>
              <a:rPr lang="en-ID" sz="3200" dirty="0" err="1"/>
              <a:t>latar</a:t>
            </a:r>
            <a:r>
              <a:rPr lang="en-ID" sz="3200" dirty="0"/>
              <a:t> </a:t>
            </a:r>
            <a:r>
              <a:rPr lang="en-ID" sz="3200" dirty="0" err="1"/>
              <a:t>belakang</a:t>
            </a:r>
            <a:r>
              <a:rPr lang="en-ID" sz="3200" dirty="0"/>
              <a:t> </a:t>
            </a:r>
            <a:r>
              <a:rPr lang="en-ID" sz="3200" dirty="0" err="1"/>
              <a:t>meteorologi</a:t>
            </a:r>
            <a:r>
              <a:rPr lang="en-ID" sz="3200" dirty="0"/>
              <a:t> </a:t>
            </a:r>
            <a:r>
              <a:rPr lang="en-ID" sz="3200" dirty="0" err="1"/>
              <a:t>atau</a:t>
            </a:r>
            <a:r>
              <a:rPr lang="en-ID" sz="3200" dirty="0"/>
              <a:t> </a:t>
            </a:r>
            <a:r>
              <a:rPr lang="en-ID" sz="3200" dirty="0" err="1"/>
              <a:t>disiplin</a:t>
            </a:r>
            <a:r>
              <a:rPr lang="en-ID" sz="3200" dirty="0"/>
              <a:t> </a:t>
            </a:r>
            <a:r>
              <a:rPr lang="en-ID" sz="3200" dirty="0" err="1"/>
              <a:t>ilmu</a:t>
            </a:r>
            <a:r>
              <a:rPr lang="en-ID" sz="3200" dirty="0"/>
              <a:t> </a:t>
            </a:r>
            <a:r>
              <a:rPr lang="en-ID" sz="3200" dirty="0" err="1"/>
              <a:t>terkait</a:t>
            </a:r>
            <a:r>
              <a:rPr lang="en-ID" sz="3200" dirty="0"/>
              <a:t> dan </a:t>
            </a:r>
            <a:r>
              <a:rPr lang="en-ID" sz="3200" dirty="0" err="1"/>
              <a:t>pindah</a:t>
            </a:r>
            <a:r>
              <a:rPr lang="en-ID" sz="3200" dirty="0"/>
              <a:t> </a:t>
            </a:r>
            <a:r>
              <a:rPr lang="en-ID" sz="3200" dirty="0" err="1"/>
              <a:t>ke</a:t>
            </a:r>
            <a:r>
              <a:rPr lang="en-ID" sz="3200" dirty="0"/>
              <a:t> </a:t>
            </a:r>
            <a:r>
              <a:rPr lang="en-ID" sz="3200" dirty="0" err="1"/>
              <a:t>peran</a:t>
            </a:r>
            <a:r>
              <a:rPr lang="en-ID" sz="3200" dirty="0"/>
              <a:t> </a:t>
            </a:r>
            <a:r>
              <a:rPr lang="en-ID" sz="3200" dirty="0" err="1"/>
              <a:t>kepemimpinan</a:t>
            </a:r>
            <a:r>
              <a:rPr lang="en-ID" sz="3200" dirty="0"/>
              <a:t> </a:t>
            </a:r>
            <a:r>
              <a:rPr lang="en-ID" sz="3200" dirty="0" err="1"/>
              <a:t>mereka</a:t>
            </a:r>
            <a:r>
              <a:rPr lang="en-ID" sz="3200" dirty="0"/>
              <a:t> </a:t>
            </a:r>
            <a:r>
              <a:rPr lang="en-ID" sz="3200" dirty="0" err="1"/>
              <a:t>mungkin</a:t>
            </a:r>
            <a:r>
              <a:rPr lang="en-ID" sz="3200" dirty="0"/>
              <a:t> </a:t>
            </a:r>
            <a:r>
              <a:rPr lang="en-ID" sz="3200" dirty="0" err="1"/>
              <a:t>ingin</a:t>
            </a:r>
            <a:r>
              <a:rPr lang="en-ID" sz="3200" dirty="0"/>
              <a:t> </a:t>
            </a:r>
            <a:r>
              <a:rPr lang="en-ID" sz="3200" dirty="0" err="1"/>
              <a:t>fokus</a:t>
            </a:r>
            <a:r>
              <a:rPr lang="en-ID" sz="3200" dirty="0"/>
              <a:t> pada </a:t>
            </a:r>
            <a:r>
              <a:rPr lang="en-ID" sz="3200" dirty="0" err="1"/>
              <a:t>kepemimpinan</a:t>
            </a:r>
            <a:r>
              <a:rPr lang="en-ID" sz="3200" dirty="0"/>
              <a:t> </a:t>
            </a:r>
            <a:r>
              <a:rPr lang="en-ID" sz="3200" dirty="0" err="1"/>
              <a:t>umum</a:t>
            </a:r>
            <a:r>
              <a:rPr lang="en-ID" sz="3200" dirty="0"/>
              <a:t> dan </a:t>
            </a:r>
            <a:r>
              <a:rPr lang="en-ID" sz="3200" dirty="0" err="1"/>
              <a:t>informasi</a:t>
            </a:r>
            <a:r>
              <a:rPr lang="en-ID" sz="3200" dirty="0"/>
              <a:t> </a:t>
            </a:r>
            <a:r>
              <a:rPr lang="en-ID" sz="3200" dirty="0" err="1"/>
              <a:t>manajemen</a:t>
            </a:r>
            <a:r>
              <a:rPr lang="en-ID" sz="3200" dirty="0"/>
              <a:t>, </a:t>
            </a:r>
            <a:r>
              <a:rPr lang="en-ID" sz="3200" dirty="0" err="1"/>
              <a:t>sedangkan</a:t>
            </a:r>
            <a:r>
              <a:rPr lang="en-ID" sz="3200" dirty="0"/>
              <a:t> </a:t>
            </a:r>
            <a:r>
              <a:rPr lang="en-ID" sz="3200" dirty="0" err="1"/>
              <a:t>mereka</a:t>
            </a:r>
            <a:r>
              <a:rPr lang="en-ID" sz="3200" dirty="0"/>
              <a:t> </a:t>
            </a:r>
            <a:r>
              <a:rPr lang="en-ID" sz="3200" dirty="0" err="1"/>
              <a:t>dari</a:t>
            </a:r>
            <a:r>
              <a:rPr lang="en-ID" sz="3200" dirty="0"/>
              <a:t> </a:t>
            </a:r>
            <a:r>
              <a:rPr lang="en-ID" sz="3200" dirty="0" err="1"/>
              <a:t>disiplin</a:t>
            </a:r>
            <a:r>
              <a:rPr lang="en-ID" sz="3200" dirty="0"/>
              <a:t> </a:t>
            </a:r>
            <a:r>
              <a:rPr lang="en-ID" sz="3200" dirty="0" err="1"/>
              <a:t>ilmu</a:t>
            </a:r>
            <a:r>
              <a:rPr lang="en-ID" sz="3200" dirty="0"/>
              <a:t> non-</a:t>
            </a:r>
            <a:r>
              <a:rPr lang="en-ID" sz="3200" dirty="0" err="1"/>
              <a:t>ilmiah</a:t>
            </a:r>
            <a:r>
              <a:rPr lang="en-ID" sz="3200" dirty="0"/>
              <a:t> dan </a:t>
            </a:r>
            <a:r>
              <a:rPr lang="en-ID" sz="3200" dirty="0" err="1"/>
              <a:t>administrasi</a:t>
            </a:r>
            <a:r>
              <a:rPr lang="en-ID" sz="3200" dirty="0"/>
              <a:t> </a:t>
            </a:r>
            <a:r>
              <a:rPr lang="en-ID" sz="3200" dirty="0" err="1"/>
              <a:t>atau</a:t>
            </a:r>
            <a:r>
              <a:rPr lang="en-ID" sz="3200" dirty="0"/>
              <a:t> </a:t>
            </a:r>
            <a:r>
              <a:rPr lang="en-ID" sz="3200" dirty="0" err="1"/>
              <a:t>bisnis</a:t>
            </a:r>
            <a:r>
              <a:rPr lang="en-ID" sz="3200" dirty="0"/>
              <a:t> </a:t>
            </a:r>
            <a:r>
              <a:rPr lang="en-ID" sz="3200" dirty="0" err="1"/>
              <a:t>latar</a:t>
            </a:r>
            <a:r>
              <a:rPr lang="en-ID" sz="3200" dirty="0"/>
              <a:t> </a:t>
            </a:r>
            <a:r>
              <a:rPr lang="en-ID" sz="3200" dirty="0" err="1"/>
              <a:t>belakang</a:t>
            </a:r>
            <a:r>
              <a:rPr lang="en-ID" sz="3200" dirty="0"/>
              <a:t> </a:t>
            </a:r>
            <a:r>
              <a:rPr lang="en-ID" sz="3200" dirty="0" err="1"/>
              <a:t>mungkin</a:t>
            </a:r>
            <a:r>
              <a:rPr lang="en-ID" sz="3200" dirty="0"/>
              <a:t> </a:t>
            </a:r>
            <a:r>
              <a:rPr lang="en-ID" sz="3200" dirty="0" err="1"/>
              <a:t>lebih</a:t>
            </a:r>
            <a:r>
              <a:rPr lang="en-ID" sz="3200" dirty="0"/>
              <a:t> </a:t>
            </a:r>
            <a:r>
              <a:rPr lang="en-ID" sz="3200" dirty="0" err="1"/>
              <a:t>fokus</a:t>
            </a:r>
            <a:r>
              <a:rPr lang="en-ID" sz="3200" dirty="0"/>
              <a:t> pada </a:t>
            </a:r>
            <a:r>
              <a:rPr lang="en-ID" sz="3200" dirty="0" err="1"/>
              <a:t>materi</a:t>
            </a:r>
            <a:r>
              <a:rPr lang="en-ID" sz="3200" dirty="0"/>
              <a:t> yang </a:t>
            </a:r>
            <a:r>
              <a:rPr lang="en-ID" sz="3200" dirty="0" err="1"/>
              <a:t>terkait</a:t>
            </a:r>
            <a:r>
              <a:rPr lang="en-ID" sz="3200" dirty="0"/>
              <a:t> </a:t>
            </a:r>
            <a:r>
              <a:rPr lang="en-ID" sz="3200" dirty="0" err="1"/>
              <a:t>dengan</a:t>
            </a:r>
            <a:r>
              <a:rPr lang="en-ID" sz="3200" dirty="0"/>
              <a:t> </a:t>
            </a:r>
            <a:r>
              <a:rPr lang="en-ID" sz="3200" dirty="0" err="1"/>
              <a:t>peran</a:t>
            </a:r>
            <a:r>
              <a:rPr lang="en-ID" sz="3200" dirty="0"/>
              <a:t>, </a:t>
            </a:r>
            <a:r>
              <a:rPr lang="en-ID" sz="3200" dirty="0" err="1"/>
              <a:t>fungsi</a:t>
            </a:r>
            <a:r>
              <a:rPr lang="en-ID" sz="3200" dirty="0"/>
              <a:t>, dan </a:t>
            </a:r>
            <a:r>
              <a:rPr lang="en-ID" sz="3200" dirty="0" err="1"/>
              <a:t>operasi</a:t>
            </a:r>
            <a:r>
              <a:rPr lang="en-ID" sz="3200" dirty="0"/>
              <a:t> NMHS</a:t>
            </a:r>
          </a:p>
          <a:p>
            <a:pPr marL="0" indent="0" algn="just"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04753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7DDCE-F544-D024-6F8B-687D49DEC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70" y="832757"/>
            <a:ext cx="10074729" cy="534420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200" dirty="0"/>
              <a:t>Sama </a:t>
            </a:r>
            <a:r>
              <a:rPr lang="en-ID" sz="2200" dirty="0" err="1"/>
              <a:t>seperti</a:t>
            </a:r>
            <a:r>
              <a:rPr lang="en-ID" sz="2200" dirty="0"/>
              <a:t> </a:t>
            </a:r>
            <a:r>
              <a:rPr lang="en-ID" sz="2200" dirty="0" err="1"/>
              <a:t>standar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di </a:t>
            </a:r>
            <a:r>
              <a:rPr lang="en-ID" sz="2200" dirty="0" err="1"/>
              <a:t>bidang</a:t>
            </a:r>
            <a:r>
              <a:rPr lang="en-ID" sz="2200" dirty="0"/>
              <a:t> </a:t>
            </a:r>
            <a:r>
              <a:rPr lang="en-ID" sz="2200" dirty="0" err="1"/>
              <a:t>teknis</a:t>
            </a:r>
            <a:r>
              <a:rPr lang="en-ID" sz="2200" dirty="0"/>
              <a:t> </a:t>
            </a:r>
            <a:r>
              <a:rPr lang="en-ID" sz="2200" dirty="0" err="1"/>
              <a:t>seperti</a:t>
            </a:r>
            <a:r>
              <a:rPr lang="en-ID" sz="2200" dirty="0"/>
              <a:t> </a:t>
            </a:r>
            <a:r>
              <a:rPr lang="en-ID" sz="2200" dirty="0" err="1"/>
              <a:t>layanan</a:t>
            </a:r>
            <a:r>
              <a:rPr lang="en-ID" sz="2200" dirty="0"/>
              <a:t> </a:t>
            </a:r>
            <a:r>
              <a:rPr lang="en-ID" sz="2200" dirty="0" err="1"/>
              <a:t>penerbangan</a:t>
            </a:r>
            <a:r>
              <a:rPr lang="en-ID" sz="2200" dirty="0"/>
              <a:t> </a:t>
            </a:r>
            <a:r>
              <a:rPr lang="en-ID" sz="2200" dirty="0" err="1"/>
              <a:t>telah</a:t>
            </a:r>
            <a:r>
              <a:rPr lang="en-ID" sz="2200" dirty="0"/>
              <a:t> </a:t>
            </a:r>
            <a:r>
              <a:rPr lang="en-ID" sz="2200" dirty="0" err="1"/>
              <a:t>muncul</a:t>
            </a:r>
            <a:r>
              <a:rPr lang="en-ID" sz="2200" dirty="0"/>
              <a:t> </a:t>
            </a:r>
            <a:r>
              <a:rPr lang="en-ID" sz="2200" dirty="0" err="1"/>
              <a:t>sebagai</a:t>
            </a:r>
            <a:r>
              <a:rPr lang="en-ID" sz="2200" dirty="0"/>
              <a:t> </a:t>
            </a:r>
            <a:r>
              <a:rPr lang="en-ID" sz="2200" dirty="0" err="1"/>
              <a:t>masalah</a:t>
            </a:r>
            <a:r>
              <a:rPr lang="en-ID" sz="2200" dirty="0"/>
              <a:t> </a:t>
            </a:r>
            <a:r>
              <a:rPr lang="en-ID" sz="2200" dirty="0" err="1"/>
              <a:t>signifikan</a:t>
            </a:r>
            <a:r>
              <a:rPr lang="en-ID" sz="2200" dirty="0"/>
              <a:t> </a:t>
            </a:r>
            <a:r>
              <a:rPr lang="en-ID" sz="2200" dirty="0" err="1"/>
              <a:t>selama</a:t>
            </a:r>
            <a:r>
              <a:rPr lang="en-ID" sz="2200" dirty="0"/>
              <a:t> </a:t>
            </a:r>
            <a:r>
              <a:rPr lang="en-ID" sz="2200" dirty="0" err="1"/>
              <a:t>dekade</a:t>
            </a:r>
            <a:r>
              <a:rPr lang="en-ID" sz="2200" dirty="0"/>
              <a:t> </a:t>
            </a:r>
            <a:r>
              <a:rPr lang="en-ID" sz="2200" dirty="0" err="1"/>
              <a:t>terakhir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mendukung</a:t>
            </a:r>
            <a:r>
              <a:rPr lang="en-ID" sz="2200" dirty="0"/>
              <a:t> </a:t>
            </a:r>
            <a:r>
              <a:rPr lang="en-ID" sz="2200" dirty="0" err="1"/>
              <a:t>kemampuan</a:t>
            </a:r>
            <a:r>
              <a:rPr lang="en-ID" sz="2200" dirty="0"/>
              <a:t> </a:t>
            </a:r>
            <a:r>
              <a:rPr lang="en-ID" sz="2200" dirty="0" err="1"/>
              <a:t>organisasi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memberikan</a:t>
            </a:r>
            <a:r>
              <a:rPr lang="en-ID" sz="2200" dirty="0"/>
              <a:t> </a:t>
            </a:r>
            <a:r>
              <a:rPr lang="en-ID" sz="2200" dirty="0" err="1"/>
              <a:t>layanan</a:t>
            </a:r>
            <a:r>
              <a:rPr lang="en-ID" sz="2200" dirty="0"/>
              <a:t> </a:t>
            </a:r>
            <a:r>
              <a:rPr lang="en-ID" sz="2200" dirty="0" err="1"/>
              <a:t>penerbangan</a:t>
            </a:r>
            <a:r>
              <a:rPr lang="en-ID" sz="2200" dirty="0"/>
              <a:t>, </a:t>
            </a:r>
            <a:r>
              <a:rPr lang="en-ID" sz="2200" dirty="0" err="1"/>
              <a:t>demikian</a:t>
            </a:r>
            <a:r>
              <a:rPr lang="en-ID" sz="2200" dirty="0"/>
              <a:t> juga </a:t>
            </a:r>
            <a:r>
              <a:rPr lang="en-ID" sz="2200" dirty="0" err="1"/>
              <a:t>masalah</a:t>
            </a:r>
            <a:r>
              <a:rPr lang="en-ID" sz="2200" dirty="0"/>
              <a:t> </a:t>
            </a: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kerja</a:t>
            </a:r>
            <a:r>
              <a:rPr lang="en-ID" sz="2200" dirty="0"/>
              <a:t> </a:t>
            </a:r>
            <a:r>
              <a:rPr lang="en-ID" sz="2200" dirty="0" err="1"/>
              <a:t>kemampuan</a:t>
            </a:r>
            <a:r>
              <a:rPr lang="en-ID" sz="2200" dirty="0"/>
              <a:t> </a:t>
            </a:r>
            <a:r>
              <a:rPr lang="en-ID" sz="2200" dirty="0" err="1"/>
              <a:t>eksekutif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organisasi</a:t>
            </a:r>
            <a:r>
              <a:rPr lang="en-ID" sz="22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kerja</a:t>
            </a:r>
            <a:r>
              <a:rPr lang="en-ID" sz="2200" dirty="0"/>
              <a:t> </a:t>
            </a:r>
            <a:r>
              <a:rPr lang="en-ID" sz="2200" dirty="0" err="1"/>
              <a:t>kapabilitas</a:t>
            </a:r>
            <a:r>
              <a:rPr lang="en-ID" sz="2200" dirty="0"/>
              <a:t> </a:t>
            </a:r>
            <a:r>
              <a:rPr lang="en-ID" sz="2200" dirty="0" err="1"/>
              <a:t>kepemimpinan</a:t>
            </a:r>
            <a:r>
              <a:rPr lang="en-ID" sz="2200" dirty="0"/>
              <a:t> yang </a:t>
            </a:r>
            <a:r>
              <a:rPr lang="en-ID" sz="2200" dirty="0" err="1"/>
              <a:t>dijelaskan</a:t>
            </a:r>
            <a:r>
              <a:rPr lang="en-ID" sz="2200" dirty="0"/>
              <a:t> di </a:t>
            </a:r>
            <a:r>
              <a:rPr lang="en-ID" sz="2200" dirty="0" err="1"/>
              <a:t>sini</a:t>
            </a:r>
            <a:r>
              <a:rPr lang="en-ID" sz="2200" dirty="0"/>
              <a:t> </a:t>
            </a:r>
            <a:r>
              <a:rPr lang="en-ID" sz="2200" dirty="0" err="1"/>
              <a:t>menetapkan</a:t>
            </a:r>
            <a:r>
              <a:rPr lang="en-ID" sz="2200" dirty="0"/>
              <a:t> </a:t>
            </a:r>
            <a:r>
              <a:rPr lang="en-ID" sz="2200" dirty="0" err="1"/>
              <a:t>atribut</a:t>
            </a:r>
            <a:r>
              <a:rPr lang="en-ID" sz="2200" dirty="0"/>
              <a:t> </a:t>
            </a:r>
            <a:r>
              <a:rPr lang="en-ID" sz="2200" dirty="0" err="1"/>
              <a:t>kunci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eksekutif</a:t>
            </a:r>
            <a:r>
              <a:rPr lang="en-ID" sz="2200" dirty="0"/>
              <a:t> senior di </a:t>
            </a:r>
            <a:r>
              <a:rPr lang="en-ID" sz="2200" dirty="0" err="1"/>
              <a:t>Layanan</a:t>
            </a:r>
            <a:r>
              <a:rPr lang="en-ID" sz="2200" dirty="0"/>
              <a:t> Publik dan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digunakan</a:t>
            </a:r>
            <a:r>
              <a:rPr lang="en-ID" sz="2200" dirty="0"/>
              <a:t> </a:t>
            </a:r>
            <a:r>
              <a:rPr lang="en-ID" sz="2200" dirty="0" err="1"/>
              <a:t>sebagai</a:t>
            </a:r>
            <a:r>
              <a:rPr lang="en-ID" sz="2200" dirty="0"/>
              <a:t> </a:t>
            </a:r>
            <a:r>
              <a:rPr lang="en-ID" sz="2200" dirty="0" err="1"/>
              <a:t>panduan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campuran</a:t>
            </a:r>
            <a:r>
              <a:rPr lang="en-ID" sz="2200" dirty="0"/>
              <a:t> </a:t>
            </a:r>
            <a:r>
              <a:rPr lang="en-ID" sz="2200" dirty="0" err="1"/>
              <a:t>keterampilan</a:t>
            </a:r>
            <a:r>
              <a:rPr lang="en-ID" sz="2200" dirty="0"/>
              <a:t> </a:t>
            </a:r>
            <a:r>
              <a:rPr lang="en-ID" sz="2200" dirty="0" err="1"/>
              <a:t>kepemimpinan</a:t>
            </a:r>
            <a:r>
              <a:rPr lang="en-ID" sz="2200" dirty="0"/>
              <a:t> yang </a:t>
            </a:r>
            <a:r>
              <a:rPr lang="en-ID" sz="2200" dirty="0" err="1"/>
              <a:t>diinginkan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seorang</a:t>
            </a:r>
            <a:r>
              <a:rPr lang="en-ID" sz="2200" dirty="0"/>
              <a:t> </a:t>
            </a:r>
            <a:r>
              <a:rPr lang="en-ID" sz="2200" dirty="0" err="1"/>
              <a:t>direktur</a:t>
            </a:r>
            <a:r>
              <a:rPr lang="en-ID" sz="2200" dirty="0"/>
              <a:t> NMHS (</a:t>
            </a:r>
            <a:r>
              <a:rPr lang="en-ID" sz="2200" dirty="0" err="1"/>
              <a:t>lihat</a:t>
            </a:r>
            <a:r>
              <a:rPr lang="en-ID" sz="2200" dirty="0"/>
              <a:t> Gambar 13)</a:t>
            </a:r>
          </a:p>
        </p:txBody>
      </p:sp>
    </p:spTree>
    <p:extLst>
      <p:ext uri="{BB962C8B-B14F-4D97-AF65-F5344CB8AC3E}">
        <p14:creationId xmlns:p14="http://schemas.microsoft.com/office/powerpoint/2010/main" val="3972979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D985A1-D17F-BA59-5FDD-F05B00147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6886" y="936171"/>
            <a:ext cx="7358743" cy="5240792"/>
          </a:xfrm>
        </p:spPr>
      </p:pic>
    </p:spTree>
    <p:extLst>
      <p:ext uri="{BB962C8B-B14F-4D97-AF65-F5344CB8AC3E}">
        <p14:creationId xmlns:p14="http://schemas.microsoft.com/office/powerpoint/2010/main" val="3396229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A1AE4-1FA6-E465-811B-AB4392B09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042" y="1317171"/>
            <a:ext cx="9976757" cy="4859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200" dirty="0" err="1"/>
              <a:t>Konsisten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tren</a:t>
            </a:r>
            <a:r>
              <a:rPr lang="en-ID" sz="2200" dirty="0"/>
              <a:t> </a:t>
            </a:r>
            <a:r>
              <a:rPr lang="en-ID" sz="2200" dirty="0" err="1"/>
              <a:t>kontemporer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manajemen</a:t>
            </a:r>
            <a:r>
              <a:rPr lang="en-ID" sz="2200" dirty="0"/>
              <a:t> dan </a:t>
            </a:r>
            <a:r>
              <a:rPr lang="en-ID" sz="2200" dirty="0" err="1"/>
              <a:t>kepemimpinan</a:t>
            </a:r>
            <a:r>
              <a:rPr lang="en-ID" sz="2200" dirty="0"/>
              <a:t> di </a:t>
            </a:r>
            <a:r>
              <a:rPr lang="en-ID" sz="2200" dirty="0" err="1"/>
              <a:t>tahun</a:t>
            </a:r>
            <a:r>
              <a:rPr lang="en-ID" sz="2200" dirty="0"/>
              <a:t> 2010-an, </a:t>
            </a: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kerja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juga </a:t>
            </a:r>
            <a:r>
              <a:rPr lang="en-ID" sz="2200" dirty="0" err="1"/>
              <a:t>dimaksudkan</a:t>
            </a:r>
            <a:r>
              <a:rPr lang="en-ID" sz="2200" dirty="0"/>
              <a:t> </a:t>
            </a:r>
            <a:r>
              <a:rPr lang="en-ID" sz="2200" dirty="0" err="1"/>
              <a:t>sebagai</a:t>
            </a:r>
            <a:r>
              <a:rPr lang="en-ID" sz="2200" dirty="0"/>
              <a:t> </a:t>
            </a:r>
            <a:r>
              <a:rPr lang="en-ID" sz="2200" dirty="0" err="1"/>
              <a:t>panduan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membantu</a:t>
            </a:r>
            <a:r>
              <a:rPr lang="en-ID" sz="2200" dirty="0"/>
              <a:t> </a:t>
            </a:r>
            <a:r>
              <a:rPr lang="en-ID" sz="2200" dirty="0" err="1"/>
              <a:t>eksekutif</a:t>
            </a:r>
            <a:r>
              <a:rPr lang="en-ID" sz="2200" dirty="0"/>
              <a:t> senior </a:t>
            </a:r>
            <a:r>
              <a:rPr lang="en-ID" sz="2200" dirty="0" err="1"/>
              <a:t>menilai</a:t>
            </a:r>
            <a:r>
              <a:rPr lang="en-ID" sz="2200" dirty="0"/>
              <a:t> </a:t>
            </a:r>
            <a:r>
              <a:rPr lang="en-ID" sz="2200" dirty="0" err="1"/>
              <a:t>kebutuhan</a:t>
            </a:r>
            <a:r>
              <a:rPr lang="en-ID" sz="2200" dirty="0"/>
              <a:t> </a:t>
            </a:r>
            <a:r>
              <a:rPr lang="en-ID" sz="2200" dirty="0" err="1"/>
              <a:t>pengembangan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 </a:t>
            </a:r>
            <a:r>
              <a:rPr lang="en-ID" sz="2200" dirty="0" err="1"/>
              <a:t>sendiri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kondisi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merekrut</a:t>
            </a:r>
            <a:r>
              <a:rPr lang="en-ID" sz="2200" dirty="0"/>
              <a:t> orang-orang </a:t>
            </a:r>
            <a:r>
              <a:rPr lang="en-ID" sz="2200" dirty="0" err="1"/>
              <a:t>kunci</a:t>
            </a:r>
            <a:r>
              <a:rPr lang="en-ID" sz="2200" dirty="0"/>
              <a:t> </a:t>
            </a:r>
            <a:r>
              <a:rPr lang="en-ID" sz="2200" dirty="0" err="1"/>
              <a:t>ke</a:t>
            </a:r>
            <a:r>
              <a:rPr lang="en-ID" sz="2200" dirty="0"/>
              <a:t> </a:t>
            </a:r>
            <a:r>
              <a:rPr lang="en-ID" sz="2200" dirty="0" err="1"/>
              <a:t>tim</a:t>
            </a:r>
            <a:r>
              <a:rPr lang="en-ID" sz="2200" dirty="0"/>
              <a:t> senior </a:t>
            </a:r>
            <a:r>
              <a:rPr lang="en-ID" sz="2200" dirty="0" err="1"/>
              <a:t>mereka</a:t>
            </a:r>
            <a:r>
              <a:rPr lang="en-ID" sz="22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ID" sz="2200" dirty="0" err="1"/>
              <a:t>Selain</a:t>
            </a:r>
            <a:r>
              <a:rPr lang="en-ID" sz="2200" dirty="0"/>
              <a:t> </a:t>
            </a:r>
            <a:r>
              <a:rPr lang="en-ID" sz="2200" dirty="0" err="1"/>
              <a:t>itu</a:t>
            </a:r>
            <a:r>
              <a:rPr lang="en-ID" sz="2200" dirty="0"/>
              <a:t>, </a:t>
            </a:r>
            <a:r>
              <a:rPr lang="en-ID" sz="2200" dirty="0" err="1"/>
              <a:t>mengakui</a:t>
            </a:r>
            <a:r>
              <a:rPr lang="en-ID" sz="2200" dirty="0"/>
              <a:t> </a:t>
            </a:r>
            <a:r>
              <a:rPr lang="en-ID" sz="2200" dirty="0" err="1"/>
              <a:t>bahwa</a:t>
            </a:r>
            <a:r>
              <a:rPr lang="en-ID" sz="2200" dirty="0"/>
              <a:t> </a:t>
            </a:r>
            <a:r>
              <a:rPr lang="en-ID" sz="2200" dirty="0" err="1"/>
              <a:t>pemimpin</a:t>
            </a:r>
            <a:r>
              <a:rPr lang="en-ID" sz="2200" dirty="0"/>
              <a:t> yang </a:t>
            </a:r>
            <a:r>
              <a:rPr lang="en-ID" sz="2200" dirty="0" err="1"/>
              <a:t>berbeda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kekuatan</a:t>
            </a:r>
            <a:r>
              <a:rPr lang="en-ID" sz="2200" dirty="0"/>
              <a:t> </a:t>
            </a:r>
            <a:r>
              <a:rPr lang="en-ID" sz="2200" dirty="0" err="1"/>
              <a:t>alami</a:t>
            </a:r>
            <a:r>
              <a:rPr lang="en-ID" sz="2200" dirty="0"/>
              <a:t> yang </a:t>
            </a:r>
            <a:r>
              <a:rPr lang="en-ID" sz="2200" dirty="0" err="1"/>
              <a:t>berbeda</a:t>
            </a:r>
            <a:r>
              <a:rPr lang="en-ID" sz="2200" dirty="0"/>
              <a:t>, daftar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membantu</a:t>
            </a:r>
            <a:r>
              <a:rPr lang="en-ID" sz="2200" dirty="0"/>
              <a:t> </a:t>
            </a:r>
            <a:r>
              <a:rPr lang="en-ID" sz="2200" dirty="0" err="1"/>
              <a:t>mengidentifikasi</a:t>
            </a:r>
            <a:r>
              <a:rPr lang="en-ID" sz="2200" dirty="0"/>
              <a:t> </a:t>
            </a:r>
            <a:r>
              <a:rPr lang="en-ID" sz="2200" dirty="0" err="1"/>
              <a:t>perpaduan</a:t>
            </a:r>
            <a:r>
              <a:rPr lang="en-ID" sz="2200" dirty="0"/>
              <a:t> </a:t>
            </a:r>
            <a:r>
              <a:rPr lang="en-ID" sz="2200" dirty="0" err="1"/>
              <a:t>keterampilan</a:t>
            </a:r>
            <a:r>
              <a:rPr lang="en-ID" sz="2200" dirty="0"/>
              <a:t> yang </a:t>
            </a:r>
            <a:r>
              <a:rPr lang="en-ID" sz="2200" dirty="0" err="1"/>
              <a:t>mungkin</a:t>
            </a:r>
            <a:r>
              <a:rPr lang="en-ID" sz="2200" dirty="0"/>
              <a:t> </a:t>
            </a:r>
            <a:r>
              <a:rPr lang="en-ID" sz="2200" dirty="0" err="1"/>
              <a:t>perlu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 </a:t>
            </a:r>
            <a:r>
              <a:rPr lang="en-ID" sz="2200" dirty="0" err="1"/>
              <a:t>kembangkan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tim</a:t>
            </a:r>
            <a:r>
              <a:rPr lang="en-ID" sz="2200" dirty="0"/>
              <a:t> </a:t>
            </a:r>
            <a:r>
              <a:rPr lang="en-ID" sz="2200" dirty="0" err="1"/>
              <a:t>manajemen</a:t>
            </a:r>
            <a:r>
              <a:rPr lang="en-ID" sz="2200" dirty="0"/>
              <a:t> senior </a:t>
            </a:r>
            <a:r>
              <a:rPr lang="en-ID" sz="2200" dirty="0" err="1"/>
              <a:t>mereka</a:t>
            </a:r>
            <a:r>
              <a:rPr lang="en-ID" sz="2200" dirty="0"/>
              <a:t> </a:t>
            </a:r>
            <a:r>
              <a:rPr lang="en-ID" sz="2200" dirty="0" err="1"/>
              <a:t>saat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66289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CA39-E588-D353-10AD-4A189AC8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2400" b="1" i="1" dirty="0"/>
              <a:t>Shapes strategic thinking (</a:t>
            </a:r>
            <a:r>
              <a:rPr lang="en-ID" sz="2400" b="1" i="1" dirty="0" err="1"/>
              <a:t>Membentuk</a:t>
            </a:r>
            <a:r>
              <a:rPr lang="en-ID" sz="2400" b="1" i="1" dirty="0"/>
              <a:t> </a:t>
            </a:r>
            <a:r>
              <a:rPr lang="en-ID" sz="2400" b="1" i="1" dirty="0" err="1"/>
              <a:t>pemikiran</a:t>
            </a:r>
            <a:r>
              <a:rPr lang="en-ID" sz="2400" b="1" i="1" dirty="0"/>
              <a:t> </a:t>
            </a:r>
            <a:r>
              <a:rPr lang="en-ID" sz="2400" b="1" i="1" dirty="0" err="1"/>
              <a:t>strategis</a:t>
            </a:r>
            <a:r>
              <a:rPr lang="en-ID" sz="2400" b="1" i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D5C5C-A8B9-5F4C-E32D-259F95BA7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657"/>
            <a:ext cx="10515600" cy="462030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i-FI" sz="2000" dirty="0"/>
              <a:t>Mewujudkan arah dan tujuan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pribadi</a:t>
            </a:r>
            <a:r>
              <a:rPr lang="en-ID" sz="1800" dirty="0"/>
              <a:t> </a:t>
            </a:r>
            <a:r>
              <a:rPr lang="en-ID" sz="1800" dirty="0" err="1"/>
              <a:t>berkontribusi</a:t>
            </a:r>
            <a:r>
              <a:rPr lang="en-ID" sz="1800" dirty="0"/>
              <a:t>, </a:t>
            </a:r>
            <a:r>
              <a:rPr lang="en-ID" sz="1800" dirty="0" err="1"/>
              <a:t>membentuk</a:t>
            </a:r>
            <a:r>
              <a:rPr lang="en-ID" sz="1800" dirty="0"/>
              <a:t>, dan </a:t>
            </a:r>
            <a:r>
              <a:rPr lang="en-ID" sz="1800" dirty="0" err="1"/>
              <a:t>memperjuangkan</a:t>
            </a:r>
            <a:r>
              <a:rPr lang="en-ID" sz="1800" dirty="0"/>
              <a:t> </a:t>
            </a:r>
            <a:r>
              <a:rPr lang="en-ID" sz="1800" dirty="0" err="1"/>
              <a:t>visi</a:t>
            </a:r>
            <a:r>
              <a:rPr lang="en-ID" sz="1800" dirty="0"/>
              <a:t> dan </a:t>
            </a:r>
            <a:r>
              <a:rPr lang="en-ID" sz="1800" dirty="0" err="1"/>
              <a:t>tujuan</a:t>
            </a:r>
            <a:r>
              <a:rPr lang="en-ID" sz="1800" dirty="0"/>
              <a:t> </a:t>
            </a:r>
            <a:r>
              <a:rPr lang="en-ID" sz="1800" dirty="0" err="1"/>
              <a:t>organisasi</a:t>
            </a:r>
            <a:r>
              <a:rPr lang="en-ID" sz="1800" dirty="0"/>
              <a:t>, </a:t>
            </a:r>
            <a:r>
              <a:rPr lang="en-ID" sz="1800" dirty="0" err="1"/>
              <a:t>menghubungkannya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persyaratan</a:t>
            </a:r>
            <a:r>
              <a:rPr lang="en-ID" sz="1800" dirty="0"/>
              <a:t> </a:t>
            </a:r>
            <a:r>
              <a:rPr lang="en-ID" sz="1800" dirty="0" err="1"/>
              <a:t>pemerintah</a:t>
            </a:r>
            <a:endParaRPr lang="en-ID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Menerjemahkan</a:t>
            </a:r>
            <a:r>
              <a:rPr lang="en-ID" sz="1800" dirty="0"/>
              <a:t> strategi </a:t>
            </a:r>
            <a:r>
              <a:rPr lang="en-ID" sz="1800" dirty="0" err="1"/>
              <a:t>luas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istilah</a:t>
            </a:r>
            <a:r>
              <a:rPr lang="en-ID" sz="1800" dirty="0"/>
              <a:t> </a:t>
            </a:r>
            <a:r>
              <a:rPr lang="en-ID" sz="1800" dirty="0" err="1"/>
              <a:t>praktis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orang lain dan </a:t>
            </a:r>
            <a:r>
              <a:rPr lang="en-ID" sz="1800" dirty="0" err="1"/>
              <a:t>menciptakan</a:t>
            </a:r>
            <a:r>
              <a:rPr lang="en-ID" sz="1800" dirty="0"/>
              <a:t> </a:t>
            </a:r>
            <a:r>
              <a:rPr lang="en-ID" sz="1800" dirty="0" err="1"/>
              <a:t>pemahaman</a:t>
            </a:r>
            <a:r>
              <a:rPr lang="en-ID" sz="1800" dirty="0"/>
              <a:t> </a:t>
            </a:r>
            <a:r>
              <a:rPr lang="en-ID" sz="1800" dirty="0" err="1"/>
              <a:t>bersama</a:t>
            </a:r>
            <a:r>
              <a:rPr lang="en-ID" sz="1800" dirty="0"/>
              <a:t> </a:t>
            </a:r>
            <a:r>
              <a:rPr lang="en-ID" sz="1800" dirty="0" err="1"/>
              <a:t>tentang</a:t>
            </a:r>
            <a:r>
              <a:rPr lang="en-ID" sz="1800" dirty="0"/>
              <a:t> </a:t>
            </a:r>
            <a:r>
              <a:rPr lang="en-ID" sz="1800" dirty="0" err="1"/>
              <a:t>apa</a:t>
            </a:r>
            <a:r>
              <a:rPr lang="en-ID" sz="1800" dirty="0"/>
              <a:t> yang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dicapai</a:t>
            </a:r>
            <a:r>
              <a:rPr lang="en-ID" sz="18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keseluruhan</a:t>
            </a:r>
            <a:r>
              <a:rPr lang="en-ID" sz="1800" dirty="0"/>
              <a:t> </a:t>
            </a:r>
            <a:r>
              <a:rPr lang="en-ID" sz="1800" dirty="0" err="1"/>
              <a:t>konteks</a:t>
            </a:r>
            <a:r>
              <a:rPr lang="en-ID" sz="1800" dirty="0"/>
              <a:t> </a:t>
            </a:r>
            <a:r>
              <a:rPr lang="en-ID" sz="1800" dirty="0" err="1"/>
              <a:t>strategis</a:t>
            </a:r>
            <a:r>
              <a:rPr lang="en-ID" sz="1800" dirty="0"/>
              <a:t>, </a:t>
            </a:r>
            <a:r>
              <a:rPr lang="en-ID" sz="1800" dirty="0" err="1"/>
              <a:t>menyajikan</a:t>
            </a:r>
            <a:r>
              <a:rPr lang="en-ID" sz="1800" dirty="0"/>
              <a:t> </a:t>
            </a:r>
            <a:r>
              <a:rPr lang="en-ID" sz="1800" dirty="0" err="1"/>
              <a:t>kepada</a:t>
            </a:r>
            <a:r>
              <a:rPr lang="en-ID" sz="1800" dirty="0"/>
              <a:t> orang lain </a:t>
            </a:r>
            <a:r>
              <a:rPr lang="en-ID" sz="1800" dirty="0" err="1"/>
              <a:t>gambaran</a:t>
            </a:r>
            <a:r>
              <a:rPr lang="en-ID" sz="1800" dirty="0"/>
              <a:t> </a:t>
            </a:r>
            <a:r>
              <a:rPr lang="en-ID" sz="1800" dirty="0" err="1"/>
              <a:t>terpadu</a:t>
            </a:r>
            <a:r>
              <a:rPr lang="en-ID" sz="1800" dirty="0"/>
              <a:t> </a:t>
            </a:r>
            <a:r>
              <a:rPr lang="en-ID" sz="1800" dirty="0" err="1"/>
              <a:t>tentang</a:t>
            </a:r>
            <a:r>
              <a:rPr lang="en-ID" sz="1800" dirty="0"/>
              <a:t> </a:t>
            </a:r>
            <a:r>
              <a:rPr lang="en-ID" sz="1800" dirty="0" err="1"/>
              <a:t>tindakan</a:t>
            </a:r>
            <a:r>
              <a:rPr lang="en-ID" sz="1800" dirty="0"/>
              <a:t> dan </a:t>
            </a:r>
            <a:r>
              <a:rPr lang="en-ID" sz="1800" dirty="0" err="1"/>
              <a:t>prioritas</a:t>
            </a:r>
            <a:r>
              <a:rPr lang="en-ID" sz="1800" dirty="0"/>
              <a:t> yang </a:t>
            </a:r>
            <a:r>
              <a:rPr lang="en-ID" sz="1800" dirty="0" err="1"/>
              <a:t>akan</a:t>
            </a:r>
            <a:r>
              <a:rPr lang="en-ID" sz="1800" dirty="0"/>
              <a:t> </a:t>
            </a:r>
            <a:r>
              <a:rPr lang="en-ID" sz="1800" dirty="0" err="1"/>
              <a:t>diperlukan</a:t>
            </a:r>
            <a:endParaRPr lang="en-ID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sz="1800" dirty="0"/>
              <a:t>Memberikan arah yang jelas dan upaya untuk menyatukan pemahaman di antara semua tingkatan dalam organisasi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3518388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120D-9B0C-BA49-3DDF-E06529A53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3014"/>
            <a:ext cx="10515600" cy="5463949"/>
          </a:xfrm>
        </p:spPr>
        <p:txBody>
          <a:bodyPr>
            <a:normAutofit/>
          </a:bodyPr>
          <a:lstStyle/>
          <a:p>
            <a:pPr algn="just"/>
            <a:r>
              <a:rPr lang="en-ID" sz="2000" b="1" dirty="0"/>
              <a:t>Focuses strategically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Mengembangkan</a:t>
            </a:r>
            <a:r>
              <a:rPr lang="en-ID" sz="2000" dirty="0"/>
              <a:t> dan </a:t>
            </a:r>
            <a:r>
              <a:rPr lang="en-ID" sz="2000" dirty="0" err="1"/>
              <a:t>memberikan</a:t>
            </a:r>
            <a:r>
              <a:rPr lang="en-ID" sz="2000" dirty="0"/>
              <a:t> saran </a:t>
            </a:r>
            <a:r>
              <a:rPr lang="en-ID" sz="2000" dirty="0" err="1"/>
              <a:t>kepada</a:t>
            </a:r>
            <a:r>
              <a:rPr lang="en-ID" sz="2000" dirty="0"/>
              <a:t> </a:t>
            </a:r>
            <a:r>
              <a:rPr lang="en-ID" sz="2000" dirty="0" err="1"/>
              <a:t>pemerintah</a:t>
            </a:r>
            <a:r>
              <a:rPr lang="en-ID" sz="2000" dirty="0"/>
              <a:t> </a:t>
            </a:r>
            <a:r>
              <a:rPr lang="en-ID" sz="2000" dirty="0" err="1"/>
              <a:t>tentang</a:t>
            </a:r>
            <a:r>
              <a:rPr lang="en-ID" sz="2000" dirty="0"/>
              <a:t> </a:t>
            </a:r>
            <a:r>
              <a:rPr lang="en-ID" sz="2000" dirty="0" err="1"/>
              <a:t>hasil</a:t>
            </a:r>
            <a:r>
              <a:rPr lang="en-ID" sz="2000" dirty="0"/>
              <a:t> </a:t>
            </a:r>
            <a:r>
              <a:rPr lang="en-ID" sz="2000" dirty="0" err="1"/>
              <a:t>potensial</a:t>
            </a:r>
            <a:r>
              <a:rPr lang="en-ID" sz="2000" dirty="0"/>
              <a:t> dan </a:t>
            </a:r>
            <a:r>
              <a:rPr lang="en-ID" sz="2000" dirty="0" err="1"/>
              <a:t>merumuskan</a:t>
            </a:r>
            <a:r>
              <a:rPr lang="en-ID" sz="2000" dirty="0"/>
              <a:t> </a:t>
            </a:r>
            <a:r>
              <a:rPr lang="en-ID" sz="2000" dirty="0" err="1"/>
              <a:t>perspektif</a:t>
            </a:r>
            <a:r>
              <a:rPr lang="en-ID" sz="2000" dirty="0"/>
              <a:t> </a:t>
            </a:r>
            <a:r>
              <a:rPr lang="en-ID" sz="2000" dirty="0" err="1"/>
              <a:t>jangka</a:t>
            </a:r>
            <a:r>
              <a:rPr lang="en-ID" sz="2000" dirty="0"/>
              <a:t> </a:t>
            </a:r>
            <a:r>
              <a:rPr lang="en-ID" sz="2000" dirty="0" err="1"/>
              <a:t>panjang</a:t>
            </a:r>
            <a:r>
              <a:rPr lang="en-ID" sz="2000" dirty="0"/>
              <a:t> </a:t>
            </a:r>
            <a:r>
              <a:rPr lang="en-ID" sz="2000" dirty="0" err="1"/>
              <a:t>tentang</a:t>
            </a:r>
            <a:r>
              <a:rPr lang="en-ID" sz="2000" dirty="0"/>
              <a:t> </a:t>
            </a:r>
            <a:r>
              <a:rPr lang="en-ID" sz="2000" dirty="0" err="1"/>
              <a:t>keberhasilan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Mengintegrasikan</a:t>
            </a:r>
            <a:r>
              <a:rPr lang="en-ID" sz="2000" dirty="0"/>
              <a:t> </a:t>
            </a:r>
            <a:r>
              <a:rPr lang="en-ID" sz="2000" dirty="0" err="1"/>
              <a:t>gambaran</a:t>
            </a:r>
            <a:r>
              <a:rPr lang="en-ID" sz="2000" dirty="0"/>
              <a:t> </a:t>
            </a:r>
            <a:r>
              <a:rPr lang="en-ID" sz="2000" dirty="0" err="1"/>
              <a:t>besar</a:t>
            </a:r>
            <a:r>
              <a:rPr lang="en-ID" sz="2000" dirty="0"/>
              <a:t> </a:t>
            </a:r>
            <a:r>
              <a:rPr lang="en-ID" sz="2000" dirty="0" err="1"/>
              <a:t>tujuan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rencana</a:t>
            </a:r>
            <a:r>
              <a:rPr lang="en-ID" sz="2000" dirty="0"/>
              <a:t> </a:t>
            </a:r>
            <a:r>
              <a:rPr lang="en-ID" sz="2000" dirty="0" err="1"/>
              <a:t>tentang</a:t>
            </a:r>
            <a:r>
              <a:rPr lang="en-ID" sz="2000" dirty="0"/>
              <a:t> </a:t>
            </a:r>
            <a:r>
              <a:rPr lang="en-ID" sz="2000" dirty="0" err="1"/>
              <a:t>cara</a:t>
            </a:r>
            <a:r>
              <a:rPr lang="en-ID" sz="2000" dirty="0"/>
              <a:t> </a:t>
            </a:r>
            <a:r>
              <a:rPr lang="en-ID" sz="2000" dirty="0" err="1"/>
              <a:t>mencapainya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Beroperasi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kerangka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mempertimbangkan</a:t>
            </a:r>
            <a:r>
              <a:rPr lang="en-ID" sz="2000" dirty="0"/>
              <a:t> </a:t>
            </a:r>
            <a:r>
              <a:rPr lang="en-ID" sz="2000" dirty="0" err="1"/>
              <a:t>keseluruhan</a:t>
            </a:r>
            <a:r>
              <a:rPr lang="en-ID" sz="2000" dirty="0"/>
              <a:t> </a:t>
            </a:r>
            <a:r>
              <a:rPr lang="en-ID" sz="2000" dirty="0" err="1"/>
              <a:t>pemerintahan</a:t>
            </a:r>
            <a:r>
              <a:rPr lang="en-ID" sz="2000" dirty="0"/>
              <a:t> dan </a:t>
            </a:r>
            <a:r>
              <a:rPr lang="en-ID" sz="2000" dirty="0" err="1"/>
              <a:t>konteks</a:t>
            </a:r>
            <a:r>
              <a:rPr lang="en-ID" sz="2000" dirty="0"/>
              <a:t> yang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luas</a:t>
            </a:r>
            <a:r>
              <a:rPr lang="en-ID" sz="2000" dirty="0"/>
              <a:t>.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upaya</a:t>
            </a:r>
            <a:r>
              <a:rPr lang="en-ID" sz="2000" dirty="0"/>
              <a:t> </a:t>
            </a:r>
            <a:r>
              <a:rPr lang="en-ID" sz="2000" dirty="0" err="1"/>
              <a:t>portofolio</a:t>
            </a:r>
            <a:r>
              <a:rPr lang="en-ID" sz="2000" dirty="0"/>
              <a:t> </a:t>
            </a:r>
            <a:r>
              <a:rPr lang="en-ID" sz="2000" dirty="0" err="1"/>
              <a:t>berkontribusi</a:t>
            </a:r>
            <a:r>
              <a:rPr lang="en-ID" sz="2000" dirty="0"/>
              <a:t> pada </a:t>
            </a:r>
            <a:r>
              <a:rPr lang="en-ID" sz="2000" dirty="0" err="1"/>
              <a:t>prioritas</a:t>
            </a:r>
            <a:r>
              <a:rPr lang="en-ID" sz="2000" dirty="0"/>
              <a:t> </a:t>
            </a:r>
            <a:r>
              <a:rPr lang="en-ID" sz="2000" dirty="0" err="1"/>
              <a:t>lintas-pemerintah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Membayangkan</a:t>
            </a:r>
            <a:r>
              <a:rPr lang="en-ID" sz="2000" dirty="0"/>
              <a:t> </a:t>
            </a:r>
            <a:r>
              <a:rPr lang="en-ID" sz="2000" dirty="0" err="1"/>
              <a:t>apa</a:t>
            </a:r>
            <a:r>
              <a:rPr lang="en-ID" sz="2000" dirty="0"/>
              <a:t> yang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terjadi</a:t>
            </a:r>
            <a:r>
              <a:rPr lang="en-ID" sz="2000" dirty="0"/>
              <a:t> dan </a:t>
            </a:r>
            <a:r>
              <a:rPr lang="en-ID" sz="2000" dirty="0" err="1"/>
              <a:t>bagaimana</a:t>
            </a:r>
            <a:r>
              <a:rPr lang="en-ID" sz="2000" dirty="0"/>
              <a:t> </a:t>
            </a:r>
            <a:r>
              <a:rPr lang="en-ID" sz="2000" dirty="0" err="1"/>
              <a:t>kemungkinan</a:t>
            </a:r>
            <a:r>
              <a:rPr lang="en-ID" sz="2000" dirty="0"/>
              <a:t> masa </a:t>
            </a:r>
            <a:r>
              <a:rPr lang="en-ID" sz="2000" dirty="0" err="1"/>
              <a:t>depan</a:t>
            </a:r>
            <a:r>
              <a:rPr lang="en-ID" sz="2000" dirty="0"/>
              <a:t> </a:t>
            </a:r>
            <a:r>
              <a:rPr lang="en-ID" sz="2000" dirty="0" err="1"/>
              <a:t>seimbang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situasi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5295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C00D-0CFF-527D-1F38-84D6C334C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000" b="1" dirty="0"/>
              <a:t>Harnesses information and opportunities (</a:t>
            </a:r>
            <a:r>
              <a:rPr lang="en-ID" sz="2000" b="1" dirty="0" err="1"/>
              <a:t>Memanfaatkan</a:t>
            </a:r>
            <a:r>
              <a:rPr lang="en-ID" sz="2000" b="1" dirty="0"/>
              <a:t> </a:t>
            </a:r>
            <a:r>
              <a:rPr lang="en-ID" sz="2000" b="1" dirty="0" err="1"/>
              <a:t>informasi</a:t>
            </a:r>
            <a:r>
              <a:rPr lang="en-ID" sz="2000" b="1" dirty="0"/>
              <a:t> dan </a:t>
            </a:r>
            <a:r>
              <a:rPr lang="en-ID" sz="2000" b="1" dirty="0" err="1"/>
              <a:t>peluang</a:t>
            </a:r>
            <a:r>
              <a:rPr lang="en-ID" sz="2000" b="1" dirty="0"/>
              <a:t>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Mencari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memperoleh</a:t>
            </a:r>
            <a:r>
              <a:rPr lang="en-ID" sz="2000" dirty="0"/>
              <a:t> </a:t>
            </a:r>
            <a:r>
              <a:rPr lang="en-ID" sz="2000" dirty="0" err="1"/>
              <a:t>pengetahuan</a:t>
            </a:r>
            <a:r>
              <a:rPr lang="en-ID" sz="2000" dirty="0"/>
              <a:t> dan </a:t>
            </a:r>
            <a:r>
              <a:rPr lang="en-ID" sz="2000" dirty="0" err="1"/>
              <a:t>terbuka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 dan </a:t>
            </a:r>
            <a:r>
              <a:rPr lang="en-ID" sz="2000" dirty="0" err="1"/>
              <a:t>perspektif</a:t>
            </a:r>
            <a:r>
              <a:rPr lang="en-ID" sz="2000" dirty="0"/>
              <a:t> yang </a:t>
            </a:r>
            <a:r>
              <a:rPr lang="en-ID" sz="2000" dirty="0" err="1"/>
              <a:t>berbeda</a:t>
            </a:r>
            <a:r>
              <a:rPr lang="en-ID" sz="20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/>
              <a:t>Nilai </a:t>
            </a:r>
            <a:r>
              <a:rPr lang="en-ID" sz="2000" dirty="0" err="1"/>
              <a:t>mencari</a:t>
            </a:r>
            <a:r>
              <a:rPr lang="en-ID" sz="2000" dirty="0"/>
              <a:t> </a:t>
            </a:r>
            <a:r>
              <a:rPr lang="en-ID" sz="2000" dirty="0" err="1"/>
              <a:t>tahu</a:t>
            </a:r>
            <a:r>
              <a:rPr lang="en-ID" sz="2000" dirty="0"/>
              <a:t> </a:t>
            </a:r>
            <a:r>
              <a:rPr lang="en-ID" sz="2000" dirty="0" err="1"/>
              <a:t>tentang</a:t>
            </a:r>
            <a:r>
              <a:rPr lang="en-ID" sz="2000" dirty="0"/>
              <a:t> </a:t>
            </a:r>
            <a:r>
              <a:rPr lang="en-ID" sz="2000" dirty="0" err="1"/>
              <a:t>praktik</a:t>
            </a:r>
            <a:r>
              <a:rPr lang="en-ID" sz="2000" dirty="0"/>
              <a:t> </a:t>
            </a:r>
            <a:r>
              <a:rPr lang="en-ID" sz="2000" dirty="0" err="1"/>
              <a:t>terbaik</a:t>
            </a:r>
            <a:r>
              <a:rPr lang="en-ID" sz="2000" dirty="0"/>
              <a:t> global (</a:t>
            </a:r>
            <a:r>
              <a:rPr lang="en-ID" sz="2000" dirty="0" err="1"/>
              <a:t>sektor</a:t>
            </a:r>
            <a:r>
              <a:rPr lang="en-ID" sz="2000" dirty="0"/>
              <a:t> </a:t>
            </a:r>
            <a:r>
              <a:rPr lang="en-ID" sz="2000" dirty="0" err="1"/>
              <a:t>publik</a:t>
            </a:r>
            <a:r>
              <a:rPr lang="en-ID" sz="2000" dirty="0"/>
              <a:t> dan </a:t>
            </a:r>
            <a:r>
              <a:rPr lang="en-ID" sz="2000" dirty="0" err="1"/>
              <a:t>swasta</a:t>
            </a:r>
            <a:r>
              <a:rPr lang="en-ID" sz="2000" dirty="0"/>
              <a:t>) dan </a:t>
            </a:r>
            <a:r>
              <a:rPr lang="en-ID" sz="2000" dirty="0" err="1"/>
              <a:t>mempertimbangkan</a:t>
            </a:r>
            <a:r>
              <a:rPr lang="en-ID" sz="2000" dirty="0"/>
              <a:t> </a:t>
            </a:r>
            <a:r>
              <a:rPr lang="en-ID" sz="2000" dirty="0" err="1"/>
              <a:t>cara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konteks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Menunjukkan</a:t>
            </a:r>
            <a:r>
              <a:rPr lang="en-ID" sz="2000" dirty="0"/>
              <a:t> </a:t>
            </a:r>
            <a:r>
              <a:rPr lang="en-ID" sz="2000" dirty="0" err="1"/>
              <a:t>ketajaman</a:t>
            </a:r>
            <a:r>
              <a:rPr lang="en-ID" sz="2000" dirty="0"/>
              <a:t> </a:t>
            </a:r>
            <a:r>
              <a:rPr lang="en-ID" sz="2000" dirty="0" err="1"/>
              <a:t>bisnis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meneliti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menyeluruh</a:t>
            </a:r>
            <a:r>
              <a:rPr lang="en-ID" sz="2000" dirty="0"/>
              <a:t> pasar </a:t>
            </a:r>
            <a:r>
              <a:rPr lang="en-ID" sz="2000" dirty="0" err="1"/>
              <a:t>tempat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r>
              <a:rPr lang="en-ID" sz="2000" dirty="0"/>
              <a:t> </a:t>
            </a:r>
            <a:r>
              <a:rPr lang="en-ID" sz="2000" dirty="0" err="1"/>
              <a:t>beroperasi</a:t>
            </a:r>
            <a:r>
              <a:rPr lang="en-ID" sz="2000" dirty="0"/>
              <a:t> (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peluang</a:t>
            </a:r>
            <a:r>
              <a:rPr lang="en-ID" sz="2000" dirty="0"/>
              <a:t> yang </a:t>
            </a:r>
            <a:r>
              <a:rPr lang="en-ID" sz="2000" dirty="0" err="1"/>
              <a:t>ditawarkan</a:t>
            </a:r>
            <a:r>
              <a:rPr lang="en-ID" sz="2000" dirty="0"/>
              <a:t> dan </a:t>
            </a:r>
            <a:r>
              <a:rPr lang="en-ID" sz="2000" dirty="0" err="1"/>
              <a:t>kendala</a:t>
            </a:r>
            <a:r>
              <a:rPr lang="en-ID" sz="2000" dirty="0"/>
              <a:t> yang </a:t>
            </a:r>
            <a:r>
              <a:rPr lang="en-ID" sz="2000" dirty="0" err="1"/>
              <a:t>dikenakan</a:t>
            </a:r>
            <a:r>
              <a:rPr lang="en-ID" sz="2000" dirty="0"/>
              <a:t>)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menghasilkan</a:t>
            </a:r>
            <a:r>
              <a:rPr lang="en-ID" sz="2000" dirty="0"/>
              <a:t> </a:t>
            </a:r>
            <a:r>
              <a:rPr lang="en-ID" sz="2000" dirty="0" err="1"/>
              <a:t>efisiensi</a:t>
            </a:r>
            <a:r>
              <a:rPr lang="en-ID" sz="2000" dirty="0"/>
              <a:t> yang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besar</a:t>
            </a:r>
            <a:r>
              <a:rPr lang="en-ID" sz="2000" dirty="0"/>
              <a:t> dan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kualitas</a:t>
            </a:r>
            <a:r>
              <a:rPr lang="en-ID" sz="2000" dirty="0"/>
              <a:t> </a:t>
            </a:r>
            <a:r>
              <a:rPr lang="en-ID" sz="2000" dirty="0" err="1"/>
              <a:t>layanan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sz="2000" dirty="0"/>
              <a:t>Terus mengikuti perubahan teknologi utama dan dampaknya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997865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CBAA3-1C7B-FD57-6FD0-AE20B8DEA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614"/>
            <a:ext cx="10515600" cy="5616349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Shows good judgement, intelligence and common sense (</a:t>
            </a:r>
            <a:r>
              <a:rPr lang="en-US" sz="2000" b="1" dirty="0" err="1"/>
              <a:t>Tunjukkan</a:t>
            </a:r>
            <a:r>
              <a:rPr lang="en-US" sz="2000" b="1" dirty="0"/>
              <a:t> </a:t>
            </a:r>
            <a:r>
              <a:rPr lang="en-US" sz="2000" b="1" dirty="0" err="1"/>
              <a:t>penilaian</a:t>
            </a:r>
            <a:r>
              <a:rPr lang="en-US" sz="2000" b="1" dirty="0"/>
              <a:t> yang </a:t>
            </a:r>
            <a:r>
              <a:rPr lang="en-US" sz="2000" b="1" dirty="0" err="1"/>
              <a:t>baik</a:t>
            </a:r>
            <a:r>
              <a:rPr lang="en-US" sz="2000" b="1" dirty="0"/>
              <a:t>, </a:t>
            </a:r>
            <a:r>
              <a:rPr lang="en-US" sz="2000" b="1" dirty="0" err="1"/>
              <a:t>kecerdasan</a:t>
            </a:r>
            <a:r>
              <a:rPr lang="en-US" sz="2000" b="1" dirty="0"/>
              <a:t> dan </a:t>
            </a:r>
            <a:r>
              <a:rPr lang="en-US" sz="2000" b="1" dirty="0" err="1"/>
              <a:t>akal</a:t>
            </a:r>
            <a:r>
              <a:rPr lang="en-US" sz="2000" b="1" dirty="0"/>
              <a:t> </a:t>
            </a:r>
            <a:r>
              <a:rPr lang="en-US" sz="2000" b="1" dirty="0" err="1"/>
              <a:t>sehat</a:t>
            </a:r>
            <a:r>
              <a:rPr lang="en-US" sz="2000" b="1" dirty="0"/>
              <a:t>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Memahami</a:t>
            </a:r>
            <a:r>
              <a:rPr lang="en-ID" sz="2000" dirty="0"/>
              <a:t> </a:t>
            </a:r>
            <a:r>
              <a:rPr lang="en-ID" sz="2000" dirty="0" err="1"/>
              <a:t>kompleksitas</a:t>
            </a:r>
            <a:r>
              <a:rPr lang="en-ID" sz="2000" dirty="0"/>
              <a:t> dan </a:t>
            </a:r>
            <a:r>
              <a:rPr lang="en-ID" sz="2000" dirty="0" err="1"/>
              <a:t>mengidentifikasi</a:t>
            </a:r>
            <a:r>
              <a:rPr lang="en-ID" sz="2000" dirty="0"/>
              <a:t> </a:t>
            </a:r>
            <a:r>
              <a:rPr lang="en-ID" sz="2000" dirty="0" err="1"/>
              <a:t>masalah</a:t>
            </a:r>
            <a:r>
              <a:rPr lang="en-ID" sz="2000" dirty="0"/>
              <a:t> yang </a:t>
            </a:r>
            <a:r>
              <a:rPr lang="en-ID" sz="2000" dirty="0" err="1"/>
              <a:t>cenderung</a:t>
            </a:r>
            <a:r>
              <a:rPr lang="en-ID" sz="2000" dirty="0"/>
              <a:t> </a:t>
            </a:r>
            <a:r>
              <a:rPr lang="en-ID" sz="2000" dirty="0" err="1"/>
              <a:t>diabaikan</a:t>
            </a:r>
            <a:r>
              <a:rPr lang="en-ID" sz="2000" dirty="0"/>
              <a:t> oleh orang lain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sz="2000" dirty="0"/>
              <a:t>Memikirkan masalah dari berbagai sudut dan menganalisisnya secara objektif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Menyelidiki</a:t>
            </a:r>
            <a:r>
              <a:rPr lang="en-ID" sz="2000" dirty="0"/>
              <a:t> dan </a:t>
            </a:r>
            <a:r>
              <a:rPr lang="en-ID" sz="2000" dirty="0" err="1"/>
              <a:t>mengevaluasi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kritis</a:t>
            </a:r>
            <a:r>
              <a:rPr lang="en-ID" sz="2000" dirty="0"/>
              <a:t> </a:t>
            </a:r>
            <a:r>
              <a:rPr lang="en-ID" sz="2000" dirty="0" err="1"/>
              <a:t>sebelum</a:t>
            </a:r>
            <a:r>
              <a:rPr lang="en-ID" sz="2000" dirty="0"/>
              <a:t> </a:t>
            </a:r>
            <a:r>
              <a:rPr lang="en-ID" sz="2000" dirty="0" err="1"/>
              <a:t>menerapkan</a:t>
            </a:r>
            <a:r>
              <a:rPr lang="en-ID" sz="2000" dirty="0"/>
              <a:t> </a:t>
            </a:r>
            <a:r>
              <a:rPr lang="en-ID" sz="2000" dirty="0" err="1"/>
              <a:t>kecerdasan</a:t>
            </a:r>
            <a:r>
              <a:rPr lang="en-ID" sz="2000" dirty="0"/>
              <a:t> dan </a:t>
            </a:r>
            <a:r>
              <a:rPr lang="en-ID" sz="2000" dirty="0" err="1"/>
              <a:t>pengalaman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penilaian</a:t>
            </a:r>
            <a:r>
              <a:rPr lang="en-ID" sz="2000" dirty="0"/>
              <a:t> </a:t>
            </a:r>
            <a:r>
              <a:rPr lang="en-ID" sz="2000" dirty="0" err="1"/>
              <a:t>akhir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ES" sz="2000" dirty="0" err="1"/>
              <a:t>Bersedia</a:t>
            </a:r>
            <a:r>
              <a:rPr lang="es-ES" sz="2000" dirty="0"/>
              <a:t> dan </a:t>
            </a:r>
            <a:r>
              <a:rPr lang="es-ES" sz="2000" dirty="0" err="1"/>
              <a:t>mampu</a:t>
            </a:r>
            <a:r>
              <a:rPr lang="es-ES" sz="2000" dirty="0"/>
              <a:t> </a:t>
            </a:r>
            <a:r>
              <a:rPr lang="es-ES" sz="2000" dirty="0" err="1"/>
              <a:t>mempertanyakan</a:t>
            </a:r>
            <a:r>
              <a:rPr lang="es-ES" sz="2000" dirty="0"/>
              <a:t> </a:t>
            </a:r>
            <a:r>
              <a:rPr lang="es-ES" sz="2000" dirty="0" err="1"/>
              <a:t>asumsi</a:t>
            </a:r>
            <a:r>
              <a:rPr lang="es-ES" sz="2000" dirty="0"/>
              <a:t> dan </a:t>
            </a:r>
            <a:r>
              <a:rPr lang="es-ES" sz="2000" dirty="0" err="1"/>
              <a:t>praktik</a:t>
            </a:r>
            <a:r>
              <a:rPr lang="es-ES" sz="2000" dirty="0"/>
              <a:t> </a:t>
            </a:r>
            <a:r>
              <a:rPr lang="es-ES" sz="2000" dirty="0" err="1"/>
              <a:t>tradisional</a:t>
            </a:r>
            <a:r>
              <a:rPr lang="es-ES" sz="2000" dirty="0"/>
              <a:t> </a:t>
            </a:r>
            <a:r>
              <a:rPr lang="es-ES" sz="2000" dirty="0" err="1"/>
              <a:t>daripada</a:t>
            </a:r>
            <a:r>
              <a:rPr lang="es-ES" sz="2000" dirty="0"/>
              <a:t> </a:t>
            </a:r>
            <a:r>
              <a:rPr lang="es-ES" sz="2000" dirty="0" err="1"/>
              <a:t>menerimanya</a:t>
            </a:r>
            <a:r>
              <a:rPr lang="es-ES" sz="2000" dirty="0"/>
              <a:t> </a:t>
            </a:r>
            <a:r>
              <a:rPr lang="es-ES" sz="2000" dirty="0" err="1"/>
              <a:t>begitu</a:t>
            </a:r>
            <a:r>
              <a:rPr lang="es-ES" sz="2000" dirty="0"/>
              <a:t> saja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kapasitas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memberikan</a:t>
            </a:r>
            <a:r>
              <a:rPr lang="en-ID" sz="2000" dirty="0"/>
              <a:t> </a:t>
            </a:r>
            <a:r>
              <a:rPr lang="en-ID" sz="2000" dirty="0" err="1"/>
              <a:t>orisinalitas</a:t>
            </a:r>
            <a:r>
              <a:rPr lang="en-ID" sz="2000" dirty="0"/>
              <a:t> </a:t>
            </a:r>
            <a:r>
              <a:rPr lang="en-ID" sz="2000" dirty="0" err="1"/>
              <a:t>pemikiran</a:t>
            </a:r>
            <a:r>
              <a:rPr lang="en-ID" sz="2000" dirty="0"/>
              <a:t> dan </a:t>
            </a:r>
            <a:r>
              <a:rPr lang="en-ID" sz="2000" dirty="0" err="1"/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solusi</a:t>
            </a:r>
            <a:r>
              <a:rPr lang="en-ID" sz="2000" dirty="0"/>
              <a:t> </a:t>
            </a:r>
            <a:r>
              <a:rPr lang="en-ID" sz="2000" dirty="0" err="1"/>
              <a:t>inovatif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250914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4C2D-690E-3C13-16CA-99E215F0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203"/>
          </a:xfrm>
        </p:spPr>
        <p:txBody>
          <a:bodyPr>
            <a:normAutofit/>
          </a:bodyPr>
          <a:lstStyle/>
          <a:p>
            <a:r>
              <a:rPr lang="en-ID" sz="2400" b="1" i="1" dirty="0"/>
              <a:t>Achieves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22443-24EA-61A3-A19D-7FF00802B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043"/>
            <a:ext cx="10515600" cy="479992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Builds organizational capability and responsiveness (</a:t>
            </a:r>
            <a:r>
              <a:rPr lang="en-US" sz="2000" b="1" dirty="0" err="1"/>
              <a:t>Membangun</a:t>
            </a:r>
            <a:r>
              <a:rPr lang="en-US" sz="2000" b="1" dirty="0"/>
              <a:t> </a:t>
            </a:r>
            <a:r>
              <a:rPr lang="en-US" sz="2000" b="1" dirty="0" err="1"/>
              <a:t>kapabilitas</a:t>
            </a:r>
            <a:r>
              <a:rPr lang="en-US" sz="2000" b="1" dirty="0"/>
              <a:t> dan </a:t>
            </a:r>
            <a:r>
              <a:rPr lang="en-US" sz="2000" b="1" dirty="0" err="1"/>
              <a:t>daya</a:t>
            </a:r>
            <a:r>
              <a:rPr lang="en-US" sz="2000" b="1" dirty="0"/>
              <a:t> </a:t>
            </a:r>
            <a:r>
              <a:rPr lang="en-US" sz="2000" b="1" dirty="0" err="1"/>
              <a:t>tanggap</a:t>
            </a:r>
            <a:r>
              <a:rPr lang="en-US" sz="2000" b="1" dirty="0"/>
              <a:t> </a:t>
            </a:r>
            <a:r>
              <a:rPr lang="en-US" sz="2000" b="1" dirty="0" err="1"/>
              <a:t>organisasi</a:t>
            </a:r>
            <a:r>
              <a:rPr lang="en-US" sz="2000" b="1" dirty="0"/>
              <a:t>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Memulai</a:t>
            </a:r>
            <a:r>
              <a:rPr lang="en-ID" sz="2000" dirty="0"/>
              <a:t> </a:t>
            </a:r>
            <a:r>
              <a:rPr lang="en-ID" sz="2000" dirty="0" err="1"/>
              <a:t>aktivitas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sumber</a:t>
            </a:r>
            <a:r>
              <a:rPr lang="en-ID" sz="2000" dirty="0"/>
              <a:t> </a:t>
            </a:r>
            <a:r>
              <a:rPr lang="en-ID" sz="2000" dirty="0" err="1"/>
              <a:t>daya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lancar</a:t>
            </a:r>
            <a:r>
              <a:rPr lang="en-ID" sz="2000" dirty="0"/>
              <a:t> dan </a:t>
            </a:r>
            <a:r>
              <a:rPr lang="en-ID" sz="2000" dirty="0" err="1"/>
              <a:t>fleksibel</a:t>
            </a:r>
            <a:r>
              <a:rPr lang="en-ID" sz="2000" dirty="0"/>
              <a:t>, </a:t>
            </a:r>
            <a:r>
              <a:rPr lang="en-ID" sz="2000" dirty="0" err="1"/>
              <a:t>berdasarkan</a:t>
            </a:r>
            <a:r>
              <a:rPr lang="en-ID" sz="2000" dirty="0"/>
              <a:t> </a:t>
            </a:r>
            <a:r>
              <a:rPr lang="en-ID" sz="2000" dirty="0" err="1"/>
              <a:t>situasi</a:t>
            </a:r>
            <a:r>
              <a:rPr lang="en-ID" sz="2000" dirty="0"/>
              <a:t> </a:t>
            </a:r>
            <a:r>
              <a:rPr lang="en-ID" sz="2000" dirty="0" err="1"/>
              <a:t>terhadap</a:t>
            </a:r>
            <a:r>
              <a:rPr lang="en-ID" sz="2000" dirty="0"/>
              <a:t> </a:t>
            </a:r>
            <a:r>
              <a:rPr lang="en-ID" sz="2000" dirty="0" err="1"/>
              <a:t>kebutuhan</a:t>
            </a:r>
            <a:r>
              <a:rPr lang="en-ID" sz="2000" dirty="0"/>
              <a:t> yang </a:t>
            </a:r>
            <a:r>
              <a:rPr lang="en-ID" sz="2000" dirty="0" err="1"/>
              <a:t>muncul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lingkungan</a:t>
            </a:r>
            <a:r>
              <a:rPr lang="en-ID" sz="2000" dirty="0"/>
              <a:t> yang </a:t>
            </a:r>
            <a:r>
              <a:rPr lang="en-ID" sz="2000" dirty="0" err="1"/>
              <a:t>terus</a:t>
            </a:r>
            <a:r>
              <a:rPr lang="en-ID" sz="2000" dirty="0"/>
              <a:t> </a:t>
            </a:r>
            <a:r>
              <a:rPr lang="en-ID" sz="2000" dirty="0" err="1"/>
              <a:t>berubah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Melihat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luar</a:t>
            </a:r>
            <a:r>
              <a:rPr lang="en-ID" sz="2000" dirty="0"/>
              <a:t> </a:t>
            </a:r>
            <a:r>
              <a:rPr lang="en-ID" sz="2000" dirty="0" err="1"/>
              <a:t>sisi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mengidentifikasi</a:t>
            </a:r>
            <a:r>
              <a:rPr lang="en-ID" sz="2000" dirty="0"/>
              <a:t> </a:t>
            </a:r>
            <a:r>
              <a:rPr lang="en-ID" sz="2000" dirty="0" err="1"/>
              <a:t>kombinasi</a:t>
            </a:r>
            <a:r>
              <a:rPr lang="en-ID" sz="2000" dirty="0"/>
              <a:t> </a:t>
            </a:r>
            <a:r>
              <a:rPr lang="en-ID" sz="2000" dirty="0" err="1"/>
              <a:t>sumber</a:t>
            </a:r>
            <a:r>
              <a:rPr lang="en-ID" sz="2000" dirty="0"/>
              <a:t> </a:t>
            </a:r>
            <a:r>
              <a:rPr lang="en-ID" sz="2000" dirty="0" err="1"/>
              <a:t>daya</a:t>
            </a:r>
            <a:r>
              <a:rPr lang="en-ID" sz="2000" dirty="0"/>
              <a:t> </a:t>
            </a:r>
            <a:r>
              <a:rPr lang="en-ID" sz="2000" dirty="0" err="1"/>
              <a:t>apa</a:t>
            </a:r>
            <a:r>
              <a:rPr lang="en-ID" sz="2000" dirty="0"/>
              <a:t> yang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memberikan</a:t>
            </a:r>
            <a:r>
              <a:rPr lang="en-ID" sz="2000" dirty="0"/>
              <a:t> </a:t>
            </a:r>
            <a:r>
              <a:rPr lang="en-ID" sz="2000" dirty="0" err="1"/>
              <a:t>hasil</a:t>
            </a:r>
            <a:r>
              <a:rPr lang="en-ID" sz="2000" dirty="0"/>
              <a:t> </a:t>
            </a:r>
            <a:r>
              <a:rPr lang="en-ID" sz="2000" dirty="0" err="1"/>
              <a:t>terbaik</a:t>
            </a:r>
            <a:r>
              <a:rPr lang="en-ID" sz="2000" dirty="0"/>
              <a:t>, </a:t>
            </a:r>
            <a:r>
              <a:rPr lang="en-ID" sz="2000" dirty="0" err="1"/>
              <a:t>daripada</a:t>
            </a:r>
            <a:r>
              <a:rPr lang="en-ID" sz="2000" dirty="0"/>
              <a:t> </a:t>
            </a:r>
            <a:r>
              <a:rPr lang="en-ID" sz="2000" dirty="0" err="1"/>
              <a:t>terikat</a:t>
            </a:r>
            <a:r>
              <a:rPr lang="en-ID" sz="2000" dirty="0"/>
              <a:t> oleh </a:t>
            </a:r>
            <a:r>
              <a:rPr lang="en-ID" sz="2000" dirty="0" err="1"/>
              <a:t>struktur</a:t>
            </a:r>
            <a:r>
              <a:rPr lang="en-ID" sz="2000" dirty="0"/>
              <a:t> dan proses </a:t>
            </a:r>
            <a:r>
              <a:rPr lang="en-ID" sz="2000" dirty="0" err="1"/>
              <a:t>organisasi</a:t>
            </a:r>
            <a:r>
              <a:rPr lang="en-ID" sz="2000" dirty="0"/>
              <a:t> yang </a:t>
            </a:r>
            <a:r>
              <a:rPr lang="en-ID" sz="2000" dirty="0" err="1"/>
              <a:t>ada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Menanggapi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fleksibel</a:t>
            </a:r>
            <a:r>
              <a:rPr lang="en-ID" sz="2000" dirty="0"/>
              <a:t> </a:t>
            </a:r>
            <a:r>
              <a:rPr lang="en-ID" sz="2000" dirty="0" err="1"/>
              <a:t>berbagai</a:t>
            </a:r>
            <a:r>
              <a:rPr lang="en-ID" sz="2000" dirty="0"/>
              <a:t> </a:t>
            </a:r>
            <a:r>
              <a:rPr lang="en-ID" sz="2000" dirty="0" err="1"/>
              <a:t>persyaratan</a:t>
            </a:r>
            <a:r>
              <a:rPr lang="en-ID" sz="2000" dirty="0"/>
              <a:t> </a:t>
            </a:r>
            <a:r>
              <a:rPr lang="en-ID" sz="2000" dirty="0" err="1"/>
              <a:t>pemangku</a:t>
            </a:r>
            <a:r>
              <a:rPr lang="en-ID" sz="2000" dirty="0"/>
              <a:t> </a:t>
            </a:r>
            <a:r>
              <a:rPr lang="en-ID" sz="2000" dirty="0" err="1"/>
              <a:t>kepentingan</a:t>
            </a:r>
            <a:r>
              <a:rPr lang="en-ID" sz="2000" dirty="0"/>
              <a:t> dan </a:t>
            </a:r>
            <a:r>
              <a:rPr lang="en-ID" sz="2000" dirty="0" err="1"/>
              <a:t>keadaan</a:t>
            </a:r>
            <a:r>
              <a:rPr lang="en-ID" sz="2000" dirty="0"/>
              <a:t> yang </a:t>
            </a:r>
            <a:r>
              <a:rPr lang="en-ID" sz="2000" dirty="0" err="1"/>
              <a:t>berubah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mereka</a:t>
            </a:r>
            <a:r>
              <a:rPr lang="en-ID" sz="2000" dirty="0"/>
              <a:t> </a:t>
            </a:r>
            <a:r>
              <a:rPr lang="en-ID" sz="2000" dirty="0" err="1"/>
              <a:t>muncul</a:t>
            </a:r>
            <a:r>
              <a:rPr lang="en-ID" sz="2000" dirty="0"/>
              <a:t>, </a:t>
            </a:r>
            <a:r>
              <a:rPr lang="en-ID" sz="2000" dirty="0" err="1"/>
              <a:t>berbagai</a:t>
            </a:r>
            <a:r>
              <a:rPr lang="en-ID" sz="2000" dirty="0"/>
              <a:t> </a:t>
            </a:r>
            <a:r>
              <a:rPr lang="en-ID" sz="2000" dirty="0" err="1"/>
              <a:t>penyebaran</a:t>
            </a:r>
            <a:r>
              <a:rPr lang="en-ID" sz="2000" dirty="0"/>
              <a:t> </a:t>
            </a:r>
            <a:r>
              <a:rPr lang="en-ID" sz="2000" dirty="0" err="1"/>
              <a:t>sumber</a:t>
            </a:r>
            <a:r>
              <a:rPr lang="en-ID" sz="2000" dirty="0"/>
              <a:t> </a:t>
            </a:r>
            <a:r>
              <a:rPr lang="en-ID" sz="2000" dirty="0" err="1"/>
              <a:t>daya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batasan</a:t>
            </a:r>
            <a:r>
              <a:rPr lang="en-ID" sz="2000" dirty="0"/>
              <a:t> yang </a:t>
            </a:r>
            <a:r>
              <a:rPr lang="en-ID" sz="2000" dirty="0" err="1"/>
              <a:t>diberlakukan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Memanfaatkan</a:t>
            </a:r>
            <a:r>
              <a:rPr lang="en-ID" sz="2000" dirty="0"/>
              <a:t> </a:t>
            </a:r>
            <a:r>
              <a:rPr lang="en-ID" sz="2000" dirty="0" err="1"/>
              <a:t>keunggulan</a:t>
            </a:r>
            <a:r>
              <a:rPr lang="en-ID" sz="2000" dirty="0"/>
              <a:t> yang </a:t>
            </a:r>
            <a:r>
              <a:rPr lang="en-ID" sz="2000" dirty="0" err="1"/>
              <a:t>ditawarkan</a:t>
            </a:r>
            <a:r>
              <a:rPr lang="en-ID" sz="2000" dirty="0"/>
              <a:t> oleh </a:t>
            </a:r>
            <a:r>
              <a:rPr lang="en-ID" sz="2000" dirty="0" err="1"/>
              <a:t>teknologi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Mengambil</a:t>
            </a:r>
            <a:r>
              <a:rPr lang="en-ID" sz="2000" dirty="0"/>
              <a:t> </a:t>
            </a:r>
            <a:r>
              <a:rPr lang="en-ID" sz="2000" dirty="0" err="1"/>
              <a:t>tindakan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keberlanjutan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591686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A5E3D-D5E5-FFE3-C30B-6EC8F28F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944"/>
            <a:ext cx="10515600" cy="5600020"/>
          </a:xfrm>
        </p:spPr>
        <p:txBody>
          <a:bodyPr>
            <a:normAutofit/>
          </a:bodyPr>
          <a:lstStyle/>
          <a:p>
            <a:pPr algn="just"/>
            <a:r>
              <a:rPr lang="en-ID" sz="2000" b="1" dirty="0"/>
              <a:t>Mobilizes professional expertise (</a:t>
            </a:r>
            <a:r>
              <a:rPr lang="en-ID" sz="2000" b="1" dirty="0" err="1"/>
              <a:t>Memobilisasi</a:t>
            </a:r>
            <a:r>
              <a:rPr lang="en-ID" sz="2000" b="1" dirty="0"/>
              <a:t> </a:t>
            </a:r>
            <a:r>
              <a:rPr lang="en-ID" sz="2000" b="1" dirty="0" err="1"/>
              <a:t>keahlian</a:t>
            </a:r>
            <a:r>
              <a:rPr lang="en-ID" sz="2000" b="1" dirty="0"/>
              <a:t> professional)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Menghargai</a:t>
            </a:r>
            <a:r>
              <a:rPr lang="en-ID" sz="2000" dirty="0"/>
              <a:t> </a:t>
            </a:r>
            <a:r>
              <a:rPr lang="en-ID" sz="2000" dirty="0" err="1"/>
              <a:t>keahlian</a:t>
            </a:r>
            <a:r>
              <a:rPr lang="en-ID" sz="2000" dirty="0"/>
              <a:t> </a:t>
            </a:r>
            <a:r>
              <a:rPr lang="en-ID" sz="2000" dirty="0" err="1"/>
              <a:t>spesialis</a:t>
            </a:r>
            <a:r>
              <a:rPr lang="en-ID" sz="2000" dirty="0"/>
              <a:t> dan </a:t>
            </a:r>
            <a:r>
              <a:rPr lang="en-ID" sz="2000" dirty="0" err="1"/>
              <a:t>menekankan</a:t>
            </a:r>
            <a:r>
              <a:rPr lang="en-ID" sz="2000" dirty="0"/>
              <a:t> pada </a:t>
            </a:r>
            <a:r>
              <a:rPr lang="en-ID" sz="2000" dirty="0" err="1"/>
              <a:t>penciptaan</a:t>
            </a:r>
            <a:r>
              <a:rPr lang="en-ID" sz="2000" dirty="0"/>
              <a:t> </a:t>
            </a:r>
            <a:r>
              <a:rPr lang="en-ID" sz="2000" dirty="0" err="1"/>
              <a:t>kondisi</a:t>
            </a:r>
            <a:r>
              <a:rPr lang="en-ID" sz="2000" dirty="0"/>
              <a:t> yang </a:t>
            </a:r>
            <a:r>
              <a:rPr lang="en-ID" sz="2000" dirty="0" err="1"/>
              <a:t>memfasilitasi</a:t>
            </a:r>
            <a:r>
              <a:rPr lang="en-ID" sz="2000" dirty="0"/>
              <a:t>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pemanfaatan</a:t>
            </a:r>
            <a:r>
              <a:rPr lang="en-ID" sz="2000" dirty="0"/>
              <a:t> </a:t>
            </a:r>
            <a:r>
              <a:rPr lang="en-ID" sz="2000" dirty="0" err="1"/>
              <a:t>pengetahuan</a:t>
            </a:r>
            <a:r>
              <a:rPr lang="en-ID" sz="2000" dirty="0"/>
              <a:t> dan </a:t>
            </a:r>
            <a:r>
              <a:rPr lang="en-ID" sz="2000" dirty="0" err="1"/>
              <a:t>keterampilan</a:t>
            </a:r>
            <a:r>
              <a:rPr lang="en-ID" sz="2000" dirty="0"/>
              <a:t> </a:t>
            </a:r>
            <a:r>
              <a:rPr lang="en-ID" sz="2000" dirty="0" err="1"/>
              <a:t>profesional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efektif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sv-SE" sz="2000" dirty="0"/>
              <a:t>Memastikan masukan profesional yang relevan</a:t>
            </a:r>
          </a:p>
          <a:p>
            <a:pPr algn="just"/>
            <a:r>
              <a:rPr lang="en-ID" sz="2000" b="1" dirty="0" err="1"/>
              <a:t>Mengarahkan</a:t>
            </a:r>
            <a:r>
              <a:rPr lang="en-ID" sz="2000" b="1" dirty="0"/>
              <a:t> dan </a:t>
            </a:r>
            <a:r>
              <a:rPr lang="en-ID" sz="2000" b="1" dirty="0" err="1"/>
              <a:t>mengimplementasikan</a:t>
            </a:r>
            <a:r>
              <a:rPr lang="en-ID" sz="2000" b="1" dirty="0"/>
              <a:t> </a:t>
            </a:r>
            <a:r>
              <a:rPr lang="en-ID" sz="2000" b="1" dirty="0" err="1"/>
              <a:t>perubahan</a:t>
            </a:r>
            <a:r>
              <a:rPr lang="en-ID" sz="2000" b="1" dirty="0"/>
              <a:t> dan </a:t>
            </a:r>
            <a:r>
              <a:rPr lang="en-ID" sz="2000" b="1" dirty="0" err="1"/>
              <a:t>berurusan</a:t>
            </a:r>
            <a:r>
              <a:rPr lang="en-ID" sz="2000" b="1" dirty="0"/>
              <a:t> </a:t>
            </a:r>
            <a:r>
              <a:rPr lang="en-ID" sz="2000" b="1" dirty="0" err="1"/>
              <a:t>dengan</a:t>
            </a:r>
            <a:r>
              <a:rPr lang="en-ID" sz="2000" b="1" dirty="0"/>
              <a:t> </a:t>
            </a:r>
            <a:r>
              <a:rPr lang="en-ID" sz="2000" b="1" dirty="0" err="1"/>
              <a:t>ketidakpastian</a:t>
            </a:r>
            <a:endParaRPr lang="en-ID" sz="2000" b="1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Mengembangkan</a:t>
            </a:r>
            <a:r>
              <a:rPr lang="en-ID" sz="2000" dirty="0"/>
              <a:t> dan </a:t>
            </a:r>
            <a:r>
              <a:rPr lang="en-ID" sz="2000" dirty="0" err="1"/>
              <a:t>mengawasi</a:t>
            </a:r>
            <a:r>
              <a:rPr lang="en-ID" sz="2000" dirty="0"/>
              <a:t> </a:t>
            </a:r>
            <a:r>
              <a:rPr lang="en-ID" sz="2000" dirty="0" err="1"/>
              <a:t>implementasi</a:t>
            </a:r>
            <a:r>
              <a:rPr lang="en-ID" sz="2000" dirty="0"/>
              <a:t> </a:t>
            </a:r>
            <a:r>
              <a:rPr lang="en-ID" sz="2000" dirty="0" err="1"/>
              <a:t>inisiatif</a:t>
            </a:r>
            <a:r>
              <a:rPr lang="en-ID" sz="2000" dirty="0"/>
              <a:t> </a:t>
            </a:r>
            <a:r>
              <a:rPr lang="en-ID" sz="2000" dirty="0" err="1"/>
              <a:t>perubahan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kondisi</a:t>
            </a:r>
            <a:r>
              <a:rPr lang="en-ID" sz="2000" dirty="0"/>
              <a:t> yang </a:t>
            </a:r>
            <a:r>
              <a:rPr lang="en-ID" sz="2000" dirty="0" err="1"/>
              <a:t>terkadang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pasti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Mendefinisikan</a:t>
            </a:r>
            <a:r>
              <a:rPr lang="en-ID" sz="2000" dirty="0"/>
              <a:t> </a:t>
            </a:r>
            <a:r>
              <a:rPr lang="en-ID" sz="2000" dirty="0" err="1"/>
              <a:t>tujuan</a:t>
            </a:r>
            <a:r>
              <a:rPr lang="en-ID" sz="2000" dirty="0"/>
              <a:t> </a:t>
            </a:r>
            <a:r>
              <a:rPr lang="en-ID" sz="2000" dirty="0" err="1"/>
              <a:t>tingkat</a:t>
            </a:r>
            <a:r>
              <a:rPr lang="en-ID" sz="2000" dirty="0"/>
              <a:t> </a:t>
            </a:r>
            <a:r>
              <a:rPr lang="en-ID" sz="2000" dirty="0" err="1"/>
              <a:t>tinggi</a:t>
            </a:r>
            <a:r>
              <a:rPr lang="en-ID" sz="2000" dirty="0"/>
              <a:t> dan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terjemahan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strategi </a:t>
            </a:r>
            <a:r>
              <a:rPr lang="en-ID" sz="2000" dirty="0" err="1"/>
              <a:t>implementasi</a:t>
            </a:r>
            <a:r>
              <a:rPr lang="en-ID" sz="2000" dirty="0"/>
              <a:t> </a:t>
            </a:r>
            <a:r>
              <a:rPr lang="en-ID" sz="2000" dirty="0" err="1"/>
              <a:t>praktis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perencanaan</a:t>
            </a:r>
            <a:r>
              <a:rPr lang="en-ID" sz="2000" dirty="0"/>
              <a:t> </a:t>
            </a:r>
            <a:r>
              <a:rPr lang="en-ID" sz="2000" dirty="0" err="1"/>
              <a:t>jangka</a:t>
            </a:r>
            <a:r>
              <a:rPr lang="en-ID" sz="2000" dirty="0"/>
              <a:t> </a:t>
            </a:r>
            <a:r>
              <a:rPr lang="en-ID" sz="2000" dirty="0" err="1"/>
              <a:t>panjang</a:t>
            </a:r>
            <a:r>
              <a:rPr lang="en-ID" sz="2000" dirty="0"/>
              <a:t> dan </a:t>
            </a:r>
            <a:r>
              <a:rPr lang="en-ID" sz="2000" dirty="0" err="1"/>
              <a:t>jangka</a:t>
            </a:r>
            <a:r>
              <a:rPr lang="en-ID" sz="2000" dirty="0"/>
              <a:t> </a:t>
            </a:r>
            <a:r>
              <a:rPr lang="en-ID" sz="2000" dirty="0" err="1"/>
              <a:t>pendek</a:t>
            </a:r>
            <a:r>
              <a:rPr lang="en-ID" sz="2000" dirty="0"/>
              <a:t> dan </a:t>
            </a:r>
            <a:r>
              <a:rPr lang="en-ID" sz="2000" dirty="0" err="1"/>
              <a:t>menetapkan</a:t>
            </a:r>
            <a:r>
              <a:rPr lang="en-ID" sz="2000" dirty="0"/>
              <a:t> </a:t>
            </a:r>
            <a:r>
              <a:rPr lang="en-ID" sz="2000" dirty="0" err="1"/>
              <a:t>skala</a:t>
            </a:r>
            <a:r>
              <a:rPr lang="en-ID" sz="2000" dirty="0"/>
              <a:t> </a:t>
            </a:r>
            <a:r>
              <a:rPr lang="en-ID" sz="2000" dirty="0" err="1"/>
              <a:t>waktu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penyelesaian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438674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8BFE-B127-111C-7A67-15EAA66DD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957" y="756557"/>
            <a:ext cx="9419998" cy="477910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Ensures closure and delivers on intended results </a:t>
            </a:r>
            <a:r>
              <a:rPr lang="en-US" sz="2400" dirty="0"/>
              <a:t>(</a:t>
            </a:r>
            <a:r>
              <a:rPr lang="en-US" sz="2400" dirty="0" err="1"/>
              <a:t>Memastikan</a:t>
            </a:r>
            <a:r>
              <a:rPr lang="en-US" sz="2400" dirty="0"/>
              <a:t> </a:t>
            </a:r>
            <a:r>
              <a:rPr lang="en-US" sz="2400" dirty="0" err="1"/>
              <a:t>pendekatan</a:t>
            </a:r>
            <a:r>
              <a:rPr lang="en-US" sz="2400" dirty="0"/>
              <a:t> dan </a:t>
            </a:r>
            <a:r>
              <a:rPr lang="en-US" sz="2400" dirty="0" err="1"/>
              <a:t>memberikan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yang </a:t>
            </a:r>
            <a:r>
              <a:rPr lang="en-US" sz="2400" dirty="0" err="1"/>
              <a:t>diinginkan</a:t>
            </a:r>
            <a:r>
              <a:rPr lang="en-US" sz="2400" dirty="0"/>
              <a:t>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Memunculkan</a:t>
            </a:r>
            <a:r>
              <a:rPr lang="en-ID" sz="2200" dirty="0"/>
              <a:t> </a:t>
            </a:r>
            <a:r>
              <a:rPr lang="en-ID" sz="2200" dirty="0" err="1"/>
              <a:t>budaya</a:t>
            </a:r>
            <a:r>
              <a:rPr lang="en-ID" sz="2200" dirty="0"/>
              <a:t> </a:t>
            </a:r>
            <a:r>
              <a:rPr lang="en-ID" sz="2200" dirty="0" err="1"/>
              <a:t>pencapaian</a:t>
            </a:r>
            <a:r>
              <a:rPr lang="en-ID" sz="2200" dirty="0"/>
              <a:t> </a:t>
            </a:r>
            <a:r>
              <a:rPr lang="en-ID" sz="2200" dirty="0" err="1"/>
              <a:t>hasil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memastikan</a:t>
            </a:r>
            <a:r>
              <a:rPr lang="en-ID" sz="2200" dirty="0"/>
              <a:t> </a:t>
            </a:r>
            <a:r>
              <a:rPr lang="en-ID" sz="2200" dirty="0" err="1"/>
              <a:t>bahwa</a:t>
            </a:r>
            <a:r>
              <a:rPr lang="en-ID" sz="2200" dirty="0"/>
              <a:t> </a:t>
            </a:r>
            <a:r>
              <a:rPr lang="en-ID" sz="2200" dirty="0" err="1"/>
              <a:t>gagasan</a:t>
            </a:r>
            <a:r>
              <a:rPr lang="en-ID" sz="2200" dirty="0"/>
              <a:t>/ide </a:t>
            </a:r>
            <a:r>
              <a:rPr lang="en-ID" sz="2200" dirty="0" err="1"/>
              <a:t>serta</a:t>
            </a:r>
            <a:r>
              <a:rPr lang="en-ID" sz="2200" dirty="0"/>
              <a:t> </a:t>
            </a:r>
            <a:r>
              <a:rPr lang="en-ID" sz="2200" dirty="0" err="1"/>
              <a:t>tindakan</a:t>
            </a:r>
            <a:r>
              <a:rPr lang="en-ID" sz="2200" dirty="0"/>
              <a:t> yang </a:t>
            </a:r>
            <a:r>
              <a:rPr lang="en-ID" sz="2200" dirty="0" err="1"/>
              <a:t>dimaksudkan</a:t>
            </a:r>
            <a:r>
              <a:rPr lang="en-ID" sz="2200" dirty="0"/>
              <a:t> </a:t>
            </a:r>
            <a:r>
              <a:rPr lang="en-ID" sz="2200" dirty="0" err="1"/>
              <a:t>menjadi</a:t>
            </a:r>
            <a:r>
              <a:rPr lang="en-ID" sz="2200" dirty="0"/>
              <a:t> </a:t>
            </a:r>
            <a:r>
              <a:rPr lang="en-ID" sz="2200" dirty="0" err="1"/>
              <a:t>kenyataan</a:t>
            </a:r>
            <a:r>
              <a:rPr lang="en-ID" sz="2200" dirty="0"/>
              <a:t> dan </a:t>
            </a:r>
            <a:r>
              <a:rPr lang="en-ID" sz="2200" dirty="0" err="1"/>
              <a:t>proyek</a:t>
            </a:r>
            <a:r>
              <a:rPr lang="en-ID" sz="2200" dirty="0"/>
              <a:t> yang </a:t>
            </a:r>
            <a:r>
              <a:rPr lang="en-ID" sz="2200" dirty="0" err="1"/>
              <a:t>direncanakan</a:t>
            </a:r>
            <a:r>
              <a:rPr lang="en-ID" sz="2200" dirty="0"/>
              <a:t> </a:t>
            </a:r>
            <a:r>
              <a:rPr lang="en-ID" sz="2200" dirty="0" err="1"/>
              <a:t>benar-benar</a:t>
            </a:r>
            <a:r>
              <a:rPr lang="en-ID" sz="2200" dirty="0"/>
              <a:t> </a:t>
            </a:r>
            <a:r>
              <a:rPr lang="en-ID" sz="2200" dirty="0" err="1"/>
              <a:t>menghasilkan</a:t>
            </a:r>
            <a:r>
              <a:rPr lang="en-ID" sz="2200" dirty="0"/>
              <a:t> </a:t>
            </a:r>
            <a:r>
              <a:rPr lang="en-ID" sz="2200" dirty="0" err="1"/>
              <a:t>keluaran</a:t>
            </a:r>
            <a:r>
              <a:rPr lang="en-ID" sz="2200" dirty="0"/>
              <a:t> yang </a:t>
            </a:r>
            <a:r>
              <a:rPr lang="en-ID" sz="2200" dirty="0" err="1"/>
              <a:t>diharapkan</a:t>
            </a:r>
            <a:endParaRPr lang="en-ID" sz="22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Menerapkan</a:t>
            </a:r>
            <a:r>
              <a:rPr lang="en-ID" sz="2200" dirty="0"/>
              <a:t> </a:t>
            </a:r>
            <a:r>
              <a:rPr lang="en-ID" sz="2200" dirty="0" err="1"/>
              <a:t>sistem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menetapkan</a:t>
            </a:r>
            <a:r>
              <a:rPr lang="en-ID" sz="2200" dirty="0"/>
              <a:t> dan </a:t>
            </a:r>
            <a:r>
              <a:rPr lang="en-ID" sz="2200" dirty="0" err="1"/>
              <a:t>mengukur</a:t>
            </a:r>
            <a:r>
              <a:rPr lang="en-ID" sz="2200" dirty="0"/>
              <a:t> </a:t>
            </a:r>
            <a:r>
              <a:rPr lang="en-ID" sz="2200" dirty="0" err="1"/>
              <a:t>akuntabilitas</a:t>
            </a:r>
            <a:endParaRPr lang="en-ID" sz="2200" dirty="0"/>
          </a:p>
          <a:p>
            <a:pPr lvl="1" algn="just">
              <a:buFont typeface="Wingdings" panose="05000000000000000000" pitchFamily="2" charset="2"/>
              <a:buChar char="ü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49003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D24E-7E5A-42A0-5F9D-889460B8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368" y="422724"/>
            <a:ext cx="8911687" cy="937990"/>
          </a:xfrm>
        </p:spPr>
        <p:txBody>
          <a:bodyPr>
            <a:normAutofit/>
          </a:bodyPr>
          <a:lstStyle/>
          <a:p>
            <a:r>
              <a:rPr lang="en-ID" sz="2400" b="1" dirty="0"/>
              <a:t>Cultivates productive working relationships </a:t>
            </a:r>
            <a:r>
              <a:rPr lang="en-ID" sz="2400" dirty="0"/>
              <a:t>(</a:t>
            </a:r>
            <a:r>
              <a:rPr lang="en-ID" sz="2400" dirty="0" err="1"/>
              <a:t>Menumbuhkan</a:t>
            </a:r>
            <a:r>
              <a:rPr lang="en-ID" sz="2400" dirty="0"/>
              <a:t> </a:t>
            </a:r>
            <a:r>
              <a:rPr lang="en-ID" sz="2400" dirty="0" err="1"/>
              <a:t>hubungan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yang </a:t>
            </a:r>
            <a:r>
              <a:rPr lang="en-ID" sz="2400" dirty="0" err="1"/>
              <a:t>produktif</a:t>
            </a:r>
            <a:r>
              <a:rPr lang="en-ID" sz="24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FEBD-B846-314F-C026-1F7662C9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8171" y="1747158"/>
            <a:ext cx="9338355" cy="43379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/>
              <a:t>Nurtures internal and external relationships </a:t>
            </a:r>
            <a:r>
              <a:rPr lang="en-US" sz="2200" dirty="0"/>
              <a:t>(</a:t>
            </a:r>
            <a:r>
              <a:rPr lang="en-US" sz="2200" dirty="0" err="1"/>
              <a:t>Memelihara</a:t>
            </a:r>
            <a:r>
              <a:rPr lang="en-US" sz="2200" dirty="0"/>
              <a:t> </a:t>
            </a:r>
            <a:r>
              <a:rPr lang="en-US" sz="2200" dirty="0" err="1"/>
              <a:t>hubungan</a:t>
            </a:r>
            <a:r>
              <a:rPr lang="en-US" sz="2200" dirty="0"/>
              <a:t> internal dan </a:t>
            </a:r>
            <a:r>
              <a:rPr lang="en-US" sz="2200" dirty="0" err="1"/>
              <a:t>eksternal</a:t>
            </a:r>
            <a:r>
              <a:rPr lang="en-US" sz="2200" dirty="0"/>
              <a:t>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Membangun</a:t>
            </a:r>
            <a:r>
              <a:rPr lang="en-ID" sz="2000" dirty="0"/>
              <a:t> </a:t>
            </a:r>
            <a:r>
              <a:rPr lang="en-ID" sz="2000" dirty="0" err="1"/>
              <a:t>hubungan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pemerintahan</a:t>
            </a:r>
            <a:r>
              <a:rPr lang="en-ID" sz="2000" dirty="0"/>
              <a:t>,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r>
              <a:rPr lang="en-ID" sz="2000" dirty="0"/>
              <a:t> dan </a:t>
            </a:r>
            <a:r>
              <a:rPr lang="en-ID" sz="2000" dirty="0" err="1"/>
              <a:t>dengan</a:t>
            </a:r>
            <a:r>
              <a:rPr lang="en-ID" sz="2000" dirty="0"/>
              <a:t> orang-orang </a:t>
            </a:r>
            <a:r>
              <a:rPr lang="en-ID" sz="2000" dirty="0" err="1"/>
              <a:t>kunci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r>
              <a:rPr lang="en-ID" sz="2000" dirty="0"/>
              <a:t> </a:t>
            </a:r>
            <a:r>
              <a:rPr lang="en-ID" sz="2000" dirty="0" err="1"/>
              <a:t>eksternal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proaktif</a:t>
            </a:r>
            <a:r>
              <a:rPr lang="en-ID" sz="2000" dirty="0"/>
              <a:t> </a:t>
            </a:r>
            <a:r>
              <a:rPr lang="en-ID" sz="2000" dirty="0" err="1"/>
              <a:t>menciptakan</a:t>
            </a:r>
            <a:r>
              <a:rPr lang="en-ID" sz="2000" dirty="0"/>
              <a:t> </a:t>
            </a:r>
            <a:r>
              <a:rPr lang="en-ID" sz="2000" dirty="0" err="1"/>
              <a:t>jaringan</a:t>
            </a:r>
            <a:r>
              <a:rPr lang="en-ID" sz="2000" dirty="0"/>
              <a:t> </a:t>
            </a:r>
            <a:r>
              <a:rPr lang="en-ID" sz="2000" dirty="0" err="1"/>
              <a:t>profesional</a:t>
            </a:r>
            <a:r>
              <a:rPr lang="en-ID" sz="2000" dirty="0"/>
              <a:t> dan </a:t>
            </a:r>
            <a:r>
              <a:rPr lang="en-ID" sz="2000" dirty="0" err="1"/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hubungan</a:t>
            </a:r>
            <a:r>
              <a:rPr lang="en-ID" sz="2000" dirty="0"/>
              <a:t> yang </a:t>
            </a:r>
            <a:r>
              <a:rPr lang="en-ID" sz="2000" dirty="0" err="1"/>
              <a:t>saling</a:t>
            </a:r>
            <a:r>
              <a:rPr lang="en-ID" sz="2000" dirty="0"/>
              <a:t> </a:t>
            </a:r>
            <a:r>
              <a:rPr lang="en-ID" sz="2000" dirty="0" err="1"/>
              <a:t>menguntungkan</a:t>
            </a:r>
            <a:r>
              <a:rPr lang="en-ID" sz="2000" dirty="0"/>
              <a:t> </a:t>
            </a:r>
            <a:r>
              <a:rPr lang="en-ID" sz="2000" dirty="0" err="1"/>
              <a:t>berdasarkan</a:t>
            </a:r>
            <a:r>
              <a:rPr lang="en-ID" sz="2000" dirty="0"/>
              <a:t> rasa </a:t>
            </a:r>
            <a:r>
              <a:rPr lang="en-ID" sz="2000" dirty="0" err="1"/>
              <a:t>hormat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Menunjukkan</a:t>
            </a:r>
            <a:r>
              <a:rPr lang="en-ID" sz="2000" dirty="0"/>
              <a:t> </a:t>
            </a:r>
            <a:r>
              <a:rPr lang="en-ID" sz="2000" dirty="0" err="1"/>
              <a:t>komitmen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layanan</a:t>
            </a:r>
            <a:r>
              <a:rPr lang="en-ID" sz="2000" dirty="0"/>
              <a:t> </a:t>
            </a:r>
            <a:r>
              <a:rPr lang="en-ID" sz="2000" dirty="0" err="1"/>
              <a:t>pelanggan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173123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E3BE7-B9C8-04B1-F959-E8ABFE60A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614" y="1023257"/>
            <a:ext cx="9095015" cy="515370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400" b="1" dirty="0"/>
              <a:t>Facilitates cooperation and partnerships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Berusaha</a:t>
            </a:r>
            <a:r>
              <a:rPr lang="en-ID" sz="2000" dirty="0"/>
              <a:t> </a:t>
            </a:r>
            <a:r>
              <a:rPr lang="en-ID" sz="2000" dirty="0" err="1"/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lingkungan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 di mana orang-orang </a:t>
            </a:r>
            <a:r>
              <a:rPr lang="en-ID" sz="2000" dirty="0" err="1"/>
              <a:t>bekerja</a:t>
            </a:r>
            <a:r>
              <a:rPr lang="en-ID" sz="2000" dirty="0"/>
              <a:t> </a:t>
            </a:r>
            <a:r>
              <a:rPr lang="en-ID" sz="2000" dirty="0" err="1"/>
              <a:t>sama</a:t>
            </a:r>
            <a:r>
              <a:rPr lang="en-ID" sz="2000" dirty="0"/>
              <a:t> dan </a:t>
            </a:r>
            <a:r>
              <a:rPr lang="en-ID" sz="2000" dirty="0" err="1"/>
              <a:t>menghargai</a:t>
            </a:r>
            <a:r>
              <a:rPr lang="en-ID" sz="2000" dirty="0"/>
              <a:t> </a:t>
            </a:r>
            <a:r>
              <a:rPr lang="en-ID" sz="2000" dirty="0" err="1"/>
              <a:t>kolaborasi</a:t>
            </a:r>
            <a:r>
              <a:rPr lang="en-ID" sz="2000" dirty="0"/>
              <a:t> dan </a:t>
            </a:r>
            <a:r>
              <a:rPr lang="en-ID" sz="2000" dirty="0" err="1"/>
              <a:t>kerja</a:t>
            </a:r>
            <a:r>
              <a:rPr lang="en-ID" sz="2000" dirty="0"/>
              <a:t> </a:t>
            </a:r>
            <a:r>
              <a:rPr lang="en-ID" sz="2000" dirty="0" err="1"/>
              <a:t>sama</a:t>
            </a:r>
            <a:r>
              <a:rPr lang="en-ID" sz="2000" dirty="0"/>
              <a:t> </a:t>
            </a:r>
            <a:r>
              <a:rPr lang="en-ID" sz="2000" dirty="0" err="1"/>
              <a:t>tim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sz="2000" dirty="0"/>
              <a:t>Menciptakan rasa keterkaitan dengan departemen dan lembaga lain, memastikan kesempatan untuk berbagi pandangan dan ide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sz="2000" dirty="0"/>
              <a:t>Secara pribadi memanifestasikan hubungan interpersonal dengan memberi contoh dan menunjukkan perilaku tim-pemain, termasuk kesediaan untuk berkonsultasi dan mendengarkan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81814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AF864-997F-4914-3AED-7B5191637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628" y="1273629"/>
            <a:ext cx="9699171" cy="490333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Values individual differences and diversity </a:t>
            </a:r>
            <a:r>
              <a:rPr lang="en-US" sz="2400" dirty="0"/>
              <a:t>(</a:t>
            </a:r>
            <a:r>
              <a:rPr lang="en-US" sz="2400" dirty="0" err="1"/>
              <a:t>Menghargai</a:t>
            </a:r>
            <a:r>
              <a:rPr lang="en-US" sz="2400" dirty="0"/>
              <a:t> </a:t>
            </a:r>
            <a:r>
              <a:rPr lang="en-US" sz="2400" dirty="0" err="1"/>
              <a:t>perbedaan</a:t>
            </a:r>
            <a:r>
              <a:rPr lang="en-US" sz="2400" dirty="0"/>
              <a:t> dan </a:t>
            </a:r>
            <a:r>
              <a:rPr lang="en-US" sz="2400" dirty="0" err="1"/>
              <a:t>keragaman</a:t>
            </a:r>
            <a:r>
              <a:rPr lang="en-US" sz="2400" dirty="0"/>
              <a:t> </a:t>
            </a:r>
            <a:r>
              <a:rPr lang="en-US" sz="2400" dirty="0" err="1"/>
              <a:t>individu</a:t>
            </a:r>
            <a:r>
              <a:rPr lang="en-US" sz="2400" dirty="0"/>
              <a:t>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Mengenali</a:t>
            </a:r>
            <a:r>
              <a:rPr lang="en-ID" sz="2200" dirty="0"/>
              <a:t> </a:t>
            </a:r>
            <a:r>
              <a:rPr lang="en-ID" sz="2200" dirty="0" err="1"/>
              <a:t>bidang</a:t>
            </a:r>
            <a:r>
              <a:rPr lang="en-ID" sz="2200" dirty="0"/>
              <a:t> </a:t>
            </a:r>
            <a:r>
              <a:rPr lang="en-ID" sz="2200" dirty="0" err="1"/>
              <a:t>keterampilan</a:t>
            </a:r>
            <a:r>
              <a:rPr lang="en-ID" sz="2200" dirty="0"/>
              <a:t> yang </a:t>
            </a:r>
            <a:r>
              <a:rPr lang="en-ID" sz="2200" dirty="0" err="1"/>
              <a:t>berbeda</a:t>
            </a:r>
            <a:r>
              <a:rPr lang="en-ID" sz="2200" dirty="0"/>
              <a:t> dan </a:t>
            </a:r>
            <a:r>
              <a:rPr lang="en-ID" sz="2200" dirty="0" err="1"/>
              <a:t>tingkat</a:t>
            </a:r>
            <a:r>
              <a:rPr lang="en-ID" sz="2200" dirty="0"/>
              <a:t> </a:t>
            </a:r>
            <a:r>
              <a:rPr lang="en-ID" sz="2200" dirty="0" err="1"/>
              <a:t>keahlian</a:t>
            </a:r>
            <a:r>
              <a:rPr lang="en-ID" sz="2200" dirty="0"/>
              <a:t>. </a:t>
            </a:r>
            <a:r>
              <a:rPr lang="en-ID" sz="2200" dirty="0" err="1"/>
              <a:t>Memahami</a:t>
            </a:r>
            <a:r>
              <a:rPr lang="en-ID" sz="2200" dirty="0"/>
              <a:t> orang lain dan </a:t>
            </a:r>
            <a:r>
              <a:rPr lang="en-ID" sz="2200" dirty="0" err="1"/>
              <a:t>menanggapi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cara</a:t>
            </a:r>
            <a:r>
              <a:rPr lang="en-ID" sz="2200" dirty="0"/>
              <a:t> yang </a:t>
            </a:r>
            <a:r>
              <a:rPr lang="en-ID" sz="2200" dirty="0" err="1"/>
              <a:t>tepat</a:t>
            </a:r>
            <a:endParaRPr lang="en-ID" sz="22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Mendukung</a:t>
            </a:r>
            <a:r>
              <a:rPr lang="en-ID" sz="2200" dirty="0"/>
              <a:t> dan </a:t>
            </a:r>
            <a:r>
              <a:rPr lang="en-ID" sz="2200" dirty="0" err="1"/>
              <a:t>menghormati</a:t>
            </a:r>
            <a:r>
              <a:rPr lang="en-ID" sz="2200" dirty="0"/>
              <a:t> </a:t>
            </a:r>
            <a:r>
              <a:rPr lang="en-ID" sz="2200" dirty="0" err="1"/>
              <a:t>individualitas</a:t>
            </a:r>
            <a:r>
              <a:rPr lang="en-ID" sz="2200" dirty="0"/>
              <a:t> orang lain dan </a:t>
            </a:r>
            <a:r>
              <a:rPr lang="en-ID" sz="2200" dirty="0" err="1"/>
              <a:t>mengakui</a:t>
            </a:r>
            <a:r>
              <a:rPr lang="en-ID" sz="2200" dirty="0"/>
              <a:t> </a:t>
            </a:r>
            <a:r>
              <a:rPr lang="en-ID" sz="2200" dirty="0" err="1"/>
              <a:t>manfaat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keragaman</a:t>
            </a:r>
            <a:r>
              <a:rPr lang="en-ID" sz="2200" dirty="0"/>
              <a:t> ide dan </a:t>
            </a:r>
            <a:r>
              <a:rPr lang="en-ID" sz="2200" dirty="0" err="1"/>
              <a:t>pendekatan</a:t>
            </a: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1198878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07E1-B77F-113A-A6F3-6B37C47B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643" y="365126"/>
            <a:ext cx="8795658" cy="848632"/>
          </a:xfrm>
        </p:spPr>
        <p:txBody>
          <a:bodyPr>
            <a:normAutofit/>
          </a:bodyPr>
          <a:lstStyle/>
          <a:p>
            <a:r>
              <a:rPr lang="en-US" sz="2000" b="1" dirty="0"/>
              <a:t>Guides, mentors and helps people develop their skills</a:t>
            </a:r>
            <a:br>
              <a:rPr lang="en-US" sz="2000" b="1" dirty="0"/>
            </a:br>
            <a:endParaRPr lang="en-ID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29516-E8A6-1182-B9AB-AC255D965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843"/>
            <a:ext cx="10515600" cy="4876120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Menginspirasi</a:t>
            </a:r>
            <a:r>
              <a:rPr lang="en-ID" sz="1800" dirty="0"/>
              <a:t> </a:t>
            </a:r>
            <a:r>
              <a:rPr lang="en-ID" sz="1800" dirty="0" err="1"/>
              <a:t>pembelajaran</a:t>
            </a:r>
            <a:r>
              <a:rPr lang="en-ID" sz="1800" dirty="0"/>
              <a:t> </a:t>
            </a:r>
            <a:r>
              <a:rPr lang="en-ID" sz="1800" dirty="0" err="1"/>
              <a:t>berkelanjutan</a:t>
            </a:r>
            <a:r>
              <a:rPr lang="en-ID" sz="1800" dirty="0"/>
              <a:t> pada orang lain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Memberikan</a:t>
            </a:r>
            <a:r>
              <a:rPr lang="en-ID" sz="1800" dirty="0"/>
              <a:t> </a:t>
            </a:r>
            <a:r>
              <a:rPr lang="en-ID" sz="1800" dirty="0" err="1"/>
              <a:t>pengakuan</a:t>
            </a:r>
            <a:r>
              <a:rPr lang="en-ID" sz="1800" dirty="0"/>
              <a:t> </a:t>
            </a:r>
            <a:r>
              <a:rPr lang="en-ID" sz="1800" dirty="0" err="1"/>
              <a:t>tepat</a:t>
            </a:r>
            <a:r>
              <a:rPr lang="en-ID" sz="1800" dirty="0"/>
              <a:t> </a:t>
            </a:r>
            <a:r>
              <a:rPr lang="en-ID" sz="1800" dirty="0" err="1"/>
              <a:t>waktu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kinerja</a:t>
            </a:r>
            <a:r>
              <a:rPr lang="en-ID" sz="1800" dirty="0"/>
              <a:t> yang </a:t>
            </a:r>
            <a:r>
              <a:rPr lang="en-ID" sz="1800" dirty="0" err="1"/>
              <a:t>baik</a:t>
            </a:r>
            <a:endParaRPr lang="en-ID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Memotivasi</a:t>
            </a:r>
            <a:r>
              <a:rPr lang="en-ID" sz="1800" dirty="0"/>
              <a:t> orang lain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antusiasme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memberikan</a:t>
            </a:r>
            <a:r>
              <a:rPr lang="en-ID" sz="1800" dirty="0"/>
              <a:t> </a:t>
            </a:r>
            <a:r>
              <a:rPr lang="en-ID" sz="1800" dirty="0" err="1"/>
              <a:t>segalanya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menetapkan</a:t>
            </a:r>
            <a:r>
              <a:rPr lang="en-ID" sz="1800" dirty="0"/>
              <a:t> </a:t>
            </a:r>
            <a:r>
              <a:rPr lang="en-ID" sz="1800" dirty="0" err="1"/>
              <a:t>tujuan</a:t>
            </a:r>
            <a:r>
              <a:rPr lang="en-ID" sz="1800" dirty="0"/>
              <a:t> yang </a:t>
            </a:r>
            <a:r>
              <a:rPr lang="en-ID" sz="1800" dirty="0" err="1"/>
              <a:t>menantang</a:t>
            </a:r>
            <a:r>
              <a:rPr lang="en-ID" sz="1800" dirty="0"/>
              <a:t>, </a:t>
            </a:r>
            <a:r>
              <a:rPr lang="en-ID" sz="1800" dirty="0" err="1"/>
              <a:t>serta</a:t>
            </a:r>
            <a:r>
              <a:rPr lang="en-ID" sz="1800" dirty="0"/>
              <a:t> </a:t>
            </a:r>
            <a:r>
              <a:rPr lang="en-ID" sz="1800" dirty="0" err="1"/>
              <a:t>mendukung</a:t>
            </a:r>
            <a:r>
              <a:rPr lang="en-ID" sz="1800" dirty="0"/>
              <a:t> dan </a:t>
            </a:r>
            <a:r>
              <a:rPr lang="en-ID" sz="1800" dirty="0" err="1"/>
              <a:t>menyemangati</a:t>
            </a:r>
            <a:r>
              <a:rPr lang="en-ID" sz="1800" dirty="0"/>
              <a:t> </a:t>
            </a:r>
            <a:r>
              <a:rPr lang="en-ID" sz="1800" dirty="0" err="1"/>
              <a:t>mereka</a:t>
            </a:r>
            <a:r>
              <a:rPr lang="en-ID" sz="1800" dirty="0"/>
              <a:t> </a:t>
            </a:r>
            <a:r>
              <a:rPr lang="en-ID" sz="1800" dirty="0" err="1"/>
              <a:t>saat</a:t>
            </a:r>
            <a:r>
              <a:rPr lang="en-ID" sz="1800" dirty="0"/>
              <a:t> </a:t>
            </a:r>
            <a:r>
              <a:rPr lang="en-ID" sz="1800" dirty="0" err="1"/>
              <a:t>mereka</a:t>
            </a:r>
            <a:r>
              <a:rPr lang="en-ID" sz="1800" dirty="0"/>
              <a:t> </a:t>
            </a:r>
            <a:r>
              <a:rPr lang="en-ID" sz="1800" dirty="0" err="1"/>
              <a:t>membutuhkan</a:t>
            </a:r>
            <a:r>
              <a:rPr lang="en-ID" sz="1800" dirty="0"/>
              <a:t> </a:t>
            </a:r>
            <a:r>
              <a:rPr lang="en-ID" sz="1800" dirty="0" err="1"/>
              <a:t>bantuan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mengatasi </a:t>
            </a:r>
            <a:r>
              <a:rPr lang="en-ID" sz="1800" dirty="0" err="1"/>
              <a:t>masalah</a:t>
            </a:r>
            <a:endParaRPr lang="en-ID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Membantu</a:t>
            </a:r>
            <a:r>
              <a:rPr lang="en-ID" sz="1800" dirty="0"/>
              <a:t> orang lain </a:t>
            </a:r>
            <a:r>
              <a:rPr lang="en-ID" sz="1800" dirty="0" err="1"/>
              <a:t>untuk</a:t>
            </a:r>
            <a:r>
              <a:rPr lang="en-ID" sz="1800" dirty="0"/>
              <a:t> mengatasi </a:t>
            </a:r>
            <a:r>
              <a:rPr lang="en-ID" sz="1800" dirty="0" err="1"/>
              <a:t>kelemahan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mendorong</a:t>
            </a:r>
            <a:r>
              <a:rPr lang="en-ID" sz="1800" dirty="0"/>
              <a:t> </a:t>
            </a:r>
            <a:r>
              <a:rPr lang="en-ID" sz="1800" dirty="0" err="1"/>
              <a:t>mereka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mengambil</a:t>
            </a:r>
            <a:r>
              <a:rPr lang="en-ID" sz="1800" dirty="0"/>
              <a:t> </a:t>
            </a:r>
            <a:r>
              <a:rPr lang="en-ID" sz="1800" dirty="0" err="1"/>
              <a:t>peran</a:t>
            </a:r>
            <a:r>
              <a:rPr lang="en-ID" sz="1800" dirty="0"/>
              <a:t> </a:t>
            </a:r>
            <a:r>
              <a:rPr lang="en-ID" sz="1800" dirty="0" err="1"/>
              <a:t>aktif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pengembangan</a:t>
            </a:r>
            <a:r>
              <a:rPr lang="en-ID" sz="1800" dirty="0"/>
              <a:t> </a:t>
            </a:r>
            <a:r>
              <a:rPr lang="en-ID" sz="1800" dirty="0" err="1"/>
              <a:t>mereka</a:t>
            </a:r>
            <a:r>
              <a:rPr lang="en-ID" sz="1800" dirty="0"/>
              <a:t> </a:t>
            </a:r>
            <a:r>
              <a:rPr lang="en-ID" sz="1800" dirty="0" err="1"/>
              <a:t>sendiri</a:t>
            </a:r>
            <a:r>
              <a:rPr lang="en-ID" sz="1800" dirty="0"/>
              <a:t> dan </a:t>
            </a:r>
            <a:r>
              <a:rPr lang="en-ID" sz="1800" dirty="0" err="1"/>
              <a:t>menciptakan</a:t>
            </a:r>
            <a:r>
              <a:rPr lang="en-ID" sz="1800" dirty="0"/>
              <a:t> </a:t>
            </a:r>
            <a:r>
              <a:rPr lang="en-ID" sz="1800" dirty="0" err="1"/>
              <a:t>iklim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peluang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melakukannya</a:t>
            </a:r>
            <a:endParaRPr lang="en-ID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1800" dirty="0" err="1"/>
              <a:t>Memahami</a:t>
            </a:r>
            <a:r>
              <a:rPr lang="en-ID" sz="1800" dirty="0"/>
              <a:t> </a:t>
            </a:r>
            <a:r>
              <a:rPr lang="en-ID" sz="1800" dirty="0" err="1"/>
              <a:t>kapan</a:t>
            </a:r>
            <a:r>
              <a:rPr lang="en-ID" sz="1800" dirty="0"/>
              <a:t> </a:t>
            </a:r>
            <a:r>
              <a:rPr lang="en-ID" sz="1800" dirty="0" err="1"/>
              <a:t>saat</a:t>
            </a:r>
            <a:r>
              <a:rPr lang="en-ID" sz="1800" dirty="0"/>
              <a:t> yang </a:t>
            </a:r>
            <a:r>
              <a:rPr lang="en-ID" sz="1800" dirty="0" err="1"/>
              <a:t>tepat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menghadapi</a:t>
            </a:r>
            <a:r>
              <a:rPr lang="en-ID" sz="1800" dirty="0"/>
              <a:t> </a:t>
            </a:r>
            <a:r>
              <a:rPr lang="en-ID" sz="1800" dirty="0" err="1"/>
              <a:t>masalah</a:t>
            </a:r>
            <a:r>
              <a:rPr lang="en-ID" sz="1800" dirty="0"/>
              <a:t> dan </a:t>
            </a:r>
            <a:r>
              <a:rPr lang="en-ID" sz="1800" dirty="0" err="1"/>
              <a:t>mengambil</a:t>
            </a:r>
            <a:r>
              <a:rPr lang="en-ID" sz="1800" dirty="0"/>
              <a:t> </a:t>
            </a:r>
            <a:r>
              <a:rPr lang="en-ID" sz="1800" dirty="0" err="1"/>
              <a:t>tindakan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menghadapi</a:t>
            </a:r>
            <a:r>
              <a:rPr lang="en-ID" sz="1800" dirty="0"/>
              <a:t> </a:t>
            </a:r>
            <a:r>
              <a:rPr lang="en-ID" sz="1800" dirty="0" err="1"/>
              <a:t>situasi</a:t>
            </a:r>
            <a:r>
              <a:rPr lang="en-ID" sz="1800" dirty="0"/>
              <a:t> </a:t>
            </a:r>
            <a:r>
              <a:rPr lang="en-ID" sz="1800" dirty="0" err="1"/>
              <a:t>kinerja</a:t>
            </a:r>
            <a:r>
              <a:rPr lang="en-ID" sz="1800" dirty="0"/>
              <a:t> yang </a:t>
            </a:r>
            <a:r>
              <a:rPr lang="en-ID" sz="1800" dirty="0" err="1"/>
              <a:t>sulit</a:t>
            </a:r>
            <a:endParaRPr lang="en-ID" sz="1800" dirty="0"/>
          </a:p>
          <a:p>
            <a:pPr marL="457200" lvl="1" indent="0" algn="just">
              <a:lnSpc>
                <a:spcPct val="150000"/>
              </a:lnSpc>
              <a:buNone/>
            </a:pPr>
            <a:endParaRPr lang="en-ID" dirty="0"/>
          </a:p>
          <a:p>
            <a:pPr lvl="1" algn="just">
              <a:buFont typeface="Wingdings" panose="05000000000000000000" pitchFamily="2" charset="2"/>
              <a:buChar char="ü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0799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5EFA-1054-EFA5-7F32-BBDF7D13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3710" y="226782"/>
            <a:ext cx="8911687" cy="959761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/>
              <a:t>Exemplifies personal drive and integrity </a:t>
            </a:r>
            <a:r>
              <a:rPr lang="en-US" sz="2200" dirty="0"/>
              <a:t>(</a:t>
            </a:r>
            <a:r>
              <a:rPr lang="en-US" sz="2200" dirty="0" err="1"/>
              <a:t>Mencontohkan</a:t>
            </a:r>
            <a:r>
              <a:rPr lang="en-US" sz="2200" dirty="0"/>
              <a:t> </a:t>
            </a:r>
            <a:r>
              <a:rPr lang="en-US" sz="2200" dirty="0" err="1"/>
              <a:t>dorongan</a:t>
            </a:r>
            <a:r>
              <a:rPr lang="en-US" sz="2200" dirty="0"/>
              <a:t> </a:t>
            </a:r>
            <a:r>
              <a:rPr lang="en-US" sz="2200" dirty="0" err="1"/>
              <a:t>pribadi</a:t>
            </a:r>
            <a:r>
              <a:rPr lang="en-US" sz="2200" dirty="0"/>
              <a:t> dan </a:t>
            </a:r>
            <a:r>
              <a:rPr lang="en-US" sz="2200" dirty="0" err="1"/>
              <a:t>integritas</a:t>
            </a:r>
            <a:r>
              <a:rPr lang="en-US" sz="2400" dirty="0"/>
              <a:t>)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1F29-B76C-0BBA-B4DD-A3F474517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3710" y="1496786"/>
            <a:ext cx="9430883" cy="4533900"/>
          </a:xfrm>
        </p:spPr>
        <p:txBody>
          <a:bodyPr>
            <a:normAutofit/>
          </a:bodyPr>
          <a:lstStyle/>
          <a:p>
            <a:pPr algn="just"/>
            <a:r>
              <a:rPr lang="en-ID" sz="2000" dirty="0" err="1"/>
              <a:t>Menunjukkan</a:t>
            </a:r>
            <a:r>
              <a:rPr lang="en-ID" sz="2000" dirty="0"/>
              <a:t> </a:t>
            </a:r>
            <a:r>
              <a:rPr lang="en-ID" sz="2000" dirty="0" err="1"/>
              <a:t>profesionalisme</a:t>
            </a:r>
            <a:r>
              <a:rPr lang="en-ID" sz="2000" dirty="0"/>
              <a:t> dan </a:t>
            </a:r>
            <a:r>
              <a:rPr lang="en-ID" sz="2000" dirty="0" err="1"/>
              <a:t>kejujuran</a:t>
            </a:r>
            <a:r>
              <a:rPr lang="en-ID" sz="2000" dirty="0"/>
              <a:t> </a:t>
            </a:r>
            <a:r>
              <a:rPr lang="en-ID" sz="2000" dirty="0" err="1"/>
              <a:t>pelayanan</a:t>
            </a:r>
            <a:r>
              <a:rPr lang="en-ID" sz="2000" dirty="0"/>
              <a:t> </a:t>
            </a:r>
            <a:r>
              <a:rPr lang="en-ID" sz="2000" dirty="0" err="1"/>
              <a:t>publik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Menetapkan</a:t>
            </a:r>
            <a:r>
              <a:rPr lang="en-ID" sz="2000" dirty="0"/>
              <a:t>, </a:t>
            </a:r>
            <a:r>
              <a:rPr lang="en-ID" sz="2000" dirty="0" err="1"/>
              <a:t>mematuhi</a:t>
            </a:r>
            <a:r>
              <a:rPr lang="en-ID" sz="2000" dirty="0"/>
              <a:t> dan </a:t>
            </a:r>
            <a:r>
              <a:rPr lang="en-ID" sz="2000" dirty="0" err="1"/>
              <a:t>mempromosikan</a:t>
            </a:r>
            <a:r>
              <a:rPr lang="en-ID" sz="2000" dirty="0"/>
              <a:t> </a:t>
            </a:r>
            <a:r>
              <a:rPr lang="en-ID" sz="2000" dirty="0" err="1"/>
              <a:t>nilai-nilai</a:t>
            </a:r>
            <a:r>
              <a:rPr lang="en-ID" sz="2000" dirty="0"/>
              <a:t> dan </a:t>
            </a:r>
            <a:r>
              <a:rPr lang="en-ID" sz="2000" dirty="0" err="1"/>
              <a:t>kerangka</a:t>
            </a:r>
            <a:r>
              <a:rPr lang="en-ID" sz="2000" dirty="0"/>
              <a:t> </a:t>
            </a:r>
            <a:r>
              <a:rPr lang="en-ID" sz="2000" dirty="0" err="1"/>
              <a:t>etika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endParaRPr lang="en-ID" sz="2000" dirty="0"/>
          </a:p>
          <a:p>
            <a:pPr algn="just"/>
            <a:r>
              <a:rPr lang="en-ID" sz="2000" dirty="0" err="1"/>
              <a:t>Menetapkan</a:t>
            </a:r>
            <a:r>
              <a:rPr lang="en-ID" sz="2000" dirty="0"/>
              <a:t>, </a:t>
            </a:r>
            <a:r>
              <a:rPr lang="en-ID" sz="2000" dirty="0" err="1"/>
              <a:t>mematuhi</a:t>
            </a:r>
            <a:r>
              <a:rPr lang="en-ID" sz="2000" dirty="0"/>
              <a:t> dan </a:t>
            </a:r>
            <a:r>
              <a:rPr lang="en-ID" sz="2000" dirty="0" err="1"/>
              <a:t>mempromosikan</a:t>
            </a:r>
            <a:r>
              <a:rPr lang="en-ID" sz="2000" dirty="0"/>
              <a:t> </a:t>
            </a:r>
            <a:r>
              <a:rPr lang="en-ID" sz="2000" dirty="0" err="1"/>
              <a:t>nilai-nilai</a:t>
            </a:r>
            <a:r>
              <a:rPr lang="en-ID" sz="2000" dirty="0"/>
              <a:t> dan </a:t>
            </a:r>
            <a:r>
              <a:rPr lang="en-ID" sz="2000" dirty="0" err="1"/>
              <a:t>kerangka</a:t>
            </a:r>
            <a:r>
              <a:rPr lang="en-ID" sz="2000" dirty="0"/>
              <a:t> </a:t>
            </a:r>
            <a:r>
              <a:rPr lang="en-ID" sz="2000" dirty="0" err="1"/>
              <a:t>etika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Bersedia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berterus</a:t>
            </a:r>
            <a:r>
              <a:rPr lang="en-ID" sz="2000" dirty="0"/>
              <a:t> </a:t>
            </a:r>
            <a:r>
              <a:rPr lang="en-ID" sz="2000" dirty="0" err="1"/>
              <a:t>terang</a:t>
            </a:r>
            <a:r>
              <a:rPr lang="en-ID" sz="2000" dirty="0"/>
              <a:t> dan </a:t>
            </a:r>
            <a:r>
              <a:rPr lang="en-ID" sz="2000" dirty="0" err="1"/>
              <a:t>mengatakannya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itu</a:t>
            </a:r>
            <a:r>
              <a:rPr lang="en-ID" sz="2000" dirty="0"/>
              <a:t> (dan </a:t>
            </a:r>
            <a:r>
              <a:rPr lang="en-ID" sz="2000" dirty="0" err="1"/>
              <a:t>bukan</a:t>
            </a:r>
            <a:r>
              <a:rPr lang="en-ID" sz="2000" dirty="0"/>
              <a:t> </a:t>
            </a:r>
            <a:r>
              <a:rPr lang="en-ID" sz="2000" dirty="0" err="1"/>
              <a:t>bagaimana</a:t>
            </a:r>
            <a:r>
              <a:rPr lang="en-ID" sz="2000" dirty="0"/>
              <a:t> orang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menyukainya</a:t>
            </a:r>
            <a:r>
              <a:rPr lang="en-ID" sz="2000" dirty="0"/>
              <a:t>)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Berpikiran</a:t>
            </a:r>
            <a:r>
              <a:rPr lang="en-ID" sz="2000" dirty="0"/>
              <a:t> </a:t>
            </a:r>
            <a:r>
              <a:rPr lang="en-ID" sz="2000" dirty="0" err="1"/>
              <a:t>mandiri</a:t>
            </a:r>
            <a:r>
              <a:rPr lang="en-ID" sz="2000" dirty="0"/>
              <a:t> dan </a:t>
            </a:r>
            <a:r>
              <a:rPr lang="en-ID" sz="2000" dirty="0" err="1"/>
              <a:t>bersedia</a:t>
            </a:r>
            <a:r>
              <a:rPr lang="en-ID" sz="2000" dirty="0"/>
              <a:t> </a:t>
            </a:r>
            <a:r>
              <a:rPr lang="en-ID" sz="2000" dirty="0" err="1"/>
              <a:t>menantang</a:t>
            </a:r>
            <a:r>
              <a:rPr lang="en-ID" sz="2000" dirty="0"/>
              <a:t> ide dan </a:t>
            </a:r>
            <a:r>
              <a:rPr lang="en-ID" sz="2000" dirty="0" err="1"/>
              <a:t>menghadapi</a:t>
            </a:r>
            <a:r>
              <a:rPr lang="en-ID" sz="2000" dirty="0"/>
              <a:t> </a:t>
            </a:r>
            <a:r>
              <a:rPr lang="en-ID" sz="2000" dirty="0" err="1"/>
              <a:t>masalah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Siap</a:t>
            </a:r>
            <a:r>
              <a:rPr lang="en-ID" sz="2000" dirty="0"/>
              <a:t> </a:t>
            </a:r>
            <a:r>
              <a:rPr lang="en-ID" sz="2000" dirty="0" err="1"/>
              <a:t>mengakui</a:t>
            </a:r>
            <a:r>
              <a:rPr lang="en-ID" sz="2000" dirty="0"/>
              <a:t> </a:t>
            </a:r>
            <a:r>
              <a:rPr lang="en-ID" sz="2000" dirty="0" err="1"/>
              <a:t>kesalahan</a:t>
            </a:r>
            <a:r>
              <a:rPr lang="en-ID" sz="2000" dirty="0"/>
              <a:t> dan </a:t>
            </a:r>
            <a:r>
              <a:rPr lang="en-ID" sz="2000" dirty="0" err="1"/>
              <a:t>belajar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kesalahan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Siap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meminta</a:t>
            </a:r>
            <a:r>
              <a:rPr lang="en-ID" sz="2000" dirty="0"/>
              <a:t> </a:t>
            </a:r>
            <a:r>
              <a:rPr lang="en-ID" sz="2000" dirty="0" err="1"/>
              <a:t>bantuan</a:t>
            </a:r>
            <a:r>
              <a:rPr lang="en-ID" sz="2000" dirty="0"/>
              <a:t> dan </a:t>
            </a:r>
            <a:r>
              <a:rPr lang="en-ID" sz="2000" dirty="0" err="1"/>
              <a:t>menghargai</a:t>
            </a:r>
            <a:r>
              <a:rPr lang="en-ID" sz="2000" dirty="0"/>
              <a:t> saran </a:t>
            </a:r>
            <a:r>
              <a:rPr lang="en-ID" sz="2000" dirty="0" err="1"/>
              <a:t>dari</a:t>
            </a:r>
            <a:r>
              <a:rPr lang="en-ID" sz="2000" dirty="0"/>
              <a:t> orang lain</a:t>
            </a:r>
          </a:p>
        </p:txBody>
      </p:sp>
    </p:spTree>
    <p:extLst>
      <p:ext uri="{BB962C8B-B14F-4D97-AF65-F5344CB8AC3E}">
        <p14:creationId xmlns:p14="http://schemas.microsoft.com/office/powerpoint/2010/main" val="2559241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E43F3-0EB1-E9FC-B06E-5AF0D7B23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702129"/>
            <a:ext cx="10096500" cy="5474834"/>
          </a:xfrm>
        </p:spPr>
        <p:txBody>
          <a:bodyPr>
            <a:normAutofit/>
          </a:bodyPr>
          <a:lstStyle/>
          <a:p>
            <a:pPr algn="just"/>
            <a:r>
              <a:rPr lang="en-ID" sz="2000" b="1" dirty="0"/>
              <a:t>Commits to action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/>
              <a:t>Sangat </a:t>
            </a:r>
            <a:r>
              <a:rPr lang="en-ID" sz="2000" dirty="0" err="1"/>
              <a:t>termotivasi</a:t>
            </a:r>
            <a:r>
              <a:rPr lang="en-ID" sz="2000" dirty="0"/>
              <a:t> dan </a:t>
            </a:r>
            <a:r>
              <a:rPr lang="en-ID" sz="2000" dirty="0" err="1"/>
              <a:t>berorientasi</a:t>
            </a:r>
            <a:r>
              <a:rPr lang="en-ID" sz="2000" dirty="0"/>
              <a:t> pada </a:t>
            </a:r>
            <a:r>
              <a:rPr lang="en-ID" sz="2000" dirty="0" err="1"/>
              <a:t>tindakan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Mengambil</a:t>
            </a:r>
            <a:r>
              <a:rPr lang="en-ID" sz="2000" dirty="0"/>
              <a:t> </a:t>
            </a:r>
            <a:r>
              <a:rPr lang="en-ID" sz="2000" dirty="0" err="1"/>
              <a:t>tanggung</a:t>
            </a:r>
            <a:r>
              <a:rPr lang="en-ID" sz="2000" dirty="0"/>
              <a:t> </a:t>
            </a:r>
            <a:r>
              <a:rPr lang="en-ID" sz="2000" dirty="0" err="1"/>
              <a:t>jawab</a:t>
            </a:r>
            <a:r>
              <a:rPr lang="en-ID" sz="2000" dirty="0"/>
              <a:t> </a:t>
            </a:r>
            <a:r>
              <a:rPr lang="en-ID" sz="2000" dirty="0" err="1"/>
              <a:t>pribadi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menyelesaikan</a:t>
            </a:r>
            <a:r>
              <a:rPr lang="en-ID" sz="2000" dirty="0"/>
              <a:t> </a:t>
            </a:r>
            <a:r>
              <a:rPr lang="en-ID" sz="2000" dirty="0" err="1"/>
              <a:t>sesuatu</a:t>
            </a:r>
            <a:r>
              <a:rPr lang="en-ID" sz="2000" dirty="0"/>
              <a:t> dan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keberhasilan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endParaRPr lang="en-ID" sz="20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Menangani</a:t>
            </a:r>
            <a:r>
              <a:rPr lang="en-ID" sz="2000" dirty="0"/>
              <a:t> </a:t>
            </a:r>
            <a:r>
              <a:rPr lang="en-ID" sz="2000" dirty="0" err="1"/>
              <a:t>masalah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proaktif</a:t>
            </a:r>
            <a:r>
              <a:rPr lang="en-ID" sz="2000" dirty="0"/>
              <a:t> dan </a:t>
            </a:r>
            <a:r>
              <a:rPr lang="en-ID" sz="2000" dirty="0" err="1"/>
              <a:t>mencoba</a:t>
            </a:r>
            <a:r>
              <a:rPr lang="en-ID" sz="2000" dirty="0"/>
              <a:t> </a:t>
            </a:r>
            <a:r>
              <a:rPr lang="en-ID" sz="2000" dirty="0" err="1"/>
              <a:t>membentuk</a:t>
            </a:r>
            <a:r>
              <a:rPr lang="en-ID" sz="2000" dirty="0"/>
              <a:t> acara;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menunda-nunda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Siap</a:t>
            </a:r>
            <a:r>
              <a:rPr lang="en-ID" sz="2000" dirty="0"/>
              <a:t> </a:t>
            </a:r>
            <a:r>
              <a:rPr lang="en-ID" sz="2000" dirty="0" err="1"/>
              <a:t>menginvestasikan</a:t>
            </a:r>
            <a:r>
              <a:rPr lang="en-ID" sz="2000" dirty="0"/>
              <a:t> </a:t>
            </a:r>
            <a:r>
              <a:rPr lang="en-ID" sz="2000" dirty="0" err="1"/>
              <a:t>energi</a:t>
            </a:r>
            <a:r>
              <a:rPr lang="en-ID" sz="2000" dirty="0"/>
              <a:t> dan </a:t>
            </a:r>
            <a:r>
              <a:rPr lang="en-ID" sz="2000" dirty="0" err="1"/>
              <a:t>inisiatif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memajukan</a:t>
            </a:r>
            <a:r>
              <a:rPr lang="en-ID" sz="2000" dirty="0"/>
              <a:t> </a:t>
            </a:r>
            <a:r>
              <a:rPr lang="en-ID" sz="2000" dirty="0" err="1"/>
              <a:t>pekerjaan</a:t>
            </a:r>
            <a:r>
              <a:rPr lang="en-ID" sz="2000" dirty="0"/>
              <a:t>.</a:t>
            </a:r>
          </a:p>
          <a:p>
            <a:pPr algn="just"/>
            <a:r>
              <a:rPr lang="en-ID" sz="2000" b="1" dirty="0"/>
              <a:t>Displays resilience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Tetap</a:t>
            </a:r>
            <a:r>
              <a:rPr lang="en-ID" sz="2000" dirty="0"/>
              <a:t> </a:t>
            </a:r>
            <a:r>
              <a:rPr lang="en-ID" sz="2000" dirty="0" err="1"/>
              <a:t>fokus</a:t>
            </a:r>
            <a:r>
              <a:rPr lang="en-ID" sz="2000" dirty="0"/>
              <a:t> pada </a:t>
            </a:r>
            <a:r>
              <a:rPr lang="en-ID" sz="2000" dirty="0" err="1"/>
              <a:t>tujuan</a:t>
            </a:r>
            <a:r>
              <a:rPr lang="en-ID" sz="2000" dirty="0"/>
              <a:t>, </a:t>
            </a:r>
            <a:r>
              <a:rPr lang="en-ID" sz="2000" dirty="0" err="1"/>
              <a:t>bahkan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keadaan</a:t>
            </a:r>
            <a:r>
              <a:rPr lang="en-ID" sz="2000" dirty="0"/>
              <a:t> </a:t>
            </a:r>
            <a:r>
              <a:rPr lang="en-ID" sz="2000" dirty="0" err="1"/>
              <a:t>sulit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Bangkit</a:t>
            </a:r>
            <a:r>
              <a:rPr lang="en-ID" sz="2000" dirty="0"/>
              <a:t> </a:t>
            </a:r>
            <a:r>
              <a:rPr lang="en-ID" sz="2000" dirty="0" err="1"/>
              <a:t>kembali</a:t>
            </a:r>
            <a:r>
              <a:rPr lang="en-ID" sz="2000" dirty="0"/>
              <a:t> </a:t>
            </a:r>
            <a:r>
              <a:rPr lang="en-ID" sz="2000" dirty="0" err="1"/>
              <a:t>setelah</a:t>
            </a:r>
            <a:r>
              <a:rPr lang="en-ID" sz="2000" dirty="0"/>
              <a:t> </a:t>
            </a:r>
            <a:r>
              <a:rPr lang="en-ID" sz="2000" dirty="0" err="1"/>
              <a:t>kemunduran</a:t>
            </a:r>
            <a:r>
              <a:rPr lang="en-ID" sz="2000" dirty="0"/>
              <a:t> dan </a:t>
            </a:r>
            <a:r>
              <a:rPr lang="en-ID" sz="2000" dirty="0" err="1"/>
              <a:t>tetap</a:t>
            </a:r>
            <a:r>
              <a:rPr lang="en-ID" sz="2000" dirty="0"/>
              <a:t> </a:t>
            </a:r>
            <a:r>
              <a:rPr lang="en-ID" sz="2000" dirty="0" err="1"/>
              <a:t>positif</a:t>
            </a:r>
            <a:r>
              <a:rPr lang="en-ID" sz="2000" dirty="0"/>
              <a:t>;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000" dirty="0" err="1"/>
              <a:t>Mempertahankan</a:t>
            </a:r>
            <a:r>
              <a:rPr lang="en-ID" sz="2000" dirty="0"/>
              <a:t> </a:t>
            </a:r>
            <a:r>
              <a:rPr lang="en-ID" sz="2000" dirty="0" err="1"/>
              <a:t>energi</a:t>
            </a:r>
            <a:r>
              <a:rPr lang="en-ID" sz="2000" dirty="0"/>
              <a:t> dan </a:t>
            </a:r>
            <a:r>
              <a:rPr lang="en-ID" sz="2000" dirty="0" err="1"/>
              <a:t>rela</a:t>
            </a:r>
            <a:r>
              <a:rPr lang="en-ID" sz="2000" dirty="0"/>
              <a:t> </a:t>
            </a:r>
            <a:r>
              <a:rPr lang="en-ID" sz="2000" dirty="0" err="1"/>
              <a:t>menginvestasikan</a:t>
            </a:r>
            <a:r>
              <a:rPr lang="en-ID" sz="2000" dirty="0"/>
              <a:t> </a:t>
            </a:r>
            <a:r>
              <a:rPr lang="en-ID" sz="2000" dirty="0" err="1"/>
              <a:t>usaha</a:t>
            </a:r>
            <a:r>
              <a:rPr lang="en-ID" sz="2000" dirty="0"/>
              <a:t> </a:t>
            </a:r>
            <a:r>
              <a:rPr lang="en-ID" sz="2000" dirty="0" err="1"/>
              <a:t>ekstra</a:t>
            </a:r>
            <a:r>
              <a:rPr lang="en-ID" sz="2000" dirty="0"/>
              <a:t> </a:t>
            </a:r>
            <a:r>
              <a:rPr lang="en-ID" sz="2000" dirty="0" err="1"/>
              <a:t>bila</a:t>
            </a:r>
            <a:r>
              <a:rPr lang="en-ID" sz="2000" dirty="0"/>
              <a:t> </a:t>
            </a:r>
            <a:r>
              <a:rPr lang="en-ID" sz="2000" dirty="0" err="1"/>
              <a:t>diperlukan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070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393A4-0074-81E4-A35A-F11A8F6F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671"/>
            <a:ext cx="10515600" cy="54312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 dirty="0"/>
              <a:t>Demonstrates self-awareness and a commitment to personal development </a:t>
            </a:r>
            <a:r>
              <a:rPr lang="en-US" sz="2200" dirty="0"/>
              <a:t>(</a:t>
            </a:r>
            <a:r>
              <a:rPr lang="nn-NO" sz="2200" dirty="0"/>
              <a:t>Menunjukkan kesadaran diri dan komitmen untuk pengembangan pribadi)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Menunjukkan</a:t>
            </a:r>
            <a:r>
              <a:rPr lang="en-ID" sz="2000" dirty="0"/>
              <a:t> </a:t>
            </a:r>
            <a:r>
              <a:rPr lang="en-ID" sz="2000" dirty="0" err="1"/>
              <a:t>komitmen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terus</a:t>
            </a:r>
            <a:r>
              <a:rPr lang="en-ID" sz="2000" dirty="0"/>
              <a:t> </a:t>
            </a:r>
            <a:r>
              <a:rPr lang="en-ID" sz="2000" dirty="0" err="1"/>
              <a:t>belajar</a:t>
            </a:r>
            <a:r>
              <a:rPr lang="en-ID" sz="20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aktif</a:t>
            </a:r>
            <a:r>
              <a:rPr lang="en-ID" sz="2000" dirty="0"/>
              <a:t> </a:t>
            </a:r>
            <a:r>
              <a:rPr lang="en-ID" sz="2000" dirty="0" err="1"/>
              <a:t>mencari</a:t>
            </a:r>
            <a:r>
              <a:rPr lang="en-ID" sz="2000" dirty="0"/>
              <a:t> </a:t>
            </a:r>
            <a:r>
              <a:rPr lang="en-ID" sz="2000" dirty="0" err="1"/>
              <a:t>umpan</a:t>
            </a:r>
            <a:r>
              <a:rPr lang="en-ID" sz="2000" dirty="0"/>
              <a:t> </a:t>
            </a:r>
            <a:r>
              <a:rPr lang="en-ID" sz="2000" dirty="0" err="1"/>
              <a:t>balik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berbagai</a:t>
            </a:r>
            <a:r>
              <a:rPr lang="en-ID" sz="2000" dirty="0"/>
              <a:t> </a:t>
            </a:r>
            <a:r>
              <a:rPr lang="en-ID" sz="2000" dirty="0" err="1"/>
              <a:t>sumber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Mengambil</a:t>
            </a:r>
            <a:r>
              <a:rPr lang="en-ID" sz="2000" dirty="0"/>
              <a:t> </a:t>
            </a:r>
            <a:r>
              <a:rPr lang="en-ID" sz="2000" dirty="0" err="1"/>
              <a:t>tanggung</a:t>
            </a:r>
            <a:r>
              <a:rPr lang="en-ID" sz="2000" dirty="0"/>
              <a:t> </a:t>
            </a:r>
            <a:r>
              <a:rPr lang="en-ID" sz="2000" dirty="0" err="1"/>
              <a:t>jawab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pengembangan</a:t>
            </a:r>
            <a:r>
              <a:rPr lang="en-ID" sz="2000" dirty="0"/>
              <a:t> </a:t>
            </a:r>
            <a:r>
              <a:rPr lang="en-ID" sz="2000" dirty="0" err="1"/>
              <a:t>diri</a:t>
            </a:r>
            <a:r>
              <a:rPr lang="en-ID" sz="2000" dirty="0"/>
              <a:t> dan </a:t>
            </a:r>
            <a:r>
              <a:rPr lang="en-ID" sz="2000" dirty="0" err="1"/>
              <a:t>manajemen</a:t>
            </a:r>
            <a:r>
              <a:rPr lang="en-ID" sz="2000" dirty="0"/>
              <a:t> </a:t>
            </a:r>
            <a:r>
              <a:rPr lang="en-ID" sz="2000" dirty="0" err="1"/>
              <a:t>diri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cara</a:t>
            </a:r>
            <a:r>
              <a:rPr lang="en-ID" sz="2000" dirty="0"/>
              <a:t> yang </a:t>
            </a:r>
            <a:r>
              <a:rPr lang="en-ID" sz="2000" dirty="0" err="1"/>
              <a:t>memungkinkan</a:t>
            </a:r>
            <a:r>
              <a:rPr lang="en-ID" sz="2000" dirty="0"/>
              <a:t> </a:t>
            </a:r>
            <a:r>
              <a:rPr lang="en-ID" sz="2000" dirty="0" err="1"/>
              <a:t>kinerja</a:t>
            </a:r>
            <a:r>
              <a:rPr lang="en-ID" sz="2000" dirty="0"/>
              <a:t> yang </a:t>
            </a:r>
            <a:r>
              <a:rPr lang="en-ID" sz="2000" dirty="0" err="1"/>
              <a:t>berkelanjutan</a:t>
            </a:r>
            <a:r>
              <a:rPr lang="en-ID" sz="20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Mencari</a:t>
            </a:r>
            <a:r>
              <a:rPr lang="en-ID" sz="2000" dirty="0"/>
              <a:t> </a:t>
            </a:r>
            <a:r>
              <a:rPr lang="en-ID" sz="2000" dirty="0" err="1"/>
              <a:t>peluang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keterampilan</a:t>
            </a:r>
            <a:r>
              <a:rPr lang="en-ID" sz="2000" dirty="0"/>
              <a:t> </a:t>
            </a:r>
            <a:r>
              <a:rPr lang="en-ID" sz="2000" dirty="0" err="1"/>
              <a:t>sendiri</a:t>
            </a:r>
            <a:r>
              <a:rPr lang="en-ID" sz="20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/>
              <a:t>Nilai </a:t>
            </a:r>
            <a:r>
              <a:rPr lang="en-ID" sz="2000" dirty="0" err="1"/>
              <a:t>pengembangan</a:t>
            </a:r>
            <a:r>
              <a:rPr lang="en-ID" sz="2000" dirty="0"/>
              <a:t> yang </a:t>
            </a:r>
            <a:r>
              <a:rPr lang="en-ID" sz="2000" dirty="0" err="1"/>
              <a:t>berkelanjutan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70442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C988-08B2-389D-7E28-2644C763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013" y="681037"/>
            <a:ext cx="9546771" cy="565377"/>
          </a:xfrm>
        </p:spPr>
        <p:txBody>
          <a:bodyPr>
            <a:normAutofit/>
          </a:bodyPr>
          <a:lstStyle/>
          <a:p>
            <a:r>
              <a:rPr lang="en-ID" sz="2400" b="1" dirty="0"/>
              <a:t>Communicates with influence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088AD-14E4-727D-0F6A-9C9D18A7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5642" y="1660071"/>
            <a:ext cx="9748157" cy="45168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400" b="1" dirty="0"/>
              <a:t>Communicates clearly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Menghasilkan</a:t>
            </a:r>
            <a:r>
              <a:rPr lang="en-ID" sz="2000" dirty="0"/>
              <a:t> </a:t>
            </a:r>
            <a:r>
              <a:rPr lang="en-ID" sz="2000" dirty="0" err="1"/>
              <a:t>komunikasi</a:t>
            </a:r>
            <a:r>
              <a:rPr lang="en-ID" sz="2000" dirty="0"/>
              <a:t> verbal dan </a:t>
            </a:r>
            <a:r>
              <a:rPr lang="en-ID" sz="2000" dirty="0" err="1"/>
              <a:t>tertulis</a:t>
            </a:r>
            <a:r>
              <a:rPr lang="en-ID" sz="2000" dirty="0"/>
              <a:t> yang user-friendly yang </a:t>
            </a:r>
            <a:r>
              <a:rPr lang="en-ID" sz="2000" dirty="0" err="1"/>
              <a:t>jelas</a:t>
            </a:r>
            <a:r>
              <a:rPr lang="en-ID" sz="2000" dirty="0"/>
              <a:t> dan </a:t>
            </a:r>
            <a:r>
              <a:rPr lang="en-ID" sz="2000" dirty="0" err="1"/>
              <a:t>ringkas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pengiriman</a:t>
            </a:r>
            <a:r>
              <a:rPr lang="en-ID" sz="2000" dirty="0"/>
              <a:t> </a:t>
            </a:r>
            <a:r>
              <a:rPr lang="en-ID" sz="2000" dirty="0" err="1"/>
              <a:t>pesan</a:t>
            </a:r>
            <a:r>
              <a:rPr lang="en-ID" sz="2000" dirty="0"/>
              <a:t> yang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ambigu</a:t>
            </a:r>
            <a:r>
              <a:rPr lang="en-ID" sz="2000" dirty="0"/>
              <a:t> dan </a:t>
            </a:r>
            <a:r>
              <a:rPr lang="en-ID" sz="2000" dirty="0" err="1"/>
              <a:t>memeriksa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ID" sz="2000" dirty="0" err="1"/>
              <a:t>pesan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telah</a:t>
            </a:r>
            <a:r>
              <a:rPr lang="en-ID" sz="2000" dirty="0"/>
              <a:t> </a:t>
            </a:r>
            <a:r>
              <a:rPr lang="en-ID" sz="2000" dirty="0" err="1"/>
              <a:t>dipahami</a:t>
            </a:r>
            <a:r>
              <a:rPr lang="en-ID" sz="2000" dirty="0"/>
              <a:t> </a:t>
            </a:r>
            <a:r>
              <a:rPr lang="en-ID" sz="2000" dirty="0" err="1"/>
              <a:t>sebagaimana</a:t>
            </a:r>
            <a:r>
              <a:rPr lang="en-ID" sz="2000" dirty="0"/>
              <a:t> </a:t>
            </a:r>
            <a:r>
              <a:rPr lang="en-ID" sz="2000" dirty="0" err="1"/>
              <a:t>dimaksud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/>
              <a:t>Membuat</a:t>
            </a:r>
            <a:r>
              <a:rPr lang="en-US" sz="2000" dirty="0"/>
              <a:t> orang </a:t>
            </a:r>
            <a:r>
              <a:rPr lang="en-US" sz="2000" dirty="0" err="1"/>
              <a:t>tetap</a:t>
            </a:r>
            <a:r>
              <a:rPr lang="en-US" sz="2000" dirty="0"/>
              <a:t> up to date dan </a:t>
            </a:r>
            <a:r>
              <a:rPr lang="en-US" sz="2000" dirty="0" err="1"/>
              <a:t>mendapat</a:t>
            </a:r>
            <a:r>
              <a:rPr lang="en-US" sz="2000" dirty="0"/>
              <a:t> </a:t>
            </a:r>
            <a:r>
              <a:rPr lang="en-US" sz="2000" dirty="0" err="1"/>
              <a:t>informasi</a:t>
            </a:r>
            <a:r>
              <a:rPr lang="en-US" sz="2000" dirty="0"/>
              <a:t> </a:t>
            </a:r>
            <a:r>
              <a:rPr lang="en-US" sz="2000" dirty="0" err="1"/>
              <a:t>lengkap</a:t>
            </a:r>
            <a:r>
              <a:rPr lang="en-US" sz="2000" dirty="0"/>
              <a:t> </a:t>
            </a:r>
            <a:r>
              <a:rPr lang="en-US" sz="2000" dirty="0" err="1"/>
              <a:t>tentang</a:t>
            </a:r>
            <a:r>
              <a:rPr lang="en-US" sz="2000" dirty="0"/>
              <a:t> </a:t>
            </a: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perubahan</a:t>
            </a:r>
            <a:r>
              <a:rPr lang="en-US" sz="2000" dirty="0"/>
              <a:t> pada </a:t>
            </a:r>
            <a:r>
              <a:rPr lang="en-US" sz="2000" dirty="0" err="1"/>
              <a:t>komunikasi</a:t>
            </a:r>
            <a:r>
              <a:rPr lang="en-US" sz="2000" dirty="0"/>
              <a:t> </a:t>
            </a:r>
            <a:r>
              <a:rPr lang="en-US" sz="2000" dirty="0" err="1"/>
              <a:t>asli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0338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C21E-3DED-08DA-0634-37157B9C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657" y="718912"/>
            <a:ext cx="10515600" cy="772432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Listens, understands and adapts to audience</a:t>
            </a:r>
            <a:br>
              <a:rPr lang="en-US" sz="2400" dirty="0"/>
            </a:b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ACF02-E9F6-C1CA-C5AC-08020F489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272" y="1703615"/>
            <a:ext cx="10515600" cy="4881563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Mendengarkan</a:t>
            </a:r>
            <a:r>
              <a:rPr lang="en-ID" sz="2200" dirty="0"/>
              <a:t> </a:t>
            </a:r>
            <a:r>
              <a:rPr lang="en-ID" sz="2200" dirty="0" err="1"/>
              <a:t>secara</a:t>
            </a:r>
            <a:r>
              <a:rPr lang="en-ID" sz="2200" dirty="0"/>
              <a:t> </a:t>
            </a:r>
            <a:r>
              <a:rPr lang="en-ID" sz="2200" dirty="0" err="1"/>
              <a:t>aktif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memastikan</a:t>
            </a:r>
            <a:r>
              <a:rPr lang="en-ID" sz="2200" dirty="0"/>
              <a:t> </a:t>
            </a:r>
            <a:r>
              <a:rPr lang="en-ID" sz="2200" dirty="0" err="1"/>
              <a:t>pandangan</a:t>
            </a:r>
            <a:r>
              <a:rPr lang="en-ID" sz="2200" dirty="0"/>
              <a:t> dan </a:t>
            </a:r>
            <a:r>
              <a:rPr lang="en-ID" sz="2200" dirty="0" err="1"/>
              <a:t>informasi</a:t>
            </a:r>
            <a:r>
              <a:rPr lang="en-ID" sz="2200" dirty="0"/>
              <a:t> </a:t>
            </a:r>
            <a:r>
              <a:rPr lang="en-ID" sz="2200" dirty="0" err="1"/>
              <a:t>dipertukarkan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benar</a:t>
            </a:r>
            <a:r>
              <a:rPr lang="en-ID" sz="22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Periksa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orang lain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memastikan</a:t>
            </a:r>
            <a:r>
              <a:rPr lang="en-ID" sz="2200" dirty="0"/>
              <a:t> </a:t>
            </a:r>
            <a:r>
              <a:rPr lang="en-ID" sz="2200" dirty="0" err="1"/>
              <a:t>pandangan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 </a:t>
            </a:r>
            <a:r>
              <a:rPr lang="en-ID" sz="2200" dirty="0" err="1"/>
              <a:t>telah</a:t>
            </a:r>
            <a:r>
              <a:rPr lang="en-ID" sz="2200" dirty="0"/>
              <a:t> </a:t>
            </a:r>
            <a:r>
              <a:rPr lang="en-ID" sz="2200" dirty="0" err="1"/>
              <a:t>dipahami</a:t>
            </a:r>
            <a:r>
              <a:rPr lang="en-ID" sz="2200" dirty="0"/>
              <a:t> </a:t>
            </a:r>
            <a:r>
              <a:rPr lang="en-ID" sz="2200" dirty="0" err="1"/>
              <a:t>secara</a:t>
            </a:r>
            <a:r>
              <a:rPr lang="en-ID" sz="2200" dirty="0"/>
              <a:t> </a:t>
            </a:r>
            <a:r>
              <a:rPr lang="en-ID" sz="2200" dirty="0" err="1"/>
              <a:t>akurat</a:t>
            </a:r>
            <a:endParaRPr lang="en-ID" sz="22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Menggunakan</a:t>
            </a:r>
            <a:r>
              <a:rPr lang="en-ID" sz="2200" dirty="0"/>
              <a:t> dan </a:t>
            </a:r>
            <a:r>
              <a:rPr lang="en-ID" sz="2200" dirty="0" err="1"/>
              <a:t>mengadaptasi</a:t>
            </a:r>
            <a:r>
              <a:rPr lang="en-ID" sz="2200" dirty="0"/>
              <a:t> </a:t>
            </a:r>
            <a:r>
              <a:rPr lang="en-ID" sz="2200" dirty="0" err="1"/>
              <a:t>gaya</a:t>
            </a:r>
            <a:r>
              <a:rPr lang="en-ID" sz="2200" dirty="0"/>
              <a:t> </a:t>
            </a:r>
            <a:r>
              <a:rPr lang="en-ID" sz="2200" dirty="0" err="1"/>
              <a:t>seperlunya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memenuhi</a:t>
            </a:r>
            <a:r>
              <a:rPr lang="en-ID" sz="2200" dirty="0"/>
              <a:t> </a:t>
            </a:r>
            <a:r>
              <a:rPr lang="en-ID" sz="2200" dirty="0" err="1"/>
              <a:t>kebutuhan</a:t>
            </a:r>
            <a:r>
              <a:rPr lang="en-ID" sz="2200" dirty="0"/>
              <a:t> </a:t>
            </a:r>
            <a:r>
              <a:rPr lang="en-ID" sz="2200" dirty="0" err="1"/>
              <a:t>audiens</a:t>
            </a:r>
            <a:r>
              <a:rPr lang="en-ID" sz="22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200" dirty="0" err="1"/>
              <a:t>Menciptakan</a:t>
            </a:r>
            <a:r>
              <a:rPr lang="en-ID" sz="2200" dirty="0"/>
              <a:t> </a:t>
            </a:r>
            <a:r>
              <a:rPr lang="en-ID" sz="2200" dirty="0" err="1"/>
              <a:t>peluang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mendengarkan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 yang </a:t>
            </a:r>
            <a:r>
              <a:rPr lang="en-ID" sz="2200" dirty="0" err="1"/>
              <a:t>inputnya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menambah</a:t>
            </a:r>
            <a:r>
              <a:rPr lang="en-ID" sz="2200" dirty="0"/>
              <a:t> </a:t>
            </a:r>
            <a:r>
              <a:rPr lang="en-ID" sz="2200" dirty="0" err="1"/>
              <a:t>nilai</a:t>
            </a:r>
            <a:endParaRPr lang="en-ID" sz="2200" dirty="0"/>
          </a:p>
          <a:p>
            <a:pPr marL="457200" lvl="1" indent="0" algn="just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3671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5E492-C0DA-DB92-2213-2C5F1EF1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056" y="783771"/>
            <a:ext cx="10025743" cy="539319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D" sz="2200" b="1" dirty="0"/>
              <a:t>Negotiates persuasively </a:t>
            </a:r>
            <a:r>
              <a:rPr lang="en-ID" sz="2200" dirty="0"/>
              <a:t>(</a:t>
            </a:r>
            <a:r>
              <a:rPr lang="en-ID" sz="2200" dirty="0" err="1"/>
              <a:t>Bernegosiasi</a:t>
            </a:r>
            <a:r>
              <a:rPr lang="en-ID" sz="2200" dirty="0"/>
              <a:t> </a:t>
            </a:r>
            <a:r>
              <a:rPr lang="en-ID" sz="2200" dirty="0" err="1"/>
              <a:t>secara</a:t>
            </a:r>
            <a:r>
              <a:rPr lang="en-ID" sz="2200" dirty="0"/>
              <a:t> persuasive)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Membangun</a:t>
            </a:r>
            <a:r>
              <a:rPr lang="en-ID" sz="2000" dirty="0"/>
              <a:t> </a:t>
            </a:r>
            <a:r>
              <a:rPr lang="en-ID" sz="2000" dirty="0" err="1"/>
              <a:t>kredibilitas</a:t>
            </a:r>
            <a:r>
              <a:rPr lang="en-ID" sz="2000" dirty="0"/>
              <a:t> dan </a:t>
            </a:r>
            <a:r>
              <a:rPr lang="en-ID" sz="2000" dirty="0" err="1"/>
              <a:t>pendekatan</a:t>
            </a:r>
            <a:r>
              <a:rPr lang="en-ID" sz="2000" dirty="0"/>
              <a:t> </a:t>
            </a:r>
            <a:r>
              <a:rPr lang="en-ID" sz="2000" dirty="0" err="1"/>
              <a:t>negosiasi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persuasif</a:t>
            </a:r>
            <a:r>
              <a:rPr lang="en-ID" sz="2000" dirty="0"/>
              <a:t>;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Menawarkan</a:t>
            </a:r>
            <a:r>
              <a:rPr lang="en-ID" sz="2000" dirty="0"/>
              <a:t> </a:t>
            </a:r>
            <a:r>
              <a:rPr lang="en-ID" sz="2000" dirty="0" err="1"/>
              <a:t>alasan</a:t>
            </a:r>
            <a:r>
              <a:rPr lang="en-ID" sz="2000" dirty="0"/>
              <a:t> </a:t>
            </a:r>
            <a:r>
              <a:rPr lang="en-ID" sz="2000" dirty="0" err="1"/>
              <a:t>meyakinkan</a:t>
            </a:r>
            <a:r>
              <a:rPr lang="en-ID" sz="2000" dirty="0"/>
              <a:t> yang </a:t>
            </a:r>
            <a:r>
              <a:rPr lang="en-ID" sz="2000" dirty="0" err="1"/>
              <a:t>telah</a:t>
            </a:r>
            <a:r>
              <a:rPr lang="en-ID" sz="2000" dirty="0"/>
              <a:t> </a:t>
            </a:r>
            <a:r>
              <a:rPr lang="en-ID" sz="2000" dirty="0" err="1"/>
              <a:t>dipikirkan</a:t>
            </a:r>
            <a:r>
              <a:rPr lang="en-ID" sz="2000" dirty="0"/>
              <a:t> </a:t>
            </a:r>
            <a:r>
              <a:rPr lang="en-ID" sz="2000" dirty="0" err="1"/>
              <a:t>sebelumnya</a:t>
            </a:r>
            <a:r>
              <a:rPr lang="en-ID" sz="2000" dirty="0"/>
              <a:t> dan </a:t>
            </a:r>
            <a:r>
              <a:rPr lang="en-ID" sz="2000" dirty="0" err="1"/>
              <a:t>diposisikan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hati-hati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mengacu</a:t>
            </a:r>
            <a:r>
              <a:rPr lang="en-ID" sz="2000" dirty="0"/>
              <a:t> pada </a:t>
            </a:r>
            <a:r>
              <a:rPr lang="en-ID" sz="2000" dirty="0" err="1"/>
              <a:t>hasil</a:t>
            </a:r>
            <a:r>
              <a:rPr lang="en-ID" sz="2000" dirty="0"/>
              <a:t> </a:t>
            </a:r>
            <a:r>
              <a:rPr lang="en-ID" sz="2000" dirty="0" err="1"/>
              <a:t>organisasi</a:t>
            </a:r>
            <a:r>
              <a:rPr lang="en-ID" sz="2000" dirty="0"/>
              <a:t> yang </a:t>
            </a:r>
            <a:r>
              <a:rPr lang="en-ID" sz="2000" dirty="0" err="1"/>
              <a:t>diinginkan</a:t>
            </a:r>
            <a:endParaRPr lang="en-ID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sz="2000" dirty="0"/>
              <a:t>Memungkinkan kontes ide yang tulus, menarik pandangan yang berbeda ke posisi yang koheren dan menemukan landasan bersama untuk memfasilitasi kesepakatan dan penerimaan yang saling menguntungkanSolusi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D" sz="2000" dirty="0" err="1"/>
              <a:t>Mencapai</a:t>
            </a:r>
            <a:r>
              <a:rPr lang="en-ID" sz="2000" dirty="0"/>
              <a:t> </a:t>
            </a:r>
            <a:r>
              <a:rPr lang="en-ID" sz="2000" dirty="0" err="1"/>
              <a:t>posisi</a:t>
            </a:r>
            <a:r>
              <a:rPr lang="en-ID" sz="2000" dirty="0"/>
              <a:t> yang </a:t>
            </a:r>
            <a:r>
              <a:rPr lang="en-ID" sz="2000" dirty="0" err="1"/>
              <a:t>dinegosiasikan</a:t>
            </a:r>
            <a:r>
              <a:rPr lang="en-ID" sz="2000" dirty="0"/>
              <a:t>,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kompromi</a:t>
            </a:r>
            <a:r>
              <a:rPr lang="en-ID" sz="2000" dirty="0"/>
              <a:t>, yang </a:t>
            </a:r>
            <a:r>
              <a:rPr lang="en-ID" sz="2000" dirty="0" err="1"/>
              <a:t>mengarah</a:t>
            </a:r>
            <a:r>
              <a:rPr lang="en-ID" sz="2000" dirty="0"/>
              <a:t> pada </a:t>
            </a:r>
            <a:r>
              <a:rPr lang="en-ID" sz="2000" dirty="0" err="1"/>
              <a:t>pencapaian</a:t>
            </a:r>
            <a:r>
              <a:rPr lang="en-ID" sz="2000" dirty="0"/>
              <a:t> </a:t>
            </a:r>
            <a:r>
              <a:rPr lang="en-ID" sz="2000" dirty="0" err="1"/>
              <a:t>hasil</a:t>
            </a:r>
            <a:r>
              <a:rPr lang="en-ID" sz="2000" dirty="0"/>
              <a:t> yang </a:t>
            </a:r>
            <a:r>
              <a:rPr lang="en-ID" sz="2000" dirty="0" err="1"/>
              <a:t>diinginkan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1903349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1201</TotalTime>
  <Words>2206</Words>
  <Application>Microsoft Office PowerPoint</Application>
  <PresentationFormat>Widescreen</PresentationFormat>
  <Paragraphs>158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Century Gothic</vt:lpstr>
      <vt:lpstr>Wingdings</vt:lpstr>
      <vt:lpstr>Wingdings 3</vt:lpstr>
      <vt:lpstr>Wisp</vt:lpstr>
      <vt:lpstr>REGULASI INTERNASIONAL BIDANG METEOROLOGI MINGGU KE 10/M8C KEPEMIMPINAN</vt:lpstr>
      <vt:lpstr> LEADERSHIP AND MANAGEMENT IN A NATIONAL  METEOROLOGICAL AND HYDROLOGICAL SERVICE</vt:lpstr>
      <vt:lpstr>THE LEADERSHIP CHALLENGE</vt:lpstr>
      <vt:lpstr>PowerPoint Presentation</vt:lpstr>
      <vt:lpstr>PowerPoint Presentation</vt:lpstr>
      <vt:lpstr>PowerPoint Presentation</vt:lpstr>
      <vt:lpstr>Pada dekade kedua milenium ini, tekanan pada direktur dan staf senior NMHS telah meningkat secara signifikan, karena isu-isu seperti :</vt:lpstr>
      <vt:lpstr>PowerPoint Presentation</vt:lpstr>
      <vt:lpstr>PowerPoint Presentation</vt:lpstr>
      <vt:lpstr>PowerPoint Presentation</vt:lpstr>
      <vt:lpstr>PowerPoint Presentation</vt:lpstr>
      <vt:lpstr>A LEADERSHIP CAPABILITY FRAMEWORK</vt:lpstr>
      <vt:lpstr>PowerPoint Presentation</vt:lpstr>
      <vt:lpstr>PowerPoint Presentation</vt:lpstr>
      <vt:lpstr>PowerPoint Presentation</vt:lpstr>
      <vt:lpstr>Shapes strategic thinking (Membentuk pemikiran strategis)</vt:lpstr>
      <vt:lpstr>PowerPoint Presentation</vt:lpstr>
      <vt:lpstr>PowerPoint Presentation</vt:lpstr>
      <vt:lpstr>PowerPoint Presentation</vt:lpstr>
      <vt:lpstr>Achieves results</vt:lpstr>
      <vt:lpstr>PowerPoint Presentation</vt:lpstr>
      <vt:lpstr>PowerPoint Presentation</vt:lpstr>
      <vt:lpstr>Cultivates productive working relationships (Menumbuhkan hubungan kerja yang produktif)</vt:lpstr>
      <vt:lpstr>PowerPoint Presentation</vt:lpstr>
      <vt:lpstr>PowerPoint Presentation</vt:lpstr>
      <vt:lpstr>Guides, mentors and helps people develop their skills </vt:lpstr>
      <vt:lpstr>Exemplifies personal drive and integrity (Mencontohkan dorongan pribadi dan integritas)</vt:lpstr>
      <vt:lpstr>PowerPoint Presentation</vt:lpstr>
      <vt:lpstr>PowerPoint Presentation</vt:lpstr>
      <vt:lpstr>Communicates with influence</vt:lpstr>
      <vt:lpstr>Listens, understands and adapts to audience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pdkl.office365</dc:creator>
  <cp:lastModifiedBy>maman.sudarisman</cp:lastModifiedBy>
  <cp:revision>51</cp:revision>
  <dcterms:created xsi:type="dcterms:W3CDTF">2022-12-03T08:58:57Z</dcterms:created>
  <dcterms:modified xsi:type="dcterms:W3CDTF">2026-06-08T06:04:53Z</dcterms:modified>
</cp:coreProperties>
</file>