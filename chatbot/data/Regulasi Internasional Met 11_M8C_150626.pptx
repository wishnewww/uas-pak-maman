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4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7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99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42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1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57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83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92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8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86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13FD-659A-4405-ACAA-8DE85AF14BB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4D21197-BEA8-43BC-B384-BBDDA25BD294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73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2D4B-B42A-0038-686B-B8B844060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23508"/>
          </a:xfrm>
        </p:spPr>
        <p:txBody>
          <a:bodyPr>
            <a:normAutofit/>
          </a:bodyPr>
          <a:lstStyle/>
          <a:p>
            <a:r>
              <a:rPr lang="en-US" sz="2400" dirty="0"/>
              <a:t>REGULASI INTERNASIONAL METEOROLOGI </a:t>
            </a:r>
            <a:br>
              <a:rPr lang="en-US" sz="2400" dirty="0"/>
            </a:br>
            <a:r>
              <a:rPr lang="en-US" sz="2400" dirty="0"/>
              <a:t>MINGGU KE </a:t>
            </a:r>
            <a:r>
              <a:rPr lang="en-US" sz="2400" dirty="0" err="1"/>
              <a:t>seBELAS</a:t>
            </a:r>
            <a:r>
              <a:rPr lang="en-US" sz="2400" dirty="0"/>
              <a:t>/M8C/D</a:t>
            </a:r>
            <a:br>
              <a:rPr lang="en-US" sz="2400" dirty="0"/>
            </a:br>
            <a:r>
              <a:rPr lang="en-US" sz="2400" dirty="0"/>
              <a:t>CAPACITY DEVELOPMENT</a:t>
            </a:r>
            <a:endParaRPr lang="en-ID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A6075-B6AD-E844-EBC4-AF72FCB17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2900"/>
            <a:ext cx="9144000" cy="1104900"/>
          </a:xfrm>
        </p:spPr>
        <p:txBody>
          <a:bodyPr>
            <a:noAutofit/>
          </a:bodyPr>
          <a:lstStyle/>
          <a:p>
            <a:r>
              <a:rPr lang="en-US" sz="2000" dirty="0" err="1"/>
              <a:t>Maman</a:t>
            </a:r>
            <a:r>
              <a:rPr lang="en-US" sz="2000" dirty="0"/>
              <a:t> </a:t>
            </a:r>
            <a:r>
              <a:rPr lang="en-US" sz="2000" dirty="0" err="1"/>
              <a:t>Sudarisman</a:t>
            </a:r>
            <a:endParaRPr lang="en-US" sz="2000" dirty="0"/>
          </a:p>
          <a:p>
            <a:r>
              <a:rPr lang="en-US" sz="2000" dirty="0" err="1"/>
              <a:t>Sekolah</a:t>
            </a:r>
            <a:r>
              <a:rPr lang="en-US" sz="2000" dirty="0"/>
              <a:t> Tinggi </a:t>
            </a:r>
            <a:r>
              <a:rPr lang="en-US" sz="2000" dirty="0" err="1"/>
              <a:t>Meteorologi</a:t>
            </a:r>
            <a:r>
              <a:rPr lang="en-US" sz="2000" dirty="0"/>
              <a:t> </a:t>
            </a:r>
            <a:r>
              <a:rPr lang="en-US" sz="2000" dirty="0" err="1"/>
              <a:t>Klimatologi</a:t>
            </a:r>
            <a:r>
              <a:rPr lang="en-US" sz="2000" dirty="0"/>
              <a:t> dan </a:t>
            </a:r>
            <a:r>
              <a:rPr lang="en-US" sz="2000" dirty="0" err="1"/>
              <a:t>Geofisika</a:t>
            </a:r>
            <a:endParaRPr lang="en-US" sz="2000" dirty="0"/>
          </a:p>
          <a:p>
            <a:r>
              <a:rPr lang="en-US" sz="2000" dirty="0"/>
              <a:t>15 Juni 2026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9162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76C2-467A-D6E7-6727-6922B98D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b="1" dirty="0"/>
              <a:t>CAPACITY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8F8AD-6B16-5D12-3192-EB6E21B3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Kemampuan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perannya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pengamatan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, </a:t>
            </a:r>
            <a:r>
              <a:rPr lang="en-ID" sz="2400" dirty="0" err="1"/>
              <a:t>mengumpulkan</a:t>
            </a:r>
            <a:r>
              <a:rPr lang="en-ID" sz="2400" dirty="0"/>
              <a:t> data dan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</a:t>
            </a:r>
            <a:r>
              <a:rPr lang="en-ID" sz="2400" dirty="0" err="1"/>
              <a:t>ekonomi</a:t>
            </a:r>
            <a:r>
              <a:rPr lang="en-ID" sz="2400" dirty="0"/>
              <a:t>, </a:t>
            </a:r>
            <a:r>
              <a:rPr lang="en-ID" sz="2400" dirty="0" err="1"/>
              <a:t>berkontribusi</a:t>
            </a:r>
            <a:r>
              <a:rPr lang="en-ID" sz="2400" dirty="0"/>
              <a:t> pada </a:t>
            </a:r>
            <a:r>
              <a:rPr lang="en-ID" sz="2400" dirty="0" err="1"/>
              <a:t>isu-isu</a:t>
            </a:r>
            <a:r>
              <a:rPr lang="en-ID" sz="2400" dirty="0"/>
              <a:t> regional dan global dan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penelitian</a:t>
            </a:r>
            <a:r>
              <a:rPr lang="en-ID" sz="2400" dirty="0"/>
              <a:t> </a:t>
            </a:r>
            <a:r>
              <a:rPr lang="en-ID" sz="2400" dirty="0" err="1"/>
              <a:t>tergantung</a:t>
            </a:r>
            <a:r>
              <a:rPr lang="en-ID" sz="2400" dirty="0"/>
              <a:t> pada </a:t>
            </a:r>
            <a:r>
              <a:rPr lang="en-ID" sz="2400" dirty="0" err="1"/>
              <a:t>infrastruktur</a:t>
            </a:r>
            <a:r>
              <a:rPr lang="en-ID" sz="2400" dirty="0"/>
              <a:t> dan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Sementara</a:t>
            </a:r>
            <a:r>
              <a:rPr lang="en-ID" sz="2400" dirty="0"/>
              <a:t> </a:t>
            </a:r>
            <a:r>
              <a:rPr lang="en-ID" sz="2400" dirty="0" err="1"/>
              <a:t>perkembangan</a:t>
            </a:r>
            <a:r>
              <a:rPr lang="en-ID" sz="2400" dirty="0"/>
              <a:t> sains dan </a:t>
            </a:r>
            <a:r>
              <a:rPr lang="en-ID" sz="2400" dirty="0" err="1"/>
              <a:t>teknologi</a:t>
            </a:r>
            <a:r>
              <a:rPr lang="en-ID" sz="2400" dirty="0"/>
              <a:t> </a:t>
            </a:r>
            <a:r>
              <a:rPr lang="en-ID" sz="2400" dirty="0" err="1"/>
              <a:t>berdampak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pada </a:t>
            </a:r>
            <a:r>
              <a:rPr lang="en-ID" sz="2400" dirty="0" err="1"/>
              <a:t>meteorologi</a:t>
            </a:r>
            <a:r>
              <a:rPr lang="en-ID" sz="2400" dirty="0"/>
              <a:t> dan sains </a:t>
            </a:r>
            <a:r>
              <a:rPr lang="en-ID" sz="2400" dirty="0" err="1"/>
              <a:t>terkait</a:t>
            </a:r>
            <a:r>
              <a:rPr lang="en-ID" sz="2400" dirty="0"/>
              <a:t>, </a:t>
            </a:r>
            <a:r>
              <a:rPr lang="en-ID" sz="2400" dirty="0" err="1"/>
              <a:t>banyak</a:t>
            </a:r>
            <a:r>
              <a:rPr lang="en-ID" sz="2400" dirty="0"/>
              <a:t> NMHS di negara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memanfaatkan</a:t>
            </a:r>
            <a:r>
              <a:rPr lang="en-ID" sz="2400" dirty="0"/>
              <a:t> </a:t>
            </a:r>
            <a:r>
              <a:rPr lang="en-ID" sz="2400" dirty="0" err="1"/>
              <a:t>sepenuhnya</a:t>
            </a:r>
            <a:r>
              <a:rPr lang="en-ID" sz="2400" dirty="0"/>
              <a:t> </a:t>
            </a: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kurangnya</a:t>
            </a:r>
            <a:r>
              <a:rPr lang="en-ID" sz="2400" dirty="0"/>
              <a:t> </a:t>
            </a:r>
            <a:r>
              <a:rPr lang="en-ID" sz="2400" dirty="0" err="1"/>
              <a:t>infrastruktur</a:t>
            </a:r>
            <a:r>
              <a:rPr lang="en-ID" sz="2400" dirty="0"/>
              <a:t> dan </a:t>
            </a:r>
            <a:r>
              <a:rPr lang="en-ID" sz="2400" dirty="0" err="1"/>
              <a:t>staf</a:t>
            </a:r>
            <a:r>
              <a:rPr lang="en-ID" sz="2400" dirty="0"/>
              <a:t> </a:t>
            </a:r>
            <a:r>
              <a:rPr lang="en-ID" sz="2400" dirty="0" err="1"/>
              <a:t>terampil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3906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2674-5AE9-3F8E-F5A7-0325516F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WORLD METEOROLOGICAL ORGANIZATION CAPACITY DEVELOPMENT STRATEGY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5484-D65D-8A19-D606-2EB0DC393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938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WMO, </a:t>
            </a: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negara </a:t>
            </a:r>
            <a:r>
              <a:rPr lang="en-ID" sz="2400" dirty="0" err="1"/>
              <a:t>berkembang</a:t>
            </a:r>
            <a:r>
              <a:rPr lang="en-ID" sz="2400" dirty="0"/>
              <a:t> dan negara </a:t>
            </a:r>
            <a:r>
              <a:rPr lang="en-ID" sz="2400" dirty="0" err="1"/>
              <a:t>kurang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area </a:t>
            </a:r>
            <a:r>
              <a:rPr lang="en-ID" sz="2400" dirty="0" err="1"/>
              <a:t>prioritas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sangat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penyampaian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kerjasama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pengguna</a:t>
            </a:r>
            <a:r>
              <a:rPr lang="en-ID" sz="2400" dirty="0"/>
              <a:t> di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,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sipil</a:t>
            </a:r>
            <a:r>
              <a:rPr lang="en-ID" sz="2400" dirty="0"/>
              <a:t> , </a:t>
            </a:r>
            <a:r>
              <a:rPr lang="en-ID" sz="2400" dirty="0" err="1"/>
              <a:t>sektor</a:t>
            </a:r>
            <a:r>
              <a:rPr lang="en-ID" sz="2400" dirty="0"/>
              <a:t> </a:t>
            </a:r>
            <a:r>
              <a:rPr lang="en-ID" sz="2400" dirty="0" err="1"/>
              <a:t>swasta</a:t>
            </a:r>
            <a:r>
              <a:rPr lang="en-ID" sz="2400" dirty="0"/>
              <a:t> dan </a:t>
            </a:r>
            <a:r>
              <a:rPr lang="en-ID" sz="2400" dirty="0" err="1"/>
              <a:t>kelompok</a:t>
            </a:r>
            <a:r>
              <a:rPr lang="en-ID" sz="2400" dirty="0"/>
              <a:t> </a:t>
            </a:r>
            <a:r>
              <a:rPr lang="en-ID" sz="2400" dirty="0" err="1"/>
              <a:t>antar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Tindakan WMO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selaras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disetujui</a:t>
            </a:r>
            <a:r>
              <a:rPr lang="en-ID" sz="2400" dirty="0"/>
              <a:t> oleh </a:t>
            </a:r>
            <a:r>
              <a:rPr lang="en-ID" sz="2400" dirty="0" err="1"/>
              <a:t>Kongres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Dunia pada </a:t>
            </a:r>
            <a:r>
              <a:rPr lang="en-ID" sz="2400" dirty="0" err="1"/>
              <a:t>sesi</a:t>
            </a:r>
            <a:r>
              <a:rPr lang="en-ID" sz="2400" dirty="0"/>
              <a:t> </a:t>
            </a:r>
            <a:r>
              <a:rPr lang="en-ID" sz="2400" dirty="0" err="1"/>
              <a:t>keenam</a:t>
            </a:r>
            <a:r>
              <a:rPr lang="en-ID" sz="2400" dirty="0"/>
              <a:t> </a:t>
            </a:r>
            <a:r>
              <a:rPr lang="en-ID" sz="2400" dirty="0" err="1"/>
              <a:t>belas</a:t>
            </a:r>
            <a:r>
              <a:rPr lang="en-ID" sz="2400" dirty="0"/>
              <a:t> pada </a:t>
            </a:r>
            <a:r>
              <a:rPr lang="en-ID" sz="2400" dirty="0" err="1"/>
              <a:t>tahun</a:t>
            </a:r>
            <a:r>
              <a:rPr lang="en-ID" sz="2400" dirty="0"/>
              <a:t> 2011, dan Program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disetujui</a:t>
            </a:r>
            <a:r>
              <a:rPr lang="en-ID" sz="2400" dirty="0"/>
              <a:t> oleh </a:t>
            </a:r>
            <a:r>
              <a:rPr lang="en-ID" sz="2400" dirty="0" err="1"/>
              <a:t>Kongres</a:t>
            </a:r>
            <a:r>
              <a:rPr lang="en-ID" sz="2400" dirty="0"/>
              <a:t> pada </a:t>
            </a:r>
            <a:r>
              <a:rPr lang="en-ID" sz="2400" dirty="0" err="1"/>
              <a:t>sesi</a:t>
            </a:r>
            <a:r>
              <a:rPr lang="en-ID" sz="2400" dirty="0"/>
              <a:t> </a:t>
            </a:r>
            <a:r>
              <a:rPr lang="en-ID" sz="2400" dirty="0" err="1"/>
              <a:t>ketujuh</a:t>
            </a:r>
            <a:r>
              <a:rPr lang="en-ID" sz="2400" dirty="0"/>
              <a:t> </a:t>
            </a:r>
            <a:r>
              <a:rPr lang="en-ID" sz="2400" dirty="0" err="1"/>
              <a:t>belas</a:t>
            </a:r>
            <a:r>
              <a:rPr lang="en-ID" sz="2400" dirty="0"/>
              <a:t>.</a:t>
            </a:r>
          </a:p>
          <a:p>
            <a:pPr algn="just"/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77184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A091-9636-A69F-8B4E-1F7B13F8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939205"/>
            <a:ext cx="9603275" cy="4754718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</a:t>
            </a:r>
            <a:r>
              <a:rPr lang="en-ID" sz="2400" dirty="0" err="1"/>
              <a:t>didasarkan</a:t>
            </a:r>
            <a:r>
              <a:rPr lang="en-ID" sz="2400" dirty="0"/>
              <a:t> pada </a:t>
            </a:r>
            <a:r>
              <a:rPr lang="en-ID" sz="2400" dirty="0" err="1"/>
              <a:t>Konvensi</a:t>
            </a:r>
            <a:r>
              <a:rPr lang="en-ID" sz="2400" dirty="0"/>
              <a:t> WMO, yang </a:t>
            </a:r>
            <a:r>
              <a:rPr lang="en-ID" sz="2400" dirty="0" err="1"/>
              <a:t>mengakui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bekerja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</a:t>
            </a:r>
            <a:r>
              <a:rPr lang="en-ID" sz="2400" dirty="0" err="1"/>
              <a:t>satu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lain dan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lain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mengkoordinasikan</a:t>
            </a:r>
            <a:r>
              <a:rPr lang="en-ID" sz="2400" dirty="0"/>
              <a:t>, </a:t>
            </a:r>
            <a:r>
              <a:rPr lang="en-ID" sz="2400" dirty="0" err="1"/>
              <a:t>menstandarkan</a:t>
            </a:r>
            <a:r>
              <a:rPr lang="en-ID" sz="2400" dirty="0"/>
              <a:t>, </a:t>
            </a:r>
            <a:r>
              <a:rPr lang="en-ID" sz="2400" dirty="0" err="1"/>
              <a:t>meningkatkan</a:t>
            </a:r>
            <a:r>
              <a:rPr lang="en-ID" sz="2400" dirty="0"/>
              <a:t> dan </a:t>
            </a:r>
            <a:r>
              <a:rPr lang="en-ID" sz="2400" dirty="0" err="1"/>
              <a:t>mendorong</a:t>
            </a:r>
            <a:r>
              <a:rPr lang="en-ID" sz="2400" dirty="0"/>
              <a:t> </a:t>
            </a:r>
            <a:r>
              <a:rPr lang="en-ID" sz="2400" dirty="0" err="1"/>
              <a:t>efisiensi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pertukaran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jauh</a:t>
            </a:r>
            <a:r>
              <a:rPr lang="en-ID" sz="2400" dirty="0"/>
              <a:t> </a:t>
            </a:r>
            <a:r>
              <a:rPr lang="en-ID" sz="2400" dirty="0" err="1"/>
              <a:t>menerapkannya</a:t>
            </a:r>
            <a:r>
              <a:rPr lang="en-ID" sz="2400" dirty="0"/>
              <a:t> pada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Konvensi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lanjut</a:t>
            </a:r>
            <a:r>
              <a:rPr lang="en-ID" sz="2400" dirty="0"/>
              <a:t> </a:t>
            </a:r>
            <a:r>
              <a:rPr lang="en-ID" sz="2400" dirty="0" err="1"/>
              <a:t>mencatat</a:t>
            </a:r>
            <a:r>
              <a:rPr lang="en-ID" sz="2400" dirty="0"/>
              <a:t> </a:t>
            </a:r>
            <a:r>
              <a:rPr lang="en-ID" sz="2400" dirty="0" err="1"/>
              <a:t>misi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Badan </a:t>
            </a:r>
            <a:r>
              <a:rPr lang="en-ID" sz="2400" dirty="0" err="1"/>
              <a:t>Meteorologi</a:t>
            </a:r>
            <a:r>
              <a:rPr lang="en-ID" sz="2400" dirty="0"/>
              <a:t> dan </a:t>
            </a:r>
            <a:r>
              <a:rPr lang="en-ID" sz="2400" dirty="0" err="1"/>
              <a:t>Hidrologi</a:t>
            </a:r>
            <a:r>
              <a:rPr lang="en-ID" sz="2400" dirty="0"/>
              <a:t> Nasional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penyediaan</a:t>
            </a:r>
            <a:r>
              <a:rPr lang="en-ID" sz="2400" dirty="0"/>
              <a:t> </a:t>
            </a:r>
            <a:r>
              <a:rPr lang="en-ID" sz="2400" dirty="0" err="1"/>
              <a:t>pengamatan</a:t>
            </a:r>
            <a:r>
              <a:rPr lang="en-ID" sz="2400" dirty="0"/>
              <a:t> dan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r>
              <a:rPr lang="en-ID" sz="2400" dirty="0"/>
              <a:t>, </a:t>
            </a:r>
            <a:r>
              <a:rPr lang="en-ID" sz="2400" dirty="0" err="1"/>
              <a:t>iklim</a:t>
            </a:r>
            <a:r>
              <a:rPr lang="en-ID" sz="2400" dirty="0"/>
              <a:t> dan air, dan </a:t>
            </a:r>
            <a:r>
              <a:rPr lang="en-ID" sz="2400" dirty="0" err="1"/>
              <a:t>kontribusi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menangani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WMO </a:t>
            </a:r>
            <a:r>
              <a:rPr lang="en-ID" sz="2400" dirty="0" err="1"/>
              <a:t>mengimplementasikan</a:t>
            </a:r>
            <a:r>
              <a:rPr lang="en-ID" sz="2400" dirty="0"/>
              <a:t> </a:t>
            </a:r>
            <a:r>
              <a:rPr lang="en-ID" sz="2400" dirty="0" err="1"/>
              <a:t>Programnya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Anggotanya</a:t>
            </a:r>
            <a:r>
              <a:rPr lang="en-ID" sz="2400" dirty="0"/>
              <a:t> dan </a:t>
            </a:r>
            <a:r>
              <a:rPr lang="en-ID" sz="2400" dirty="0" err="1"/>
              <a:t>memanfaatkan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efektif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keselamatan</a:t>
            </a:r>
            <a:r>
              <a:rPr lang="en-ID" sz="2400" dirty="0"/>
              <a:t> dan </a:t>
            </a:r>
            <a:r>
              <a:rPr lang="en-ID" sz="2400" dirty="0" err="1"/>
              <a:t>kesejahteraan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63323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D15C-4401-E3D1-7463-79F9108D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43" y="920183"/>
            <a:ext cx="10515600" cy="5017634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400" dirty="0"/>
              <a:t>Ruang </a:t>
            </a:r>
            <a:r>
              <a:rPr lang="en-ID" sz="2400" dirty="0" err="1"/>
              <a:t>lingkup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disediakan</a:t>
            </a:r>
            <a:r>
              <a:rPr lang="en-ID" sz="2400" dirty="0"/>
              <a:t> oleh NMHS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meningkat</a:t>
            </a:r>
            <a:r>
              <a:rPr lang="en-ID" sz="2400" dirty="0"/>
              <a:t> </a:t>
            </a:r>
            <a:r>
              <a:rPr lang="en-ID" sz="2400" dirty="0" err="1"/>
              <a:t>seiring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meningkatnya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lingkungan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Meningkatnya</a:t>
            </a:r>
            <a:r>
              <a:rPr lang="en-ID" sz="2400" dirty="0"/>
              <a:t> </a:t>
            </a:r>
            <a:r>
              <a:rPr lang="en-ID" sz="2400" dirty="0" err="1"/>
              <a:t>kerentanan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bahaya</a:t>
            </a:r>
            <a:r>
              <a:rPr lang="en-ID" sz="2400" dirty="0"/>
              <a:t> </a:t>
            </a:r>
            <a:r>
              <a:rPr lang="en-ID" sz="2400" dirty="0" err="1"/>
              <a:t>alam</a:t>
            </a:r>
            <a:r>
              <a:rPr lang="en-ID" sz="2400" dirty="0"/>
              <a:t> dan </a:t>
            </a:r>
            <a:r>
              <a:rPr lang="en-ID" sz="2400" dirty="0" err="1"/>
              <a:t>peristiwa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r>
              <a:rPr lang="en-ID" sz="2400" dirty="0"/>
              <a:t> </a:t>
            </a:r>
            <a:r>
              <a:rPr lang="en-ID" sz="2400" dirty="0" err="1"/>
              <a:t>ekstrem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kepekaan</a:t>
            </a:r>
            <a:r>
              <a:rPr lang="en-ID" sz="2400" dirty="0"/>
              <a:t> </a:t>
            </a:r>
            <a:r>
              <a:rPr lang="en-ID" sz="2400" dirty="0" err="1"/>
              <a:t>ekonomi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variabilitas</a:t>
            </a:r>
            <a:r>
              <a:rPr lang="en-ID" sz="2400" dirty="0"/>
              <a:t> dan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iklim</a:t>
            </a:r>
            <a:r>
              <a:rPr lang="en-ID" sz="2400" dirty="0"/>
              <a:t>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membuka</a:t>
            </a:r>
            <a:r>
              <a:rPr lang="en-ID" sz="2400" dirty="0"/>
              <a:t> </a:t>
            </a:r>
            <a:r>
              <a:rPr lang="en-ID" sz="2400" dirty="0" err="1"/>
              <a:t>celah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NMHS, </a:t>
            </a:r>
            <a:r>
              <a:rPr lang="en-ID" sz="2400" dirty="0" err="1"/>
              <a:t>khususnya</a:t>
            </a:r>
            <a:r>
              <a:rPr lang="en-ID" sz="2400" dirty="0"/>
              <a:t> negara-negara </a:t>
            </a:r>
            <a:r>
              <a:rPr lang="en-ID" sz="2400" dirty="0" err="1"/>
              <a:t>berkembang</a:t>
            </a:r>
            <a:r>
              <a:rPr lang="en-ID" sz="2400" dirty="0"/>
              <a:t>, negara </a:t>
            </a:r>
            <a:r>
              <a:rPr lang="en-ID" sz="2400" dirty="0" err="1"/>
              <a:t>kurang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, dan negara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kepulauan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Kongres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Dunia </a:t>
            </a:r>
            <a:r>
              <a:rPr lang="en-ID" sz="2400" dirty="0" err="1"/>
              <a:t>Keenam</a:t>
            </a:r>
            <a:r>
              <a:rPr lang="en-ID" sz="2400" dirty="0"/>
              <a:t> </a:t>
            </a:r>
            <a:r>
              <a:rPr lang="en-ID" sz="2400" dirty="0" err="1"/>
              <a:t>belas</a:t>
            </a:r>
            <a:r>
              <a:rPr lang="en-ID" sz="2400" dirty="0"/>
              <a:t> </a:t>
            </a:r>
            <a:r>
              <a:rPr lang="en-ID" sz="2400" dirty="0" err="1"/>
              <a:t>menganggap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kolaboratif</a:t>
            </a:r>
            <a:r>
              <a:rPr lang="en-ID" sz="2400" dirty="0"/>
              <a:t> WMO </a:t>
            </a:r>
            <a:r>
              <a:rPr lang="en-ID" sz="2400" dirty="0" err="1"/>
              <a:t>bergantung</a:t>
            </a:r>
            <a:r>
              <a:rPr lang="en-ID" sz="2400" dirty="0"/>
              <a:t> pada </a:t>
            </a:r>
            <a:r>
              <a:rPr lang="en-ID" sz="2400" dirty="0" err="1"/>
              <a:t>pengamatan</a:t>
            </a:r>
            <a:r>
              <a:rPr lang="en-ID" sz="2400" dirty="0"/>
              <a:t> dan </a:t>
            </a:r>
            <a:r>
              <a:rPr lang="en-ID" sz="2400" dirty="0" err="1"/>
              <a:t>kontribusi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NMHS negara </a:t>
            </a:r>
            <a:r>
              <a:rPr lang="en-ID" sz="2400" dirty="0" err="1"/>
              <a:t>berkembang</a:t>
            </a:r>
            <a:r>
              <a:rPr lang="en-ID" sz="2400" dirty="0"/>
              <a:t> dan </a:t>
            </a:r>
            <a:r>
              <a:rPr lang="en-ID" sz="2400" dirty="0" err="1"/>
              <a:t>maju</a:t>
            </a:r>
            <a:r>
              <a:rPr lang="en-ID" sz="2400" dirty="0"/>
              <a:t>. Oleh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, </a:t>
            </a:r>
            <a:r>
              <a:rPr lang="en-ID" sz="2400" dirty="0" err="1"/>
              <a:t>membantu</a:t>
            </a:r>
            <a:r>
              <a:rPr lang="en-ID" sz="2400" dirty="0"/>
              <a:t> NMHS di negara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mengisi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 WMO dan </a:t>
            </a:r>
            <a:r>
              <a:rPr lang="en-ID" sz="2400" dirty="0" err="1"/>
              <a:t>bermanfaat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</a:t>
            </a:r>
            <a:r>
              <a:rPr lang="en-ID" sz="2400" dirty="0" err="1"/>
              <a:t>semua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WMO.</a:t>
            </a:r>
          </a:p>
        </p:txBody>
      </p:sp>
    </p:spTree>
    <p:extLst>
      <p:ext uri="{BB962C8B-B14F-4D97-AF65-F5344CB8AC3E}">
        <p14:creationId xmlns:p14="http://schemas.microsoft.com/office/powerpoint/2010/main" val="115485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92826-D516-8812-E56D-646AB15A3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258"/>
            <a:ext cx="10515600" cy="5534706"/>
          </a:xfrm>
        </p:spPr>
        <p:txBody>
          <a:bodyPr>
            <a:normAutofit fontScale="92500"/>
          </a:bodyPr>
          <a:lstStyle/>
          <a:p>
            <a:pPr algn="just"/>
            <a:r>
              <a:rPr lang="en-ID" sz="2400" dirty="0"/>
              <a:t>Tujuan dari 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pendekatan</a:t>
            </a:r>
            <a:r>
              <a:rPr lang="en-ID" sz="2400" dirty="0"/>
              <a:t> yang </a:t>
            </a:r>
            <a:r>
              <a:rPr lang="en-ID" sz="2400" dirty="0" err="1"/>
              <a:t>terkoordinasi</a:t>
            </a:r>
            <a:r>
              <a:rPr lang="en-ID" sz="2400" dirty="0"/>
              <a:t> dan </a:t>
            </a:r>
            <a:r>
              <a:rPr lang="en-ID" sz="2400" dirty="0" err="1"/>
              <a:t>kohesif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mandat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dan </a:t>
            </a:r>
            <a:r>
              <a:rPr lang="en-ID" sz="2400" dirty="0" err="1"/>
              <a:t>berkontribusi</a:t>
            </a:r>
            <a:r>
              <a:rPr lang="en-ID" sz="2400" dirty="0"/>
              <a:t> pada tujuan </a:t>
            </a:r>
            <a:r>
              <a:rPr lang="en-ID" sz="2400" dirty="0" err="1"/>
              <a:t>organisasi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keseluruhan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Strategi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mendorong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efektif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WMO dan </a:t>
            </a:r>
            <a:r>
              <a:rPr lang="en-ID" sz="2400" dirty="0" err="1"/>
              <a:t>memfasilitasi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NMHS </a:t>
            </a:r>
            <a:r>
              <a:rPr lang="en-ID" sz="2400" dirty="0" err="1"/>
              <a:t>mereka</a:t>
            </a:r>
            <a:r>
              <a:rPr lang="en-ID" sz="2400" dirty="0"/>
              <a:t>, </a:t>
            </a:r>
            <a:r>
              <a:rPr lang="en-ID" sz="2400" dirty="0" err="1"/>
              <a:t>khususnya</a:t>
            </a:r>
            <a:r>
              <a:rPr lang="en-ID" sz="2400" dirty="0"/>
              <a:t> di negara-negara </a:t>
            </a:r>
            <a:r>
              <a:rPr lang="en-ID" sz="2400" dirty="0" err="1"/>
              <a:t>berkembang</a:t>
            </a:r>
            <a:r>
              <a:rPr lang="en-ID" sz="2400" dirty="0"/>
              <a:t>, negara </a:t>
            </a:r>
            <a:r>
              <a:rPr lang="en-ID" sz="2400" dirty="0" err="1"/>
              <a:t>kurang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 dan negara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kepulauan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.</a:t>
            </a:r>
          </a:p>
          <a:p>
            <a:pPr algn="just"/>
            <a:r>
              <a:rPr lang="en-ID" sz="2400" b="1" dirty="0" err="1"/>
              <a:t>Strateginya</a:t>
            </a:r>
            <a:r>
              <a:rPr lang="en-ID" sz="2400" dirty="0"/>
              <a:t> </a:t>
            </a:r>
            <a:r>
              <a:rPr lang="en-ID" sz="2400" dirty="0" err="1"/>
              <a:t>berusaha</a:t>
            </a:r>
            <a:r>
              <a:rPr lang="en-ID" sz="2400" dirty="0"/>
              <a:t> </a:t>
            </a:r>
            <a:r>
              <a:rPr lang="en-ID" sz="2400" dirty="0" err="1"/>
              <a:t>membangun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di NMHS, </a:t>
            </a:r>
            <a:r>
              <a:rPr lang="en-ID" sz="2400" dirty="0" err="1"/>
              <a:t>mengurangi</a:t>
            </a:r>
            <a:r>
              <a:rPr lang="en-ID" sz="2400" dirty="0"/>
              <a:t> </a:t>
            </a:r>
            <a:r>
              <a:rPr lang="en-ID" sz="2400" dirty="0" err="1"/>
              <a:t>duplikasi</a:t>
            </a:r>
            <a:r>
              <a:rPr lang="en-ID" sz="2400" dirty="0"/>
              <a:t> dan </a:t>
            </a:r>
            <a:r>
              <a:rPr lang="en-ID" sz="2400" dirty="0" err="1"/>
              <a:t>memanfaatkan</a:t>
            </a:r>
            <a:r>
              <a:rPr lang="en-ID" sz="2400" dirty="0"/>
              <a:t> </a:t>
            </a:r>
            <a:r>
              <a:rPr lang="en-ID" sz="2400" dirty="0" err="1"/>
              <a:t>peluang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investasi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kemitraan</a:t>
            </a:r>
            <a:r>
              <a:rPr lang="en-ID" sz="2400" dirty="0"/>
              <a:t> dan </a:t>
            </a:r>
            <a:r>
              <a:rPr lang="en-ID" sz="2400" dirty="0" err="1"/>
              <a:t>sinergi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juga </a:t>
            </a:r>
            <a:r>
              <a:rPr lang="en-ID" sz="2400" dirty="0" err="1"/>
              <a:t>bertujuan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mengintegrasikan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dan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asosiasi</a:t>
            </a:r>
            <a:r>
              <a:rPr lang="en-ID" sz="2400" dirty="0"/>
              <a:t> regional, </a:t>
            </a:r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, program co-sponsor WMO dan Program WMO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bidang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penyediaan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86060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E7295-6AF8-F26D-615D-39D060E0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286"/>
            <a:ext cx="10515600" cy="4615543"/>
          </a:xfrm>
        </p:spPr>
        <p:txBody>
          <a:bodyPr>
            <a:normAutofit/>
          </a:bodyPr>
          <a:lstStyle/>
          <a:p>
            <a:pPr algn="just"/>
            <a:r>
              <a:rPr lang="en-ID" sz="2400" dirty="0" err="1"/>
              <a:t>Strateginya</a:t>
            </a:r>
            <a:r>
              <a:rPr lang="en-ID" sz="2400" dirty="0"/>
              <a:t> </a:t>
            </a:r>
            <a:r>
              <a:rPr lang="en-ID" sz="2400" dirty="0" err="1"/>
              <a:t>membutuhkan</a:t>
            </a:r>
            <a:r>
              <a:rPr lang="en-ID" sz="2400" dirty="0"/>
              <a:t> </a:t>
            </a:r>
            <a:r>
              <a:rPr lang="en-ID" sz="2400" dirty="0" err="1"/>
              <a:t>pendekatan</a:t>
            </a:r>
            <a:r>
              <a:rPr lang="en-ID" sz="2400" dirty="0"/>
              <a:t> </a:t>
            </a:r>
            <a:r>
              <a:rPr lang="en-ID" sz="2400" dirty="0" err="1"/>
              <a:t>kolaboratif</a:t>
            </a:r>
            <a:r>
              <a:rPr lang="en-ID" sz="2400" dirty="0"/>
              <a:t> yang </a:t>
            </a:r>
            <a:r>
              <a:rPr lang="en-ID" sz="2400" dirty="0" err="1"/>
              <a:t>merupakan</a:t>
            </a:r>
            <a:r>
              <a:rPr lang="en-ID" sz="2400" dirty="0"/>
              <a:t> tujuan </a:t>
            </a:r>
            <a:r>
              <a:rPr lang="en-ID" sz="2400" dirty="0" err="1"/>
              <a:t>bersama</a:t>
            </a:r>
            <a:r>
              <a:rPr lang="en-ID" sz="2400" dirty="0"/>
              <a:t>. </a:t>
            </a:r>
            <a:r>
              <a:rPr lang="en-ID" sz="2400" dirty="0" err="1"/>
              <a:t>Namun</a:t>
            </a:r>
            <a:r>
              <a:rPr lang="en-ID" sz="2400" dirty="0"/>
              <a:t>, </a:t>
            </a:r>
            <a:r>
              <a:rPr lang="en-ID" sz="2400" dirty="0" err="1"/>
              <a:t>penekanan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</a:t>
            </a:r>
            <a:r>
              <a:rPr lang="en-ID" sz="2400" dirty="0" err="1"/>
              <a:t>diberikan</a:t>
            </a:r>
            <a:r>
              <a:rPr lang="en-ID" sz="2400" dirty="0"/>
              <a:t> pada </a:t>
            </a:r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, </a:t>
            </a:r>
            <a:r>
              <a:rPr lang="en-ID" sz="2400" dirty="0" err="1"/>
              <a:t>khususnya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perencanaan</a:t>
            </a:r>
            <a:r>
              <a:rPr lang="en-ID" sz="2400" dirty="0"/>
              <a:t> dan </a:t>
            </a:r>
            <a:r>
              <a:rPr lang="en-ID" sz="2400" dirty="0" err="1"/>
              <a:t>mempertahankan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NMHS,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kemitraan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komunitas</a:t>
            </a:r>
            <a:r>
              <a:rPr lang="en-ID" sz="2400" dirty="0"/>
              <a:t> regional dan global. </a:t>
            </a:r>
          </a:p>
          <a:p>
            <a:pPr algn="just"/>
            <a:r>
              <a:rPr lang="en-ID" sz="2400" dirty="0" err="1"/>
              <a:t>Sejalan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, Strategi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dirancang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dampak</a:t>
            </a:r>
            <a:r>
              <a:rPr lang="en-ID" sz="2400" dirty="0"/>
              <a:t> </a:t>
            </a:r>
            <a:r>
              <a:rPr lang="en-ID" sz="2400" dirty="0" err="1"/>
              <a:t>terbesarnya</a:t>
            </a:r>
            <a:r>
              <a:rPr lang="en-ID" sz="2400" dirty="0"/>
              <a:t> di </a:t>
            </a:r>
            <a:r>
              <a:rPr lang="en-ID" sz="2400" dirty="0" err="1"/>
              <a:t>tingkat</a:t>
            </a:r>
            <a:r>
              <a:rPr lang="en-ID" sz="2400" dirty="0"/>
              <a:t> negara. Peran </a:t>
            </a:r>
            <a:r>
              <a:rPr lang="en-ID" sz="2400" dirty="0" err="1"/>
              <a:t>fasilitatif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berfokus</a:t>
            </a:r>
            <a:r>
              <a:rPr lang="en-ID" sz="2400" dirty="0"/>
              <a:t> pada </a:t>
            </a:r>
            <a:r>
              <a:rPr lang="en-ID" sz="2400" dirty="0" err="1"/>
              <a:t>penguatan</a:t>
            </a:r>
            <a:r>
              <a:rPr lang="en-ID" sz="2400" dirty="0"/>
              <a:t> NMHS,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subregional, regional, dan global </a:t>
            </a:r>
            <a:r>
              <a:rPr lang="en-ID" sz="2400" dirty="0" err="1"/>
              <a:t>sambil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mengadvokasi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memajukan</a:t>
            </a:r>
            <a:r>
              <a:rPr lang="en-ID" sz="2400" dirty="0"/>
              <a:t> </a:t>
            </a:r>
            <a:r>
              <a:rPr lang="en-ID" sz="2400" dirty="0" err="1"/>
              <a:t>kebijakan</a:t>
            </a:r>
            <a:r>
              <a:rPr lang="en-ID" sz="2400" dirty="0"/>
              <a:t>, strategi, dan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831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30DE-1363-5C79-FA11-69059767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671"/>
            <a:ext cx="10515600" cy="520337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Perbedaan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b="1" dirty="0"/>
              <a:t>"</a:t>
            </a:r>
            <a:r>
              <a:rPr lang="en-ID" sz="2400" b="1" dirty="0" err="1"/>
              <a:t>peningkatan</a:t>
            </a:r>
            <a:r>
              <a:rPr lang="en-ID" sz="2400" b="1" dirty="0"/>
              <a:t> </a:t>
            </a:r>
            <a:r>
              <a:rPr lang="en-ID" sz="2400" b="1" dirty="0" err="1"/>
              <a:t>kapasitas</a:t>
            </a:r>
            <a:r>
              <a:rPr lang="en-ID" sz="2400" b="1" dirty="0"/>
              <a:t>” /Capacity Building </a:t>
            </a:r>
            <a:r>
              <a:rPr lang="en-ID" sz="2400" dirty="0"/>
              <a:t>dan </a:t>
            </a:r>
            <a:r>
              <a:rPr lang="en-ID" sz="2400" b="1" dirty="0"/>
              <a:t>"</a:t>
            </a:r>
            <a:r>
              <a:rPr lang="en-ID" sz="2400" b="1" dirty="0" err="1"/>
              <a:t>pengembangan</a:t>
            </a:r>
            <a:r>
              <a:rPr lang="en-ID" sz="2400" b="1" dirty="0"/>
              <a:t> </a:t>
            </a:r>
            <a:r>
              <a:rPr lang="en-ID" sz="2400" b="1" dirty="0" err="1"/>
              <a:t>kapasitas</a:t>
            </a:r>
            <a:r>
              <a:rPr lang="en-ID" sz="2400" b="1" dirty="0"/>
              <a:t>” /development Capacity</a:t>
            </a:r>
            <a:r>
              <a:rPr lang="en-ID" sz="2400" dirty="0"/>
              <a:t>. Yang </a:t>
            </a:r>
            <a:r>
              <a:rPr lang="en-ID" sz="2400" dirty="0" err="1"/>
              <a:t>pertama</a:t>
            </a:r>
            <a:r>
              <a:rPr lang="en-ID" sz="2400" dirty="0"/>
              <a:t> </a:t>
            </a:r>
            <a:r>
              <a:rPr lang="en-ID" sz="2400" dirty="0" err="1"/>
              <a:t>menyiratkan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, </a:t>
            </a:r>
            <a:r>
              <a:rPr lang="en-ID" sz="2400" dirty="0" err="1"/>
              <a:t>sedangkan</a:t>
            </a:r>
            <a:r>
              <a:rPr lang="en-ID" sz="2400" dirty="0"/>
              <a:t> yang </a:t>
            </a:r>
            <a:r>
              <a:rPr lang="en-ID" sz="2400" dirty="0" err="1"/>
              <a:t>kedua</a:t>
            </a:r>
            <a:r>
              <a:rPr lang="en-ID" sz="2400" dirty="0"/>
              <a:t> </a:t>
            </a:r>
            <a:r>
              <a:rPr lang="en-ID" sz="2400" dirty="0" err="1"/>
              <a:t>mempertimbangkan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penekanan</a:t>
            </a:r>
            <a:r>
              <a:rPr lang="en-ID" sz="2400" dirty="0"/>
              <a:t> pada </a:t>
            </a:r>
            <a:r>
              <a:rPr lang="en-ID" sz="2400" dirty="0" err="1"/>
              <a:t>pendekatan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holistik</a:t>
            </a:r>
            <a:r>
              <a:rPr lang="en-ID" sz="2400" dirty="0"/>
              <a:t> dan </a:t>
            </a:r>
            <a:r>
              <a:rPr lang="en-ID" sz="2400" dirty="0" err="1"/>
              <a:t>kepemilikan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atas</a:t>
            </a:r>
            <a:r>
              <a:rPr lang="en-ID" sz="2400" dirty="0"/>
              <a:t> proses </a:t>
            </a:r>
            <a:r>
              <a:rPr lang="en-ID" sz="2400" dirty="0" err="1"/>
              <a:t>pembangunan</a:t>
            </a:r>
            <a:r>
              <a:rPr lang="en-ID" sz="2400" dirty="0"/>
              <a:t>.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istilah</a:t>
            </a:r>
            <a:r>
              <a:rPr lang="en-ID" sz="2400" dirty="0"/>
              <a:t> “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”, WMO </a:t>
            </a:r>
            <a:r>
              <a:rPr lang="en-ID" sz="2400" dirty="0" err="1"/>
              <a:t>mengakui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bantuannya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NMHS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diinformasikan</a:t>
            </a:r>
            <a:r>
              <a:rPr lang="en-ID" sz="2400" dirty="0"/>
              <a:t> oleh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dan yang </a:t>
            </a:r>
            <a:r>
              <a:rPr lang="en-ID" sz="2400" dirty="0" err="1"/>
              <a:t>direncanakan</a:t>
            </a:r>
            <a:r>
              <a:rPr lang="en-ID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2400" b="1" dirty="0"/>
              <a:t>"</a:t>
            </a:r>
            <a:r>
              <a:rPr lang="en-ID" sz="2400" b="1" dirty="0" err="1"/>
              <a:t>Pengembangan</a:t>
            </a:r>
            <a:r>
              <a:rPr lang="en-ID" sz="2400" b="1" dirty="0"/>
              <a:t> </a:t>
            </a:r>
            <a:r>
              <a:rPr lang="en-ID" sz="2400" b="1" dirty="0" err="1"/>
              <a:t>kapasitas</a:t>
            </a:r>
            <a:r>
              <a:rPr lang="en-ID" sz="2400" b="1" dirty="0"/>
              <a:t>"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demikian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proses </a:t>
            </a:r>
            <a:r>
              <a:rPr lang="en-ID" sz="2400" dirty="0" err="1"/>
              <a:t>penguatan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individu</a:t>
            </a:r>
            <a:r>
              <a:rPr lang="en-ID" sz="2400" dirty="0"/>
              <a:t>, </a:t>
            </a:r>
            <a:r>
              <a:rPr lang="en-ID" sz="2400" dirty="0" err="1"/>
              <a:t>organisasi</a:t>
            </a:r>
            <a:r>
              <a:rPr lang="en-ID" sz="2400" dirty="0"/>
              <a:t> dan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memecahkan</a:t>
            </a:r>
            <a:r>
              <a:rPr lang="en-ID" sz="2400" dirty="0"/>
              <a:t> </a:t>
            </a:r>
            <a:r>
              <a:rPr lang="en-ID" sz="2400" dirty="0" err="1"/>
              <a:t>masalah</a:t>
            </a:r>
            <a:r>
              <a:rPr lang="en-ID" sz="2400" dirty="0"/>
              <a:t> dan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D" sz="2400" dirty="0" err="1"/>
              <a:t>Karakteristik</a:t>
            </a:r>
            <a:r>
              <a:rPr lang="en-ID" sz="2400" dirty="0"/>
              <a:t> </a:t>
            </a:r>
            <a:r>
              <a:rPr lang="en-ID" sz="2400" b="1" dirty="0" err="1"/>
              <a:t>esensialnya</a:t>
            </a:r>
            <a:r>
              <a:rPr lang="en-ID" sz="2400" b="1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dijelaskan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berikut</a:t>
            </a:r>
            <a:r>
              <a:rPr lang="en-ID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949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5602-EB09-A56B-1446-3EF7DC46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514"/>
            <a:ext cx="10515600" cy="5018315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adalah</a:t>
            </a:r>
            <a:r>
              <a:rPr lang="en-ID" sz="2400" dirty="0"/>
              <a:t> proses </a:t>
            </a:r>
            <a:r>
              <a:rPr lang="en-ID" sz="2400" dirty="0" err="1"/>
              <a:t>perbaikan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mekanisme</a:t>
            </a:r>
            <a:r>
              <a:rPr lang="en-ID" sz="2400" dirty="0"/>
              <a:t> </a:t>
            </a:r>
            <a:r>
              <a:rPr lang="en-ID" sz="2400" dirty="0" err="1"/>
              <a:t>umpan</a:t>
            </a:r>
            <a:r>
              <a:rPr lang="en-ID" sz="2400" dirty="0"/>
              <a:t> </a:t>
            </a:r>
            <a:r>
              <a:rPr lang="en-ID" sz="2400" dirty="0" err="1"/>
              <a:t>balik</a:t>
            </a:r>
            <a:r>
              <a:rPr lang="en-ID" sz="2400" dirty="0"/>
              <a:t> </a:t>
            </a:r>
            <a:r>
              <a:rPr lang="en-ID" sz="2400" dirty="0" err="1"/>
              <a:t>daripada</a:t>
            </a:r>
            <a:r>
              <a:rPr lang="en-ID" sz="2400" dirty="0"/>
              <a:t> </a:t>
            </a:r>
            <a:r>
              <a:rPr lang="en-ID" sz="2400" dirty="0" err="1"/>
              <a:t>intervensi</a:t>
            </a:r>
            <a:r>
              <a:rPr lang="en-ID" sz="2400" dirty="0"/>
              <a:t> </a:t>
            </a:r>
            <a:r>
              <a:rPr lang="en-ID" sz="2400" dirty="0" err="1"/>
              <a:t>jangka</a:t>
            </a:r>
            <a:r>
              <a:rPr lang="en-ID" sz="2400" dirty="0"/>
              <a:t> </a:t>
            </a:r>
            <a:r>
              <a:rPr lang="en-ID" sz="2400" dirty="0" err="1"/>
              <a:t>pendek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bertujuan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menambah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cara</a:t>
            </a:r>
            <a:r>
              <a:rPr lang="en-ID" sz="2400" dirty="0"/>
              <a:t> yang </a:t>
            </a:r>
            <a:r>
              <a:rPr lang="en-ID" sz="2400" dirty="0" err="1"/>
              <a:t>kondusif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pertumbuhan</a:t>
            </a:r>
            <a:r>
              <a:rPr lang="en-ID" sz="2400" dirty="0"/>
              <a:t> yang </a:t>
            </a:r>
            <a:r>
              <a:rPr lang="en-ID" sz="2400" dirty="0" err="1"/>
              <a:t>berkelanjutan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mencakup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, </a:t>
            </a:r>
            <a:r>
              <a:rPr lang="en-ID" sz="2400" dirty="0" err="1"/>
              <a:t>pendekatan</a:t>
            </a:r>
            <a:r>
              <a:rPr lang="en-ID" sz="2400" dirty="0"/>
              <a:t>, strategi dan </a:t>
            </a:r>
            <a:r>
              <a:rPr lang="en-ID" sz="2400" dirty="0" err="1"/>
              <a:t>metodologi</a:t>
            </a:r>
            <a:r>
              <a:rPr lang="en-ID" sz="2400" dirty="0"/>
              <a:t> yang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, </a:t>
            </a:r>
            <a:r>
              <a:rPr lang="en-ID" sz="2400" dirty="0" err="1"/>
              <a:t>kelompok</a:t>
            </a:r>
            <a:r>
              <a:rPr lang="en-ID" sz="2400" dirty="0"/>
              <a:t> dan </a:t>
            </a:r>
            <a:r>
              <a:rPr lang="en-ID" sz="2400" dirty="0" err="1"/>
              <a:t>individu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dan </a:t>
            </a:r>
            <a:r>
              <a:rPr lang="en-ID" sz="2400" dirty="0" err="1"/>
              <a:t>menghasilkan</a:t>
            </a:r>
            <a:r>
              <a:rPr lang="en-ID" sz="2400" dirty="0"/>
              <a:t> </a:t>
            </a:r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adalah</a:t>
            </a:r>
            <a:r>
              <a:rPr lang="en-ID" sz="2400" dirty="0"/>
              <a:t> proses internal yang </a:t>
            </a:r>
            <a:r>
              <a:rPr lang="en-ID" sz="2400" dirty="0" err="1"/>
              <a:t>didorong</a:t>
            </a:r>
            <a:r>
              <a:rPr lang="en-ID" sz="2400" dirty="0"/>
              <a:t> oleh </a:t>
            </a:r>
            <a:r>
              <a:rPr lang="en-ID" sz="2400" dirty="0" err="1"/>
              <a:t>mekanisme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</a:t>
            </a:r>
            <a:r>
              <a:rPr lang="en-ID" sz="2400" dirty="0" err="1"/>
              <a:t>difasilitasi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melengkapi</a:t>
            </a:r>
            <a:r>
              <a:rPr lang="en-ID" sz="2400" dirty="0"/>
              <a:t> </a:t>
            </a:r>
            <a:r>
              <a:rPr lang="en-ID" sz="2400" dirty="0" err="1"/>
              <a:t>lembaga</a:t>
            </a:r>
            <a:r>
              <a:rPr lang="en-ID" sz="2400" dirty="0"/>
              <a:t> </a:t>
            </a:r>
            <a:r>
              <a:rPr lang="en-ID" sz="2400" dirty="0" err="1"/>
              <a:t>eksternal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dievaluasi</a:t>
            </a:r>
            <a:r>
              <a:rPr lang="en-ID" sz="2400" dirty="0"/>
              <a:t>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pertumbuhan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keseluruhan</a:t>
            </a:r>
            <a:r>
              <a:rPr lang="en-ID" sz="2400" dirty="0"/>
              <a:t> dan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16991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052E-D75E-A443-F9AC-FA26E120B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372"/>
            <a:ext cx="10515600" cy="5926592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400" dirty="0" err="1"/>
              <a:t>Definisi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juga </a:t>
            </a:r>
            <a:r>
              <a:rPr lang="en-ID" sz="2400" dirty="0" err="1"/>
              <a:t>menyiratkan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NMHS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keterkaitan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proses </a:t>
            </a:r>
            <a:r>
              <a:rPr lang="en-ID" sz="2400" dirty="0" err="1"/>
              <a:t>perencanaan</a:t>
            </a:r>
            <a:r>
              <a:rPr lang="en-ID" sz="2400" dirty="0"/>
              <a:t> dan </a:t>
            </a:r>
            <a:r>
              <a:rPr lang="en-ID" sz="2400" dirty="0" err="1"/>
              <a:t>politik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, subregional dan regional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keberlanjutan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koordinasi</a:t>
            </a:r>
            <a:r>
              <a:rPr lang="en-ID" sz="2400" dirty="0"/>
              <a:t> dan </a:t>
            </a:r>
            <a:r>
              <a:rPr lang="en-ID" sz="2400" dirty="0" err="1"/>
              <a:t>kerjasama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"</a:t>
            </a:r>
            <a:r>
              <a:rPr lang="en-ID" sz="2400" b="1" dirty="0"/>
              <a:t>Capacity-building</a:t>
            </a:r>
            <a:r>
              <a:rPr lang="en-ID" sz="2400" dirty="0"/>
              <a:t>", di </a:t>
            </a:r>
            <a:r>
              <a:rPr lang="en-ID" sz="2400" dirty="0" err="1"/>
              <a:t>sisi</a:t>
            </a:r>
            <a:r>
              <a:rPr lang="en-ID" sz="2400" dirty="0"/>
              <a:t> lain, </a:t>
            </a:r>
            <a:r>
              <a:rPr lang="en-ID" sz="2400" dirty="0" err="1"/>
              <a:t>menyiratkan</a:t>
            </a:r>
            <a:r>
              <a:rPr lang="en-ID" sz="2400" dirty="0"/>
              <a:t> proses yang </a:t>
            </a:r>
            <a:r>
              <a:rPr lang="en-ID" sz="2400" dirty="0" err="1"/>
              <a:t>cenderung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tahap</a:t>
            </a:r>
            <a:r>
              <a:rPr lang="en-ID" sz="2400" dirty="0"/>
              <a:t> </a:t>
            </a:r>
            <a:r>
              <a:rPr lang="en-ID" sz="2400" dirty="0" err="1"/>
              <a:t>awal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membangun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menciptakan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,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asumsi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</a:t>
            </a:r>
            <a:r>
              <a:rPr lang="en-ID" sz="2400" dirty="0" err="1"/>
              <a:t>mengakui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b="1" dirty="0" err="1"/>
              <a:t>empat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: </a:t>
            </a:r>
            <a:r>
              <a:rPr lang="en-ID" sz="2400" dirty="0" err="1"/>
              <a:t>kelembagaan</a:t>
            </a:r>
            <a:r>
              <a:rPr lang="en-ID" sz="2400" dirty="0"/>
              <a:t>, </a:t>
            </a:r>
            <a:r>
              <a:rPr lang="en-ID" sz="2400" dirty="0" err="1"/>
              <a:t>infrastruktur</a:t>
            </a:r>
            <a:r>
              <a:rPr lang="en-ID" sz="2400" dirty="0"/>
              <a:t>, </a:t>
            </a:r>
            <a:r>
              <a:rPr lang="en-ID" sz="2400" dirty="0" err="1"/>
              <a:t>prosedural</a:t>
            </a:r>
            <a:r>
              <a:rPr lang="en-ID" sz="2400" dirty="0"/>
              <a:t> dan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 err="1"/>
              <a:t>Keempat</a:t>
            </a:r>
            <a:r>
              <a:rPr lang="en-ID" sz="2400" dirty="0"/>
              <a:t> </a:t>
            </a:r>
            <a:r>
              <a:rPr lang="en-ID" sz="2400" dirty="0" err="1"/>
              <a:t>dimensi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berbeda</a:t>
            </a:r>
            <a:r>
              <a:rPr lang="en-ID" sz="2400" dirty="0"/>
              <a:t> </a:t>
            </a:r>
            <a:r>
              <a:rPr lang="en-ID" sz="2400" dirty="0" err="1"/>
              <a:t>namun</a:t>
            </a:r>
            <a:r>
              <a:rPr lang="en-ID" sz="2400" dirty="0"/>
              <a:t> </a:t>
            </a:r>
            <a:r>
              <a:rPr lang="en-ID" sz="2400" dirty="0" err="1"/>
              <a:t>saling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dan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dipertimbangkan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holistik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yang </a:t>
            </a:r>
            <a:r>
              <a:rPr lang="en-ID" sz="2400" dirty="0" err="1"/>
              <a:t>berkelanjutan</a:t>
            </a:r>
            <a:r>
              <a:rPr lang="en-ID" sz="2400" dirty="0"/>
              <a:t>. Strategi </a:t>
            </a:r>
            <a:r>
              <a:rPr lang="en-ID" sz="2400" dirty="0" err="1"/>
              <a:t>tersebut</a:t>
            </a:r>
            <a:r>
              <a:rPr lang="en-ID" sz="2400" dirty="0"/>
              <a:t> juga </a:t>
            </a:r>
            <a:r>
              <a:rPr lang="en-ID" sz="2400" dirty="0" err="1"/>
              <a:t>mengakui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dipantau</a:t>
            </a:r>
            <a:r>
              <a:rPr lang="en-ID" sz="2400" dirty="0"/>
              <a:t> dan </a:t>
            </a:r>
            <a:r>
              <a:rPr lang="en-ID" sz="2400" dirty="0" err="1"/>
              <a:t>hasilnya</a:t>
            </a:r>
            <a:r>
              <a:rPr lang="en-ID" sz="2400" dirty="0"/>
              <a:t> </a:t>
            </a:r>
            <a:r>
              <a:rPr lang="en-ID" sz="2400" dirty="0" err="1"/>
              <a:t>dievaluasi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keberlanjutan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endParaRPr lang="en-ID" sz="2400" dirty="0"/>
          </a:p>
          <a:p>
            <a:pPr algn="just"/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80183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9D4D-424C-E4BF-CEB6-B765DDF21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25547"/>
            <a:ext cx="9603275" cy="479995"/>
          </a:xfrm>
        </p:spPr>
        <p:txBody>
          <a:bodyPr>
            <a:normAutofit/>
          </a:bodyPr>
          <a:lstStyle/>
          <a:p>
            <a:r>
              <a:rPr lang="en-ID" sz="2400" b="1" dirty="0"/>
              <a:t>WMO Capacity Development Programme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1AD7-4883-C50A-1521-3DAFD08D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5542"/>
            <a:ext cx="10515600" cy="5219701"/>
          </a:xfrm>
        </p:spPr>
        <p:txBody>
          <a:bodyPr>
            <a:normAutofit/>
          </a:bodyPr>
          <a:lstStyle/>
          <a:p>
            <a:pPr algn="just"/>
            <a:r>
              <a:rPr lang="en-ID" sz="2400" dirty="0"/>
              <a:t>Tujuan </a:t>
            </a:r>
            <a:r>
              <a:rPr lang="en-ID" sz="2400" dirty="0" err="1"/>
              <a:t>keseluruhan</a:t>
            </a:r>
            <a:r>
              <a:rPr lang="en-ID" sz="2400" dirty="0"/>
              <a:t> dari Program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yaitu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mengimplementasikan</a:t>
            </a:r>
            <a:r>
              <a:rPr lang="en-ID" sz="2400" dirty="0"/>
              <a:t> 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, yang </a:t>
            </a:r>
            <a:r>
              <a:rPr lang="en-ID" sz="2400" dirty="0" err="1"/>
              <a:t>bekerja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</a:t>
            </a:r>
            <a:r>
              <a:rPr lang="en-ID" sz="2400" dirty="0" err="1"/>
              <a:t>erat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Program Regional WMO </a:t>
            </a:r>
            <a:r>
              <a:rPr lang="en-ID" sz="2400" dirty="0" err="1"/>
              <a:t>serta</a:t>
            </a:r>
            <a:r>
              <a:rPr lang="en-ID" sz="2400" dirty="0"/>
              <a:t> Program </a:t>
            </a:r>
            <a:r>
              <a:rPr lang="en-ID" sz="2400" dirty="0" err="1"/>
              <a:t>ilmiah</a:t>
            </a:r>
            <a:r>
              <a:rPr lang="en-ID" sz="2400" dirty="0"/>
              <a:t> dan </a:t>
            </a:r>
            <a:r>
              <a:rPr lang="en-ID" sz="2400" dirty="0" err="1"/>
              <a:t>teknis</a:t>
            </a:r>
            <a:r>
              <a:rPr lang="en-ID" sz="2400" dirty="0"/>
              <a:t> WMO,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NMHS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, </a:t>
            </a:r>
            <a:r>
              <a:rPr lang="en-ID" sz="2400" dirty="0" err="1"/>
              <a:t>infrastruktur</a:t>
            </a:r>
            <a:r>
              <a:rPr lang="en-ID" sz="2400" dirty="0"/>
              <a:t>, </a:t>
            </a:r>
            <a:r>
              <a:rPr lang="en-ID" sz="2400" dirty="0" err="1"/>
              <a:t>kelembagaan</a:t>
            </a:r>
            <a:r>
              <a:rPr lang="en-ID" sz="2400" dirty="0"/>
              <a:t>/</a:t>
            </a:r>
            <a:r>
              <a:rPr lang="en-ID" sz="2400" dirty="0" err="1"/>
              <a:t>hukum</a:t>
            </a:r>
            <a:r>
              <a:rPr lang="en-ID" sz="2400" dirty="0"/>
              <a:t> dan </a:t>
            </a:r>
            <a:r>
              <a:rPr lang="en-ID" sz="2400" dirty="0" err="1"/>
              <a:t>prosedural</a:t>
            </a:r>
            <a:r>
              <a:rPr lang="en-ID" sz="2400" dirty="0"/>
              <a:t> yang </a:t>
            </a:r>
            <a:r>
              <a:rPr lang="en-ID" sz="2400" dirty="0" err="1"/>
              <a:t>membatasi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yang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kepatuhan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Peraturan</a:t>
            </a:r>
            <a:r>
              <a:rPr lang="en-ID" sz="2400" dirty="0"/>
              <a:t> Teknis WMO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maksud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lanjut</a:t>
            </a:r>
            <a:r>
              <a:rPr lang="en-ID" sz="2400" dirty="0"/>
              <a:t> dan </a:t>
            </a:r>
            <a:r>
              <a:rPr lang="en-ID" sz="2400" dirty="0" err="1"/>
              <a:t>peningkatan</a:t>
            </a:r>
            <a:r>
              <a:rPr lang="en-ID" sz="2400" dirty="0"/>
              <a:t> NMHS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kepatuhan</a:t>
            </a:r>
          </a:p>
        </p:txBody>
      </p:sp>
    </p:spTree>
    <p:extLst>
      <p:ext uri="{BB962C8B-B14F-4D97-AF65-F5344CB8AC3E}">
        <p14:creationId xmlns:p14="http://schemas.microsoft.com/office/powerpoint/2010/main" val="3863319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0E028-A020-8EB5-F566-255E1BFEC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537686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Merumuskan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dan proposal </a:t>
            </a:r>
            <a:r>
              <a:rPr lang="en-ID" sz="2400" dirty="0" err="1"/>
              <a:t>proyek</a:t>
            </a:r>
            <a:r>
              <a:rPr lang="en-ID" sz="2400" dirty="0"/>
              <a:t>/program yang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Mengumpulkan</a:t>
            </a:r>
            <a:r>
              <a:rPr lang="en-ID" sz="2400" dirty="0"/>
              <a:t> dan </a:t>
            </a:r>
            <a:r>
              <a:rPr lang="en-ID" sz="2400" dirty="0" err="1"/>
              <a:t>bertukar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calon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penerima</a:t>
            </a:r>
            <a:r>
              <a:rPr lang="en-ID" sz="2400" dirty="0"/>
              <a:t> dan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kemungkinan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ditawarkan</a:t>
            </a:r>
            <a:r>
              <a:rPr lang="en-ID" sz="2400" dirty="0"/>
              <a:t> oleh </a:t>
            </a:r>
            <a:r>
              <a:rPr lang="en-ID" sz="2400" dirty="0" err="1"/>
              <a:t>Anggota</a:t>
            </a:r>
            <a:r>
              <a:rPr lang="en-ID" sz="2400" dirty="0"/>
              <a:t> lain dan </a:t>
            </a:r>
            <a:r>
              <a:rPr lang="en-ID" sz="2400" dirty="0" err="1"/>
              <a:t>calon</a:t>
            </a:r>
            <a:r>
              <a:rPr lang="en-ID" sz="2400" dirty="0"/>
              <a:t> </a:t>
            </a:r>
            <a:r>
              <a:rPr lang="en-ID" sz="2400" dirty="0" err="1"/>
              <a:t>mitra</a:t>
            </a:r>
            <a:r>
              <a:rPr lang="en-ID" sz="2400" dirty="0"/>
              <a:t> dan </a:t>
            </a:r>
            <a:r>
              <a:rPr lang="en-ID" sz="2400" dirty="0" err="1"/>
              <a:t>lembaga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mobilisasi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</a:t>
            </a:r>
            <a:r>
              <a:rPr lang="en-ID" sz="2400" dirty="0" err="1"/>
              <a:t>internasional</a:t>
            </a:r>
            <a:r>
              <a:rPr lang="en-ID" sz="2400" dirty="0"/>
              <a:t> yang </a:t>
            </a:r>
            <a:r>
              <a:rPr lang="en-ID" sz="2400" dirty="0" err="1"/>
              <a:t>diperlukan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dan </a:t>
            </a:r>
            <a:r>
              <a:rPr lang="en-ID" sz="2400" dirty="0" err="1"/>
              <a:t>melaksanakan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program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regional dan </a:t>
            </a:r>
            <a:r>
              <a:rPr lang="en-ID" sz="2400" dirty="0" err="1"/>
              <a:t>nasional</a:t>
            </a:r>
            <a:r>
              <a:rPr lang="en-ID" sz="2400" dirty="0"/>
              <a:t>, dan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yang </a:t>
            </a:r>
            <a:r>
              <a:rPr lang="en-ID" sz="2400" dirty="0" err="1"/>
              <a:t>berasal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</a:t>
            </a:r>
            <a:r>
              <a:rPr lang="en-ID" sz="2400" dirty="0" err="1"/>
              <a:t>hidrologi</a:t>
            </a:r>
            <a:r>
              <a:rPr lang="en-ID" sz="2400" dirty="0"/>
              <a:t>, </a:t>
            </a:r>
            <a:r>
              <a:rPr lang="en-ID" sz="2400" dirty="0" err="1"/>
              <a:t>klimatologi</a:t>
            </a:r>
            <a:r>
              <a:rPr lang="en-ID" sz="2400" dirty="0"/>
              <a:t>, dan </a:t>
            </a:r>
            <a:r>
              <a:rPr lang="en-ID" sz="2400" dirty="0" err="1"/>
              <a:t>ilmu</a:t>
            </a:r>
            <a:r>
              <a:rPr lang="en-ID" sz="2400" dirty="0"/>
              <a:t> </a:t>
            </a:r>
            <a:r>
              <a:rPr lang="en-ID" sz="2400" dirty="0" err="1"/>
              <a:t>lingkungan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,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dukungan</a:t>
            </a:r>
            <a:r>
              <a:rPr lang="en-ID" sz="2400" dirty="0"/>
              <a:t> yang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aspek</a:t>
            </a:r>
            <a:r>
              <a:rPr lang="en-ID" sz="2400" dirty="0"/>
              <a:t> </a:t>
            </a:r>
            <a:r>
              <a:rPr lang="en-ID" sz="2400" dirty="0" err="1"/>
              <a:t>ilmiah</a:t>
            </a:r>
            <a:r>
              <a:rPr lang="en-ID" sz="2400" dirty="0"/>
              <a:t> dan </a:t>
            </a:r>
            <a:r>
              <a:rPr lang="en-ID" sz="2400" dirty="0" err="1"/>
              <a:t>teknis</a:t>
            </a:r>
            <a:r>
              <a:rPr lang="en-ID" sz="2400" dirty="0"/>
              <a:t> yang </a:t>
            </a:r>
            <a:r>
              <a:rPr lang="en-ID" sz="2400" dirty="0" err="1"/>
              <a:t>relevan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dan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sejalan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, </a:t>
            </a:r>
            <a:r>
              <a:rPr lang="en-ID" sz="2400" dirty="0" err="1"/>
              <a:t>pedoman</a:t>
            </a:r>
            <a:r>
              <a:rPr lang="en-ID" sz="2400" dirty="0"/>
              <a:t>, dan </a:t>
            </a:r>
            <a:r>
              <a:rPr lang="en-ID" sz="2400" dirty="0" err="1"/>
              <a:t>praktik</a:t>
            </a:r>
            <a:r>
              <a:rPr lang="en-ID" sz="2400" dirty="0"/>
              <a:t> yang </a:t>
            </a:r>
            <a:r>
              <a:rPr lang="en-ID" sz="2400" dirty="0" err="1"/>
              <a:t>direkomendasikan</a:t>
            </a:r>
            <a:r>
              <a:rPr lang="en-ID" sz="2400" dirty="0"/>
              <a:t> WMO;</a:t>
            </a:r>
          </a:p>
        </p:txBody>
      </p:sp>
    </p:spTree>
    <p:extLst>
      <p:ext uri="{BB962C8B-B14F-4D97-AF65-F5344CB8AC3E}">
        <p14:creationId xmlns:p14="http://schemas.microsoft.com/office/powerpoint/2010/main" val="352434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9053-77A1-DE54-4B61-D069603BB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2"/>
            <a:ext cx="10515600" cy="524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 </a:t>
            </a:r>
            <a:r>
              <a:rPr lang="en-ID" sz="2400" dirty="0" err="1"/>
              <a:t>mereka</a:t>
            </a:r>
            <a:r>
              <a:rPr lang="en-ID" sz="2400" dirty="0"/>
              <a:t> dan </a:t>
            </a:r>
            <a:r>
              <a:rPr lang="en-ID" sz="2400" dirty="0" err="1"/>
              <a:t>lembaga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regional yang </a:t>
            </a:r>
            <a:r>
              <a:rPr lang="en-ID" sz="2400" dirty="0" err="1"/>
              <a:t>relevan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mengadvokasi</a:t>
            </a:r>
            <a:r>
              <a:rPr lang="en-ID" sz="2400" dirty="0"/>
              <a:t> </a:t>
            </a:r>
            <a:r>
              <a:rPr lang="en-ID" sz="2400" dirty="0" err="1"/>
              <a:t>dukungan</a:t>
            </a:r>
            <a:r>
              <a:rPr lang="en-ID" sz="2400" dirty="0"/>
              <a:t> </a:t>
            </a:r>
            <a:r>
              <a:rPr lang="en-ID" sz="2400" dirty="0" err="1"/>
              <a:t>eksternal</a:t>
            </a:r>
            <a:r>
              <a:rPr lang="en-ID" sz="2400" dirty="0"/>
              <a:t> dan internal yang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diperlukan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,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WMO;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promosi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 dan </a:t>
            </a:r>
            <a:r>
              <a:rPr lang="en-ID" sz="2400" dirty="0" err="1"/>
              <a:t>lembaga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dan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, </a:t>
            </a:r>
            <a:r>
              <a:rPr lang="en-ID" sz="2400" dirty="0" err="1"/>
              <a:t>khususnya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menjembatani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relevan</a:t>
            </a:r>
            <a:r>
              <a:rPr lang="en-ID" sz="2400" dirty="0"/>
              <a:t> yang </a:t>
            </a:r>
            <a:r>
              <a:rPr lang="en-ID" sz="2400" dirty="0" err="1"/>
              <a:t>disediakan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131319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D4F0-7B85-D669-1278-8BB9B99B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929"/>
            <a:ext cx="10515600" cy="55510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,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pembentukan</a:t>
            </a:r>
            <a:r>
              <a:rPr lang="en-ID" sz="2400" dirty="0"/>
              <a:t> </a:t>
            </a:r>
            <a:r>
              <a:rPr lang="en-ID" sz="2400" dirty="0" err="1"/>
              <a:t>kemitraan</a:t>
            </a:r>
            <a:r>
              <a:rPr lang="en-ID" sz="2400" dirty="0"/>
              <a:t> yang </a:t>
            </a:r>
            <a:r>
              <a:rPr lang="en-ID" sz="2400" dirty="0" err="1"/>
              <a:t>dinamis</a:t>
            </a:r>
            <a:r>
              <a:rPr lang="en-ID" sz="2400" dirty="0"/>
              <a:t> dan </a:t>
            </a:r>
            <a:r>
              <a:rPr lang="en-ID" sz="2400" dirty="0" err="1"/>
              <a:t>sinergis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mitra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dan </a:t>
            </a:r>
            <a:r>
              <a:rPr lang="en-ID" sz="2400" dirty="0" err="1"/>
              <a:t>organisasi</a:t>
            </a:r>
            <a:r>
              <a:rPr lang="en-ID" sz="2400" dirty="0"/>
              <a:t> regional dan </a:t>
            </a:r>
            <a:r>
              <a:rPr lang="en-ID" sz="2400" dirty="0" err="1"/>
              <a:t>internasional</a:t>
            </a:r>
            <a:r>
              <a:rPr lang="en-ID" sz="2400" dirty="0"/>
              <a:t>,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aspek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</a:t>
            </a:r>
            <a:r>
              <a:rPr lang="en-ID" sz="2400" dirty="0" err="1"/>
              <a:t>hidrologi</a:t>
            </a:r>
            <a:r>
              <a:rPr lang="en-ID" sz="2400" dirty="0"/>
              <a:t> dan </a:t>
            </a:r>
            <a:r>
              <a:rPr lang="en-ID" sz="2400" dirty="0" err="1"/>
              <a:t>lingkungan</a:t>
            </a:r>
            <a:r>
              <a:rPr lang="en-ID" sz="2400" dirty="0"/>
              <a:t> yang </a:t>
            </a:r>
            <a:r>
              <a:rPr lang="en-ID" sz="2400" dirty="0" err="1"/>
              <a:t>relevan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berasal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kemitraan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dikembangkan</a:t>
            </a:r>
            <a:r>
              <a:rPr lang="en-ID" sz="2400" dirty="0"/>
              <a:t> dan </a:t>
            </a:r>
            <a:r>
              <a:rPr lang="en-ID" sz="2400" dirty="0" err="1"/>
              <a:t>dilaksanakan</a:t>
            </a:r>
            <a:r>
              <a:rPr lang="en-ID" sz="2400" dirty="0"/>
              <a:t>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dan </a:t>
            </a:r>
            <a:r>
              <a:rPr lang="en-ID" sz="2400" dirty="0" err="1"/>
              <a:t>pedoman</a:t>
            </a:r>
            <a:r>
              <a:rPr lang="en-ID" sz="2400" dirty="0"/>
              <a:t> yang </a:t>
            </a:r>
            <a:r>
              <a:rPr lang="en-ID" sz="2400" dirty="0" err="1"/>
              <a:t>diakui</a:t>
            </a:r>
            <a:endParaRPr lang="en-ID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membangun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, </a:t>
            </a:r>
            <a:r>
              <a:rPr lang="en-ID" sz="2400" dirty="0" err="1"/>
              <a:t>strategis</a:t>
            </a:r>
            <a:r>
              <a:rPr lang="en-ID" sz="2400" dirty="0"/>
              <a:t>, </a:t>
            </a:r>
            <a:r>
              <a:rPr lang="en-ID" sz="2400" dirty="0" err="1"/>
              <a:t>operasional</a:t>
            </a:r>
            <a:r>
              <a:rPr lang="en-ID" sz="2400" dirty="0"/>
              <a:t> dan </a:t>
            </a:r>
            <a:r>
              <a:rPr lang="en-ID" sz="2400" dirty="0" err="1"/>
              <a:t>manajerial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 NMHS,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mobilisasi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,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aspek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</a:t>
            </a:r>
            <a:r>
              <a:rPr lang="en-ID" sz="2400" dirty="0" err="1"/>
              <a:t>berkelanjutan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NMHS dan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91777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2CB2-493A-CCA3-CCCD-438D0622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KOMPONEN :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1253-2391-A505-1B53-31CBDDA3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sz="2400" dirty="0"/>
              <a:t>Program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Program lain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dan </a:t>
            </a:r>
            <a:r>
              <a:rPr lang="en-ID" sz="2400" dirty="0" err="1"/>
              <a:t>berkolaborasi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semua</a:t>
            </a:r>
            <a:r>
              <a:rPr lang="en-ID" sz="2400" dirty="0"/>
              <a:t> badan dan Program WMO. </a:t>
            </a:r>
            <a:r>
              <a:rPr lang="en-ID" sz="2400" dirty="0" err="1"/>
              <a:t>Komponen</a:t>
            </a:r>
            <a:r>
              <a:rPr lang="en-ID" sz="2400" dirty="0"/>
              <a:t> </a:t>
            </a:r>
            <a:r>
              <a:rPr lang="en-ID" sz="2400" dirty="0" err="1"/>
              <a:t>utamanya</a:t>
            </a:r>
            <a:r>
              <a:rPr lang="en-ID" sz="2400" dirty="0"/>
              <a:t> </a:t>
            </a:r>
            <a:r>
              <a:rPr lang="en-ID" sz="2400" dirty="0" err="1"/>
              <a:t>meliputi</a:t>
            </a:r>
            <a:r>
              <a:rPr lang="en-ID" sz="2400" dirty="0"/>
              <a:t>: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ID" sz="2400" dirty="0"/>
              <a:t>Voluntary Cooperation Programme:</a:t>
            </a:r>
          </a:p>
          <a:p>
            <a:pPr marL="0" indent="0" algn="just">
              <a:buNone/>
            </a:pPr>
            <a:r>
              <a:rPr lang="en-ID" sz="2400" dirty="0"/>
              <a:t>      Program GFCS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dan </a:t>
            </a:r>
            <a:r>
              <a:rPr lang="en-ID" sz="2400" dirty="0" err="1"/>
              <a:t>dukungan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dan </a:t>
            </a:r>
            <a:r>
              <a:rPr lang="en-ID" sz="2400" dirty="0" err="1"/>
              <a:t>Hidrologi</a:t>
            </a:r>
            <a:r>
              <a:rPr lang="en-ID" sz="2400" dirty="0"/>
              <a:t> Nasional (NMHS) di negara-negara </a:t>
            </a:r>
            <a:r>
              <a:rPr lang="en-ID" sz="2400" dirty="0" err="1"/>
              <a:t>berkembang</a:t>
            </a:r>
            <a:r>
              <a:rPr lang="en-ID" sz="2400" dirty="0"/>
              <a:t> dan paling </a:t>
            </a:r>
            <a:r>
              <a:rPr lang="en-ID" sz="2400" dirty="0" err="1"/>
              <a:t>kurang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serta</a:t>
            </a:r>
            <a:r>
              <a:rPr lang="en-ID" sz="2400" dirty="0"/>
              <a:t> negara-negara </a:t>
            </a:r>
            <a:r>
              <a:rPr lang="en-ID" sz="2400" dirty="0" err="1"/>
              <a:t>kepulauan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 yang </a:t>
            </a:r>
            <a:r>
              <a:rPr lang="en-ID" sz="2400" dirty="0" err="1"/>
              <a:t>sedang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2537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0A87-C4EB-9B80-4102-7FDE3C4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747546"/>
            <a:ext cx="9603275" cy="4640883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lphaLcParenR" startAt="2"/>
            </a:pPr>
            <a:r>
              <a:rPr lang="en-US" sz="2400" dirty="0"/>
              <a:t>Resource mobilization and development partnership activities</a:t>
            </a:r>
          </a:p>
          <a:p>
            <a:pPr marL="0" indent="0" algn="just">
              <a:buNone/>
            </a:pPr>
            <a:r>
              <a:rPr lang="en-US" sz="2400" dirty="0"/>
              <a:t>	Kantor </a:t>
            </a:r>
            <a:r>
              <a:rPr lang="en-US" sz="2400" dirty="0" err="1"/>
              <a:t>Mobilisasi</a:t>
            </a:r>
            <a:r>
              <a:rPr lang="en-US" sz="2400" dirty="0"/>
              <a:t> </a:t>
            </a:r>
            <a:r>
              <a:rPr lang="en-US" sz="2400" dirty="0" err="1"/>
              <a:t>Sumber</a:t>
            </a:r>
            <a:r>
              <a:rPr lang="en-US" sz="2400" dirty="0"/>
              <a:t> Daya dan </a:t>
            </a:r>
            <a:r>
              <a:rPr lang="en-US" sz="2400" dirty="0" err="1"/>
              <a:t>Kemitraan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</a:t>
            </a:r>
            <a:r>
              <a:rPr lang="en-US" sz="2400" dirty="0" err="1"/>
              <a:t>berupaya</a:t>
            </a:r>
            <a:r>
              <a:rPr lang="en-US" sz="2400" dirty="0"/>
              <a:t> </a:t>
            </a:r>
            <a:r>
              <a:rPr lang="en-US" sz="2400" dirty="0" err="1"/>
              <a:t>mengamankan</a:t>
            </a:r>
            <a:r>
              <a:rPr lang="en-US" sz="2400" dirty="0"/>
              <a:t> </a:t>
            </a:r>
            <a:r>
              <a:rPr lang="en-US" sz="2400" dirty="0" err="1"/>
              <a:t>bantuan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Layanan</a:t>
            </a:r>
            <a:r>
              <a:rPr lang="en-US" sz="2400" dirty="0"/>
              <a:t> </a:t>
            </a:r>
            <a:r>
              <a:rPr lang="en-US" sz="2400" dirty="0" err="1"/>
              <a:t>Meteorologi</a:t>
            </a:r>
            <a:r>
              <a:rPr lang="en-US" sz="2400" dirty="0"/>
              <a:t> dan </a:t>
            </a:r>
            <a:r>
              <a:rPr lang="en-US" sz="2400" dirty="0" err="1"/>
              <a:t>Hidrologi</a:t>
            </a:r>
            <a:r>
              <a:rPr lang="en-US" sz="2400" dirty="0"/>
              <a:t> Nasional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penekanan</a:t>
            </a:r>
            <a:r>
              <a:rPr lang="en-US" sz="2400" dirty="0"/>
              <a:t> </a:t>
            </a:r>
            <a:r>
              <a:rPr lang="en-US" sz="2400" dirty="0" err="1"/>
              <a:t>khusus</a:t>
            </a:r>
            <a:r>
              <a:rPr lang="en-US" sz="2400" dirty="0"/>
              <a:t> pada negara-negara </a:t>
            </a:r>
            <a:r>
              <a:rPr lang="en-US" sz="2400" dirty="0" err="1"/>
              <a:t>berkembang</a:t>
            </a:r>
            <a:r>
              <a:rPr lang="en-US" sz="2400" dirty="0"/>
              <a:t>, negara-negara </a:t>
            </a:r>
            <a:r>
              <a:rPr lang="en-US" sz="2400" dirty="0" err="1"/>
              <a:t>kurang</a:t>
            </a:r>
            <a:r>
              <a:rPr lang="en-US" sz="2400" dirty="0"/>
              <a:t> </a:t>
            </a:r>
            <a:r>
              <a:rPr lang="en-US" sz="2400" dirty="0" err="1"/>
              <a:t>berkembang</a:t>
            </a:r>
            <a:r>
              <a:rPr lang="en-US" sz="2400" dirty="0"/>
              <a:t>, dan negara-negara </a:t>
            </a:r>
            <a:r>
              <a:rPr lang="en-US" sz="2400" dirty="0" err="1"/>
              <a:t>kepulauan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 yang </a:t>
            </a:r>
            <a:r>
              <a:rPr lang="en-US" sz="2400" dirty="0" err="1"/>
              <a:t>sedang</a:t>
            </a:r>
            <a:r>
              <a:rPr lang="en-US" sz="2400" dirty="0"/>
              <a:t> </a:t>
            </a:r>
            <a:r>
              <a:rPr lang="en-US" sz="2400" dirty="0" err="1"/>
              <a:t>berkembang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membantu</a:t>
            </a:r>
            <a:r>
              <a:rPr lang="en-US" sz="2400" dirty="0"/>
              <a:t> </a:t>
            </a:r>
            <a:r>
              <a:rPr lang="en-US" sz="2400" dirty="0" err="1"/>
              <a:t>mereka</a:t>
            </a:r>
            <a:r>
              <a:rPr lang="en-US" sz="2400" dirty="0"/>
              <a:t> </a:t>
            </a:r>
            <a:r>
              <a:rPr lang="en-US" sz="2400" dirty="0" err="1"/>
              <a:t>menetapkan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layanan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cuaca</a:t>
            </a:r>
            <a:r>
              <a:rPr lang="en-US" sz="2400" dirty="0"/>
              <a:t>, air, dan </a:t>
            </a:r>
            <a:r>
              <a:rPr lang="en-US" sz="2400" dirty="0" err="1"/>
              <a:t>iklim</a:t>
            </a:r>
            <a:r>
              <a:rPr lang="en-US" sz="2400" dirty="0"/>
              <a:t> yang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mendukung</a:t>
            </a:r>
            <a:r>
              <a:rPr lang="en-US" sz="2400" dirty="0"/>
              <a:t> </a:t>
            </a:r>
            <a:r>
              <a:rPr lang="en-US" sz="2400" dirty="0" err="1"/>
              <a:t>perlindungan</a:t>
            </a:r>
            <a:r>
              <a:rPr lang="en-US" sz="2400" dirty="0"/>
              <a:t> </a:t>
            </a:r>
            <a:r>
              <a:rPr lang="en-US" sz="2400" dirty="0" err="1"/>
              <a:t>kehidupan</a:t>
            </a:r>
            <a:r>
              <a:rPr lang="en-US" sz="2400" dirty="0"/>
              <a:t>, </a:t>
            </a:r>
            <a:r>
              <a:rPr lang="en-US" sz="2400" dirty="0" err="1"/>
              <a:t>properti</a:t>
            </a:r>
            <a:r>
              <a:rPr lang="en-US" sz="2400" dirty="0"/>
              <a:t>, dan </a:t>
            </a:r>
            <a:r>
              <a:rPr lang="en-US" sz="2400" dirty="0" err="1"/>
              <a:t>lingkungan</a:t>
            </a:r>
            <a:r>
              <a:rPr lang="en-US" sz="2400" dirty="0"/>
              <a:t>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keamanan</a:t>
            </a:r>
            <a:r>
              <a:rPr lang="en-US" sz="2400" dirty="0"/>
              <a:t> </a:t>
            </a:r>
            <a:r>
              <a:rPr lang="en-US" sz="2400" dirty="0" err="1"/>
              <a:t>produksi</a:t>
            </a:r>
            <a:r>
              <a:rPr lang="en-US" sz="2400" dirty="0"/>
              <a:t> </a:t>
            </a:r>
            <a:r>
              <a:rPr lang="en-US" sz="2400" dirty="0" err="1"/>
              <a:t>pangan</a:t>
            </a:r>
            <a:r>
              <a:rPr lang="en-US" sz="2400" dirty="0"/>
              <a:t>, </a:t>
            </a:r>
            <a:r>
              <a:rPr lang="en-US" sz="2400" dirty="0" err="1"/>
              <a:t>energi</a:t>
            </a:r>
            <a:r>
              <a:rPr lang="en-US" sz="2400" dirty="0"/>
              <a:t>, dan </a:t>
            </a:r>
            <a:r>
              <a:rPr lang="en-US" sz="2400" dirty="0" err="1"/>
              <a:t>sumber</a:t>
            </a:r>
            <a:r>
              <a:rPr lang="en-US" sz="2400" dirty="0"/>
              <a:t> </a:t>
            </a:r>
            <a:r>
              <a:rPr lang="en-US" sz="2400" dirty="0" err="1"/>
              <a:t>daya</a:t>
            </a:r>
            <a:r>
              <a:rPr lang="en-US" sz="2400" dirty="0"/>
              <a:t> air.</a:t>
            </a:r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292818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3FB47-36BF-511A-6A9C-2262D1371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925286"/>
            <a:ext cx="9603275" cy="4541059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lphaLcParenR" startAt="3"/>
            </a:pPr>
            <a:r>
              <a:rPr lang="en-ID" sz="2400" dirty="0"/>
              <a:t>Regional Programme</a:t>
            </a:r>
          </a:p>
          <a:p>
            <a:pPr marL="0" indent="0" algn="just">
              <a:buNone/>
            </a:pPr>
            <a:r>
              <a:rPr lang="en-ID" sz="2400" dirty="0"/>
              <a:t>	Tujuan </a:t>
            </a:r>
            <a:r>
              <a:rPr lang="en-ID" sz="2400" dirty="0" err="1"/>
              <a:t>keseluruhan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Program Regional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fungsi</a:t>
            </a:r>
            <a:r>
              <a:rPr lang="en-ID" sz="2400" dirty="0"/>
              <a:t> yang </a:t>
            </a:r>
            <a:r>
              <a:rPr lang="en-ID" sz="2400" dirty="0" err="1"/>
              <a:t>efisien</a:t>
            </a:r>
            <a:r>
              <a:rPr lang="en-ID" sz="2400" dirty="0"/>
              <a:t> dan </a:t>
            </a:r>
            <a:r>
              <a:rPr lang="en-ID" sz="2400" dirty="0" err="1"/>
              <a:t>efektif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enam</a:t>
            </a:r>
            <a:r>
              <a:rPr lang="en-ID" sz="2400" dirty="0"/>
              <a:t> </a:t>
            </a:r>
            <a:r>
              <a:rPr lang="en-ID" sz="2400" dirty="0" err="1"/>
              <a:t>Asosiasi</a:t>
            </a:r>
            <a:r>
              <a:rPr lang="en-ID" sz="2400" dirty="0"/>
              <a:t> Regional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mengoordinasikan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</a:t>
            </a:r>
            <a:r>
              <a:rPr lang="en-ID" sz="2400" dirty="0" err="1"/>
              <a:t>hidrologi</a:t>
            </a:r>
            <a:r>
              <a:rPr lang="en-ID" sz="2400" dirty="0"/>
              <a:t>, </a:t>
            </a:r>
            <a:r>
              <a:rPr lang="en-ID" sz="2400" dirty="0" err="1"/>
              <a:t>klimatologi</a:t>
            </a:r>
            <a:r>
              <a:rPr lang="en-ID" sz="2400" dirty="0"/>
              <a:t> dan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para </a:t>
            </a:r>
            <a:r>
              <a:rPr lang="en-ID" sz="2400" dirty="0" err="1"/>
              <a:t>Anggotanya</a:t>
            </a:r>
            <a:r>
              <a:rPr lang="en-ID" sz="2400" dirty="0"/>
              <a:t>. Program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sama</a:t>
            </a:r>
            <a:r>
              <a:rPr lang="en-ID" sz="2400" dirty="0"/>
              <a:t> regional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strategi, </a:t>
            </a:r>
            <a:r>
              <a:rPr lang="en-ID" sz="2400" dirty="0" err="1"/>
              <a:t>kebijakan</a:t>
            </a:r>
            <a:r>
              <a:rPr lang="en-ID" sz="2400" dirty="0"/>
              <a:t> dan program WMO,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mempertimbangkan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, </a:t>
            </a:r>
            <a:r>
              <a:rPr lang="en-ID" sz="2400" dirty="0" err="1"/>
              <a:t>kapasitas</a:t>
            </a:r>
            <a:r>
              <a:rPr lang="en-ID" sz="2400" dirty="0"/>
              <a:t> dan </a:t>
            </a:r>
            <a:r>
              <a:rPr lang="en-ID" sz="2400" dirty="0" err="1"/>
              <a:t>prioritas</a:t>
            </a:r>
            <a:r>
              <a:rPr lang="en-ID" sz="2400" dirty="0"/>
              <a:t> regional.</a:t>
            </a:r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02343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D362-8C49-53EE-3F13-1DB5B3DED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751114"/>
            <a:ext cx="9603275" cy="471523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lphaLcParenR" startAt="4"/>
            </a:pPr>
            <a:r>
              <a:rPr lang="en-US" sz="2400" dirty="0"/>
              <a:t>Small Island Developing States and Member Island Territories</a:t>
            </a:r>
          </a:p>
          <a:p>
            <a:pPr marL="0" indent="0" algn="just">
              <a:buNone/>
            </a:pPr>
            <a:r>
              <a:rPr lang="en-US" sz="2400" dirty="0"/>
              <a:t>	Negara-negara </a:t>
            </a:r>
            <a:r>
              <a:rPr lang="en-US" sz="2400" dirty="0" err="1"/>
              <a:t>Kepulauan</a:t>
            </a:r>
            <a:r>
              <a:rPr lang="en-US" sz="2400" dirty="0"/>
              <a:t> Kecil yang </a:t>
            </a:r>
            <a:r>
              <a:rPr lang="en-US" sz="2400" dirty="0" err="1"/>
              <a:t>Berkembang</a:t>
            </a:r>
            <a:r>
              <a:rPr lang="en-US" sz="2400" dirty="0"/>
              <a:t> dan </a:t>
            </a:r>
            <a:r>
              <a:rPr lang="en-US" sz="2400" dirty="0" err="1"/>
              <a:t>Teritori</a:t>
            </a:r>
            <a:r>
              <a:rPr lang="en-US" sz="2400" dirty="0"/>
              <a:t> </a:t>
            </a:r>
            <a:r>
              <a:rPr lang="en-US" sz="2400" dirty="0" err="1"/>
              <a:t>Kepulauan</a:t>
            </a:r>
            <a:r>
              <a:rPr lang="en-US" sz="2400" dirty="0"/>
              <a:t> </a:t>
            </a:r>
            <a:r>
              <a:rPr lang="en-US" sz="2400" dirty="0" err="1"/>
              <a:t>Anggota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negara </a:t>
            </a:r>
            <a:r>
              <a:rPr lang="en-US" sz="2400" dirty="0" err="1"/>
              <a:t>kepulauan</a:t>
            </a:r>
            <a:r>
              <a:rPr lang="en-US" sz="2400" dirty="0"/>
              <a:t> </a:t>
            </a:r>
            <a:r>
              <a:rPr lang="en-US" sz="2400" dirty="0" err="1"/>
              <a:t>dataran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yang sangat </a:t>
            </a:r>
            <a:r>
              <a:rPr lang="en-US" sz="2400" dirty="0" err="1"/>
              <a:t>rentan</a:t>
            </a:r>
            <a:r>
              <a:rPr lang="en-US" sz="2400" dirty="0"/>
              <a:t> dan </a:t>
            </a:r>
            <a:r>
              <a:rPr lang="en-US" sz="2400" dirty="0" err="1"/>
              <a:t>sering</a:t>
            </a:r>
            <a:r>
              <a:rPr lang="en-US" sz="2400" dirty="0"/>
              <a:t> kali </a:t>
            </a:r>
            <a:r>
              <a:rPr lang="en-US" sz="2400" dirty="0" err="1"/>
              <a:t>terdampak</a:t>
            </a:r>
            <a:r>
              <a:rPr lang="en-US" sz="2400" dirty="0"/>
              <a:t> oleh </a:t>
            </a:r>
            <a:r>
              <a:rPr lang="en-US" sz="2400" dirty="0" err="1"/>
              <a:t>cuaca</a:t>
            </a:r>
            <a:r>
              <a:rPr lang="en-US" sz="2400" dirty="0"/>
              <a:t> </a:t>
            </a:r>
            <a:r>
              <a:rPr lang="en-US" sz="2400" dirty="0" err="1"/>
              <a:t>ekstrem</a:t>
            </a:r>
            <a:r>
              <a:rPr lang="en-US" sz="2400" dirty="0"/>
              <a:t> dan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iklim</a:t>
            </a:r>
            <a:r>
              <a:rPr lang="en-US" sz="2400" dirty="0"/>
              <a:t>,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meningkatnya</a:t>
            </a:r>
            <a:r>
              <a:rPr lang="en-US" sz="2400" dirty="0"/>
              <a:t> </a:t>
            </a:r>
            <a:r>
              <a:rPr lang="en-US" sz="2400" dirty="0" err="1"/>
              <a:t>keparahan</a:t>
            </a:r>
            <a:r>
              <a:rPr lang="en-US" sz="2400" dirty="0"/>
              <a:t> </a:t>
            </a:r>
            <a:r>
              <a:rPr lang="en-US" sz="2400" dirty="0" err="1"/>
              <a:t>siklon</a:t>
            </a:r>
            <a:r>
              <a:rPr lang="en-US" sz="2400" dirty="0"/>
              <a:t>,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badai</a:t>
            </a:r>
            <a:r>
              <a:rPr lang="en-US" sz="2400" dirty="0"/>
              <a:t>, </a:t>
            </a:r>
            <a:r>
              <a:rPr lang="en-US" sz="2400" dirty="0" err="1"/>
              <a:t>hujan</a:t>
            </a:r>
            <a:r>
              <a:rPr lang="en-US" sz="2400" dirty="0"/>
              <a:t> </a:t>
            </a:r>
            <a:r>
              <a:rPr lang="en-US" sz="2400" dirty="0" err="1"/>
              <a:t>lebat</a:t>
            </a:r>
            <a:r>
              <a:rPr lang="en-US" sz="2400" dirty="0"/>
              <a:t>, </a:t>
            </a:r>
            <a:r>
              <a:rPr lang="en-US" sz="2400" dirty="0" err="1"/>
              <a:t>kekeringan</a:t>
            </a:r>
            <a:r>
              <a:rPr lang="en-US" sz="2400" dirty="0"/>
              <a:t>, </a:t>
            </a:r>
            <a:r>
              <a:rPr lang="en-US" sz="2400" dirty="0" err="1"/>
              <a:t>kenaikan</a:t>
            </a:r>
            <a:r>
              <a:rPr lang="en-US" sz="2400" dirty="0"/>
              <a:t> </a:t>
            </a:r>
            <a:r>
              <a:rPr lang="en-US" sz="2400" dirty="0" err="1"/>
              <a:t>permukaan</a:t>
            </a:r>
            <a:r>
              <a:rPr lang="en-US" sz="2400" dirty="0"/>
              <a:t> </a:t>
            </a:r>
            <a:r>
              <a:rPr lang="en-US" sz="2400" dirty="0" err="1"/>
              <a:t>laut</a:t>
            </a:r>
            <a:r>
              <a:rPr lang="en-US" sz="2400" dirty="0"/>
              <a:t>, dan </a:t>
            </a:r>
            <a:r>
              <a:rPr lang="en-US" sz="2400" dirty="0" err="1"/>
              <a:t>pengasaman</a:t>
            </a:r>
            <a:r>
              <a:rPr lang="en-US" sz="2400" dirty="0"/>
              <a:t> </a:t>
            </a:r>
            <a:r>
              <a:rPr lang="en-US" sz="2400" dirty="0" err="1"/>
              <a:t>laut</a:t>
            </a:r>
            <a:r>
              <a:rPr lang="en-US" sz="2400" dirty="0"/>
              <a:t>. </a:t>
            </a:r>
            <a:r>
              <a:rPr lang="en-US" sz="2400" dirty="0" err="1"/>
              <a:t>Investasi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pengurangan</a:t>
            </a:r>
            <a:r>
              <a:rPr lang="en-US" sz="2400" dirty="0"/>
              <a:t> </a:t>
            </a:r>
            <a:r>
              <a:rPr lang="en-US" sz="2400" dirty="0" err="1"/>
              <a:t>risiko</a:t>
            </a:r>
            <a:r>
              <a:rPr lang="en-US" sz="2400" dirty="0"/>
              <a:t> </a:t>
            </a:r>
            <a:r>
              <a:rPr lang="en-US" sz="2400" dirty="0" err="1"/>
              <a:t>bencana</a:t>
            </a:r>
            <a:r>
              <a:rPr lang="en-US" sz="2400" dirty="0"/>
              <a:t>,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peringatan</a:t>
            </a:r>
            <a:r>
              <a:rPr lang="en-US" sz="2400" dirty="0"/>
              <a:t> </a:t>
            </a:r>
            <a:r>
              <a:rPr lang="en-US" sz="2400" dirty="0" err="1"/>
              <a:t>dini</a:t>
            </a:r>
            <a:r>
              <a:rPr lang="en-US" sz="2400" dirty="0"/>
              <a:t> dan </a:t>
            </a:r>
            <a:r>
              <a:rPr lang="en-US" sz="2400" dirty="0" err="1"/>
              <a:t>langkah-langkah</a:t>
            </a:r>
            <a:r>
              <a:rPr lang="en-US" sz="2400" dirty="0"/>
              <a:t> </a:t>
            </a:r>
            <a:r>
              <a:rPr lang="en-US" sz="2400" dirty="0" err="1"/>
              <a:t>adaptasi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sektor-sektor</a:t>
            </a:r>
            <a:r>
              <a:rPr lang="en-US" sz="2400" dirty="0"/>
              <a:t> </a:t>
            </a:r>
            <a:r>
              <a:rPr lang="en-US" sz="2400" dirty="0" err="1"/>
              <a:t>penting</a:t>
            </a:r>
            <a:r>
              <a:rPr lang="en-US" sz="2400" dirty="0"/>
              <a:t>, sangat </a:t>
            </a:r>
            <a:r>
              <a:rPr lang="en-US" sz="2400" dirty="0" err="1"/>
              <a:t>penting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membangun</a:t>
            </a:r>
            <a:r>
              <a:rPr lang="en-US" sz="2400" dirty="0"/>
              <a:t> </a:t>
            </a:r>
            <a:r>
              <a:rPr lang="en-US" sz="2400" dirty="0" err="1"/>
              <a:t>masyarakat</a:t>
            </a:r>
            <a:r>
              <a:rPr lang="en-US" sz="2400" dirty="0"/>
              <a:t> yang </a:t>
            </a:r>
            <a:r>
              <a:rPr lang="en-US" sz="2400" dirty="0" err="1"/>
              <a:t>tangguh</a:t>
            </a:r>
            <a:r>
              <a:rPr lang="en-US" sz="2400" dirty="0"/>
              <a:t> dan </a:t>
            </a:r>
            <a:r>
              <a:rPr lang="en-US" sz="2400" dirty="0" err="1"/>
              <a:t>memfasilitasi</a:t>
            </a:r>
            <a:r>
              <a:rPr lang="en-US" sz="2400" dirty="0"/>
              <a:t> </a:t>
            </a:r>
            <a:r>
              <a:rPr lang="en-US" sz="2400" dirty="0" err="1"/>
              <a:t>pembangunan</a:t>
            </a:r>
            <a:r>
              <a:rPr lang="en-US" sz="2400" dirty="0"/>
              <a:t> </a:t>
            </a:r>
            <a:r>
              <a:rPr lang="en-US" sz="2400" dirty="0" err="1"/>
              <a:t>berkelanjutan</a:t>
            </a:r>
            <a:r>
              <a:rPr lang="en-US" sz="2400" dirty="0"/>
              <a:t>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95810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F3BC5-C5EE-98E8-7EB8-887272949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lphaLcParenR" startAt="5"/>
            </a:pPr>
            <a:r>
              <a:rPr lang="en-ID" sz="2400" dirty="0"/>
              <a:t>Least Developed Countries Programme</a:t>
            </a:r>
          </a:p>
          <a:p>
            <a:pPr marL="0" indent="0" algn="just">
              <a:buNone/>
            </a:pPr>
            <a:r>
              <a:rPr lang="en-ID" sz="2400" dirty="0"/>
              <a:t>	Program Negara-negara </a:t>
            </a:r>
            <a:r>
              <a:rPr lang="en-ID" sz="2400" dirty="0" err="1"/>
              <a:t>Terbelakang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dan </a:t>
            </a:r>
            <a:r>
              <a:rPr lang="en-ID" sz="2400" dirty="0" err="1"/>
              <a:t>Hidrologi</a:t>
            </a:r>
            <a:r>
              <a:rPr lang="en-ID" sz="2400" dirty="0"/>
              <a:t> Nasional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 dan </a:t>
            </a:r>
            <a:r>
              <a:rPr lang="en-ID" sz="2400" dirty="0" err="1"/>
              <a:t>kelembagaan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memberantas</a:t>
            </a:r>
            <a:r>
              <a:rPr lang="en-ID" sz="2400" dirty="0"/>
              <a:t> </a:t>
            </a:r>
            <a:r>
              <a:rPr lang="en-ID" sz="2400" dirty="0" err="1"/>
              <a:t>kemiskinan</a:t>
            </a:r>
            <a:r>
              <a:rPr lang="en-ID" sz="2400" dirty="0"/>
              <a:t> guna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pembangunan</a:t>
            </a:r>
            <a:r>
              <a:rPr lang="en-ID" sz="2400" dirty="0"/>
              <a:t> yang </a:t>
            </a:r>
            <a:r>
              <a:rPr lang="en-ID" sz="2400" dirty="0" err="1"/>
              <a:t>disepakati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940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CA39-D5B1-3566-6540-FC825527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lphaLcParenR" startAt="6"/>
            </a:pPr>
            <a:r>
              <a:rPr lang="en-ID" sz="2400" dirty="0"/>
              <a:t>Education and Training Programme</a:t>
            </a:r>
          </a:p>
          <a:p>
            <a:pPr marL="0" indent="0" algn="just">
              <a:buNone/>
            </a:pPr>
            <a:r>
              <a:rPr lang="en-ID" sz="2400" dirty="0"/>
              <a:t>	Program Pendidikan dan </a:t>
            </a:r>
            <a:r>
              <a:rPr lang="en-ID" sz="2400" dirty="0" err="1"/>
              <a:t>Pelatihan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dan </a:t>
            </a:r>
            <a:r>
              <a:rPr lang="en-ID" sz="2400" dirty="0" err="1"/>
              <a:t>Hidrologi</a:t>
            </a:r>
            <a:r>
              <a:rPr lang="en-ID" sz="2400" dirty="0"/>
              <a:t> Nasional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 dan </a:t>
            </a:r>
            <a:r>
              <a:rPr lang="en-ID" sz="2400" dirty="0" err="1"/>
              <a:t>kompetensi</a:t>
            </a:r>
            <a:r>
              <a:rPr lang="en-ID" sz="2400" dirty="0"/>
              <a:t> – </a:t>
            </a:r>
            <a:r>
              <a:rPr lang="en-ID" sz="2400" dirty="0" err="1"/>
              <a:t>pengetahuan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, dan </a:t>
            </a:r>
            <a:r>
              <a:rPr lang="en-ID" sz="2400" dirty="0" err="1"/>
              <a:t>perilaku</a:t>
            </a:r>
            <a:r>
              <a:rPr lang="en-ID" sz="2400" dirty="0"/>
              <a:t> – yang </a:t>
            </a:r>
            <a:r>
              <a:rPr lang="en-ID" sz="2400" dirty="0" err="1"/>
              <a:t>disyaratkan</a:t>
            </a:r>
            <a:r>
              <a:rPr lang="en-ID" sz="2400" dirty="0"/>
              <a:t> oleh </a:t>
            </a:r>
            <a:r>
              <a:rPr lang="en-ID" sz="2400" dirty="0" err="1"/>
              <a:t>Peraturan</a:t>
            </a:r>
            <a:r>
              <a:rPr lang="en-ID" sz="2400" dirty="0"/>
              <a:t> Teknis WMO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</a:t>
            </a:r>
            <a:r>
              <a:rPr lang="en-ID" sz="2400" dirty="0" err="1"/>
              <a:t>hidrologi</a:t>
            </a:r>
            <a:r>
              <a:rPr lang="en-ID" sz="2400" dirty="0"/>
              <a:t>, dan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yang </a:t>
            </a:r>
            <a:r>
              <a:rPr lang="en-ID" sz="2400" dirty="0" err="1"/>
              <a:t>tepat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dan </a:t>
            </a:r>
            <a:r>
              <a:rPr lang="en-ID" sz="2400" dirty="0" err="1"/>
              <a:t>berkualitas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kewajiban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1983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D353-F3F5-CC62-DA47-DBF6D2A3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IMPLEMENTATION OF THE WORLD METEOROLOGICAL ORGANIZATION CAPACITY DEVELOPMENT STRATEGY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ABD0-9CE0-B89E-6828-7902099B3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dirty="0"/>
              <a:t>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</a:t>
            </a:r>
            <a:r>
              <a:rPr lang="en-ID" sz="2400" dirty="0" err="1"/>
              <a:t>diimplementasikan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(</a:t>
            </a:r>
            <a:r>
              <a:rPr lang="en-ID" sz="2400" dirty="0" err="1"/>
              <a:t>lihat</a:t>
            </a:r>
            <a:r>
              <a:rPr lang="en-ID" sz="2400" dirty="0"/>
              <a:t> Gambar 14) yang </a:t>
            </a:r>
            <a:r>
              <a:rPr lang="en-ID" sz="2400" dirty="0" err="1"/>
              <a:t>terdiri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proses </a:t>
            </a:r>
            <a:r>
              <a:rPr lang="en-ID" sz="2400" dirty="0" err="1"/>
              <a:t>delapan</a:t>
            </a:r>
            <a:r>
              <a:rPr lang="en-ID" sz="2400" dirty="0"/>
              <a:t> </a:t>
            </a:r>
            <a:r>
              <a:rPr lang="en-ID" sz="2400" dirty="0" err="1"/>
              <a:t>langkah</a:t>
            </a:r>
            <a:r>
              <a:rPr lang="en-ID" sz="2400" dirty="0"/>
              <a:t> (</a:t>
            </a:r>
            <a:r>
              <a:rPr lang="en-ID" sz="2400" dirty="0" err="1"/>
              <a:t>seperti</a:t>
            </a:r>
            <a:r>
              <a:rPr lang="en-ID" sz="2400" dirty="0"/>
              <a:t> yang </a:t>
            </a:r>
            <a:r>
              <a:rPr lang="en-ID" sz="2400" dirty="0" err="1"/>
              <a:t>ditunjukkan</a:t>
            </a:r>
            <a:r>
              <a:rPr lang="en-ID" sz="2400" dirty="0"/>
              <a:t> pada Gambar 15), </a:t>
            </a:r>
            <a:r>
              <a:rPr lang="en-ID" sz="2400" dirty="0" err="1"/>
              <a:t>dikombinasikan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lain yang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program dan strategi WMO </a:t>
            </a:r>
            <a:r>
              <a:rPr lang="en-ID" sz="2400" dirty="0" err="1"/>
              <a:t>pelengkap</a:t>
            </a:r>
            <a:r>
              <a:rPr lang="en-ID" sz="2400" dirty="0"/>
              <a:t>, dan </a:t>
            </a:r>
            <a:r>
              <a:rPr lang="en-ID" sz="2400" dirty="0" err="1"/>
              <a:t>berbagai</a:t>
            </a:r>
            <a:r>
              <a:rPr lang="en-ID" sz="2400" dirty="0"/>
              <a:t> </a:t>
            </a:r>
            <a:r>
              <a:rPr lang="en-ID" sz="2400" dirty="0" err="1"/>
              <a:t>aspek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NMHS.</a:t>
            </a:r>
          </a:p>
        </p:txBody>
      </p:sp>
    </p:spTree>
    <p:extLst>
      <p:ext uri="{BB962C8B-B14F-4D97-AF65-F5344CB8AC3E}">
        <p14:creationId xmlns:p14="http://schemas.microsoft.com/office/powerpoint/2010/main" val="964277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F29D2-BF07-7AD5-ADB9-AFF0A8DEE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244" y="457200"/>
            <a:ext cx="8120742" cy="5159829"/>
          </a:xfrm>
        </p:spPr>
      </p:pic>
    </p:spTree>
    <p:extLst>
      <p:ext uri="{BB962C8B-B14F-4D97-AF65-F5344CB8AC3E}">
        <p14:creationId xmlns:p14="http://schemas.microsoft.com/office/powerpoint/2010/main" val="2381625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8094-4750-617A-CED7-3F363165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500"/>
            <a:ext cx="10515600" cy="56054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nn-NO" sz="2400" b="1" dirty="0"/>
              <a:t>Elemen lain dari kerangka strategis adalah 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Empat</a:t>
            </a:r>
            <a:r>
              <a:rPr lang="en-ID" sz="2400" dirty="0"/>
              <a:t> </a:t>
            </a:r>
            <a:r>
              <a:rPr lang="en-ID" sz="2400" dirty="0" err="1"/>
              <a:t>dimensi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: </a:t>
            </a:r>
            <a:r>
              <a:rPr lang="en-ID" sz="2400" dirty="0" err="1"/>
              <a:t>manusia</a:t>
            </a:r>
            <a:r>
              <a:rPr lang="en-ID" sz="2400" dirty="0"/>
              <a:t>, </a:t>
            </a:r>
            <a:r>
              <a:rPr lang="en-ID" sz="2400" dirty="0" err="1"/>
              <a:t>kelembagaan</a:t>
            </a:r>
            <a:r>
              <a:rPr lang="en-ID" sz="2400" dirty="0"/>
              <a:t>, </a:t>
            </a:r>
            <a:r>
              <a:rPr lang="en-ID" sz="2400" dirty="0" err="1"/>
              <a:t>infrastruktur</a:t>
            </a:r>
            <a:r>
              <a:rPr lang="en-ID" sz="2400" dirty="0"/>
              <a:t> dan </a:t>
            </a:r>
            <a:r>
              <a:rPr lang="en-ID" sz="2400" dirty="0" err="1"/>
              <a:t>prosedural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dan </a:t>
            </a:r>
            <a:r>
              <a:rPr lang="en-ID" sz="2400" dirty="0" err="1"/>
              <a:t>Operasi</a:t>
            </a:r>
            <a:r>
              <a:rPr lang="en-ID" sz="2400" dirty="0"/>
              <a:t> WMO 2016–2019 (SOP);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Program WMO;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Peran </a:t>
            </a:r>
            <a:r>
              <a:rPr lang="en-ID" sz="2400" dirty="0" err="1"/>
              <a:t>pelengkap</a:t>
            </a:r>
            <a:r>
              <a:rPr lang="en-ID" sz="2400" dirty="0"/>
              <a:t> badan </a:t>
            </a:r>
            <a:r>
              <a:rPr lang="en-ID" sz="2400" dirty="0" err="1"/>
              <a:t>konstituen</a:t>
            </a:r>
            <a:r>
              <a:rPr lang="en-ID" sz="2400" dirty="0"/>
              <a:t> WMO, </a:t>
            </a:r>
            <a:r>
              <a:rPr lang="en-ID" sz="2400" dirty="0" err="1"/>
              <a:t>Sekretariat</a:t>
            </a:r>
            <a:r>
              <a:rPr lang="en-ID" sz="2400" dirty="0"/>
              <a:t> WMO, </a:t>
            </a:r>
            <a:r>
              <a:rPr lang="en-ID" sz="2400" dirty="0" err="1"/>
              <a:t>Anggota</a:t>
            </a:r>
            <a:r>
              <a:rPr lang="en-ID" sz="2400" dirty="0"/>
              <a:t> dan </a:t>
            </a:r>
            <a:r>
              <a:rPr lang="en-ID" sz="2400" dirty="0" err="1"/>
              <a:t>mitra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Sistem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, yang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seperangkat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yang </a:t>
            </a:r>
            <a:r>
              <a:rPr lang="en-ID" sz="2400" dirty="0" err="1"/>
              <a:t>saling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berinteraksi</a:t>
            </a:r>
            <a:r>
              <a:rPr lang="en-ID" sz="2400" dirty="0"/>
              <a:t> yang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mengarahkan</a:t>
            </a:r>
            <a:r>
              <a:rPr lang="en-ID" sz="2400" dirty="0"/>
              <a:t> dan </a:t>
            </a:r>
            <a:r>
              <a:rPr lang="en-ID" sz="2400" dirty="0" err="1"/>
              <a:t>mengendalikan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kebijakan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</a:t>
            </a:r>
            <a:r>
              <a:rPr lang="en-ID" sz="2400" dirty="0" err="1"/>
              <a:t>diterapkan</a:t>
            </a:r>
            <a:r>
              <a:rPr lang="en-ID" sz="2400" dirty="0"/>
              <a:t> dan </a:t>
            </a:r>
            <a:r>
              <a:rPr lang="en-ID" sz="2400" dirty="0" err="1"/>
              <a:t>sasaran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</a:t>
            </a:r>
            <a:r>
              <a:rPr lang="en-ID" sz="2400" dirty="0" err="1"/>
              <a:t>dicapai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Strategi WMO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Penyampaian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, yang </a:t>
            </a:r>
            <a:r>
              <a:rPr lang="en-ID" sz="2400" dirty="0" err="1"/>
              <a:t>berupaya</a:t>
            </a:r>
            <a:r>
              <a:rPr lang="en-ID" sz="2400" dirty="0"/>
              <a:t> </a:t>
            </a:r>
            <a:r>
              <a:rPr lang="en-ID" sz="2400" dirty="0" err="1"/>
              <a:t>membangun</a:t>
            </a:r>
            <a:r>
              <a:rPr lang="en-ID" sz="2400" dirty="0"/>
              <a:t> dan </a:t>
            </a:r>
            <a:r>
              <a:rPr lang="en-ID" sz="2400" dirty="0" err="1"/>
              <a:t>melembagakan</a:t>
            </a:r>
            <a:r>
              <a:rPr lang="en-ID" sz="2400" dirty="0"/>
              <a:t> </a:t>
            </a:r>
            <a:r>
              <a:rPr lang="en-ID" sz="2400" dirty="0" err="1"/>
              <a:t>praktik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memperkuat</a:t>
            </a:r>
            <a:r>
              <a:rPr lang="en-ID" sz="2400" dirty="0"/>
              <a:t> </a:t>
            </a:r>
            <a:r>
              <a:rPr lang="en-ID" sz="2400" dirty="0" err="1"/>
              <a:t>penyampaian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menjelaskan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dan </a:t>
            </a:r>
            <a:r>
              <a:rPr lang="en-ID" sz="2400" dirty="0" err="1"/>
              <a:t>kegiatan</a:t>
            </a:r>
            <a:r>
              <a:rPr lang="en-ID" sz="2400" dirty="0"/>
              <a:t> strategi </a:t>
            </a:r>
            <a:r>
              <a:rPr lang="en-ID" sz="2400" dirty="0" err="1"/>
              <a:t>utama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22102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35C8-F38D-94CE-DB4E-AFADE3A1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b="1" dirty="0"/>
              <a:t>THE CHALLENGES OF IMPLEMENTING THE STRATEGY IN SMALLER </a:t>
            </a:r>
            <a:br>
              <a:rPr lang="en-US" sz="2400" b="1" dirty="0"/>
            </a:br>
            <a:r>
              <a:rPr lang="en-US" sz="2400" b="1" dirty="0"/>
              <a:t>NATIONAL METEOROLOGICAL AND HYDROLOGICAL SERVICES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1B98-F661-7799-804D-3D28106DB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ID" sz="2400" dirty="0" err="1"/>
              <a:t>Kerangka</a:t>
            </a:r>
            <a:r>
              <a:rPr lang="en-ID" sz="2400" dirty="0"/>
              <a:t> Strategi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jalur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NMHS,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bantuan</a:t>
            </a:r>
            <a:r>
              <a:rPr lang="en-ID" sz="2400" dirty="0"/>
              <a:t> WMO dan donor,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NMHS. </a:t>
            </a:r>
            <a:r>
              <a:rPr lang="en-ID" sz="2400" dirty="0" err="1"/>
              <a:t>Namun</a:t>
            </a:r>
            <a:r>
              <a:rPr lang="en-ID" sz="2400" dirty="0"/>
              <a:t>,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kecil</a:t>
            </a:r>
            <a:r>
              <a:rPr lang="en-ID" sz="2400" dirty="0"/>
              <a:t> </a:t>
            </a:r>
            <a:r>
              <a:rPr lang="en-ID" sz="2400" dirty="0" err="1"/>
              <a:t>sering</a:t>
            </a:r>
            <a:r>
              <a:rPr lang="en-ID" sz="2400" dirty="0"/>
              <a:t> kali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kesulitan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praktis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mewujudkan</a:t>
            </a:r>
            <a:r>
              <a:rPr lang="en-ID" sz="2400" dirty="0"/>
              <a:t> </a:t>
            </a:r>
            <a:r>
              <a:rPr lang="en-ID" sz="2400" dirty="0" err="1"/>
              <a:t>manfaat</a:t>
            </a:r>
            <a:r>
              <a:rPr lang="en-ID" sz="2400" dirty="0"/>
              <a:t> yang </a:t>
            </a:r>
            <a:r>
              <a:rPr lang="en-ID" sz="2400" dirty="0" err="1"/>
              <a:t>diharapkan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</a:t>
            </a:r>
            <a:r>
              <a:rPr lang="en-ID" sz="2400" dirty="0" err="1"/>
              <a:t>diri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sendiri</a:t>
            </a:r>
            <a:r>
              <a:rPr lang="en-ID" sz="2400" dirty="0"/>
              <a:t> dan </a:t>
            </a:r>
            <a:r>
              <a:rPr lang="en-ID" sz="2400" dirty="0" err="1"/>
              <a:t>Anggota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yang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NMHS </a:t>
            </a:r>
            <a:r>
              <a:rPr lang="en-ID" sz="2400" dirty="0" err="1"/>
              <a:t>itu</a:t>
            </a:r>
            <a:r>
              <a:rPr lang="en-ID" sz="2400" dirty="0"/>
              <a:t> </a:t>
            </a:r>
            <a:r>
              <a:rPr lang="en-ID" sz="2400" dirty="0" err="1"/>
              <a:t>sendiri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prasyarat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sukses</a:t>
            </a:r>
            <a:r>
              <a:rPr lang="en-ID" sz="2400" dirty="0"/>
              <a:t>. Hal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memahami</a:t>
            </a:r>
            <a:r>
              <a:rPr lang="en-ID" sz="2400" dirty="0"/>
              <a:t> dan </a:t>
            </a:r>
            <a:r>
              <a:rPr lang="en-ID" sz="2400" dirty="0" err="1"/>
              <a:t>menghargai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NMHS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dan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, </a:t>
            </a:r>
            <a:r>
              <a:rPr lang="en-ID" sz="2400" dirty="0" err="1"/>
              <a:t>memfasilitasi</a:t>
            </a:r>
            <a:r>
              <a:rPr lang="en-ID" sz="2400" dirty="0"/>
              <a:t> </a:t>
            </a:r>
            <a:r>
              <a:rPr lang="en-ID" sz="2400" dirty="0" err="1"/>
              <a:t>keterlibatan</a:t>
            </a:r>
            <a:r>
              <a:rPr lang="en-ID" sz="2400" dirty="0"/>
              <a:t> </a:t>
            </a:r>
            <a:r>
              <a:rPr lang="en-ID" sz="2400" dirty="0" err="1"/>
              <a:t>pengguna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NMHS, dan </a:t>
            </a:r>
            <a:r>
              <a:rPr lang="en-ID" sz="2400" dirty="0" err="1"/>
              <a:t>membantu</a:t>
            </a:r>
            <a:r>
              <a:rPr lang="en-ID" sz="2400" dirty="0"/>
              <a:t> donor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bagaimana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cocok</a:t>
            </a:r>
            <a:r>
              <a:rPr lang="en-ID" sz="2400" dirty="0"/>
              <a:t> dan </a:t>
            </a:r>
            <a:r>
              <a:rPr lang="en-ID" sz="2400" dirty="0" err="1"/>
              <a:t>terhubung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lain </a:t>
            </a:r>
            <a:r>
              <a:rPr lang="en-ID" sz="2400" dirty="0" err="1"/>
              <a:t>dari</a:t>
            </a:r>
            <a:r>
              <a:rPr lang="en-ID" sz="2400" dirty="0"/>
              <a:t> NMHS. </a:t>
            </a:r>
            <a:r>
              <a:rPr lang="en-ID" sz="2400" dirty="0" err="1"/>
              <a:t>Perencanaan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 </a:t>
            </a:r>
            <a:r>
              <a:rPr lang="en-ID" sz="2400" dirty="0" err="1"/>
              <a:t>dibahas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rinci</a:t>
            </a:r>
            <a:r>
              <a:rPr lang="en-ID" sz="2400" dirty="0"/>
              <a:t> di Bab 8 – </a:t>
            </a:r>
            <a:r>
              <a:rPr lang="en-ID" sz="2400" dirty="0" err="1"/>
              <a:t>Perencanaan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750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AFBAA-1033-CDDE-B5F7-7F404EFC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343"/>
            <a:ext cx="10515600" cy="54476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adanya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strategis</a:t>
            </a:r>
            <a:r>
              <a:rPr lang="en-ID" sz="2400" dirty="0"/>
              <a:t>,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mudah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mengidentifikasi</a:t>
            </a:r>
            <a:r>
              <a:rPr lang="en-ID" sz="2400" dirty="0"/>
              <a:t> dan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. </a:t>
            </a:r>
            <a:r>
              <a:rPr lang="en-ID" sz="2400" dirty="0" err="1"/>
              <a:t>Namun</a:t>
            </a:r>
            <a:r>
              <a:rPr lang="en-ID" sz="2400" dirty="0"/>
              <a:t>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seringkali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tantangan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NMHS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menyerap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. Hal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dipengaruhi</a:t>
            </a:r>
            <a:r>
              <a:rPr lang="en-ID" sz="2400" dirty="0"/>
              <a:t> oleh </a:t>
            </a:r>
            <a:r>
              <a:rPr lang="en-ID" sz="2400" dirty="0" err="1"/>
              <a:t>faktor-faktor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kurangnya</a:t>
            </a:r>
            <a:r>
              <a:rPr lang="en-ID" sz="2400" dirty="0"/>
              <a:t> </a:t>
            </a:r>
            <a:r>
              <a:rPr lang="en-ID" sz="2400" dirty="0" err="1"/>
              <a:t>pengalaman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menentukan</a:t>
            </a:r>
            <a:r>
              <a:rPr lang="en-ID" sz="2400" dirty="0"/>
              <a:t> dan </a:t>
            </a:r>
            <a:r>
              <a:rPr lang="en-ID" sz="2400" dirty="0" err="1"/>
              <a:t>mengelola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, </a:t>
            </a:r>
            <a:r>
              <a:rPr lang="en-ID" sz="2400" dirty="0" err="1"/>
              <a:t>kurangnya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 </a:t>
            </a:r>
            <a:r>
              <a:rPr lang="en-ID" sz="2400" dirty="0" err="1"/>
              <a:t>ahli</a:t>
            </a:r>
            <a:r>
              <a:rPr lang="en-ID" sz="2400" dirty="0"/>
              <a:t>,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,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kelemahan</a:t>
            </a:r>
            <a:r>
              <a:rPr lang="en-ID" sz="2400" dirty="0"/>
              <a:t> di </a:t>
            </a:r>
            <a:r>
              <a:rPr lang="en-ID" sz="2400" dirty="0" err="1"/>
              <a:t>bagian</a:t>
            </a:r>
            <a:r>
              <a:rPr lang="en-ID" sz="2400" dirty="0"/>
              <a:t> lain NMHS yang </a:t>
            </a:r>
            <a:r>
              <a:rPr lang="en-ID" sz="2400" dirty="0" err="1"/>
              <a:t>mempengaruhi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.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kasus</a:t>
            </a:r>
            <a:r>
              <a:rPr lang="en-ID" sz="2400" dirty="0"/>
              <a:t>,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berhasil</a:t>
            </a:r>
            <a:r>
              <a:rPr lang="en-ID" sz="2400" dirty="0"/>
              <a:t> </a:t>
            </a:r>
            <a:r>
              <a:rPr lang="en-ID" sz="2400" dirty="0" err="1"/>
              <a:t>dilaksanakan</a:t>
            </a:r>
            <a:r>
              <a:rPr lang="en-ID" sz="2400" dirty="0"/>
              <a:t>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gagal</a:t>
            </a:r>
            <a:r>
              <a:rPr lang="en-ID" sz="2400" dirty="0"/>
              <a:t> </a:t>
            </a:r>
            <a:r>
              <a:rPr lang="en-ID" sz="2400" dirty="0" err="1"/>
              <a:t>setelah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tahun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NMHS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rentan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yang </a:t>
            </a:r>
            <a:r>
              <a:rPr lang="en-ID" sz="2400" dirty="0" err="1"/>
              <a:t>mempengaruhi</a:t>
            </a:r>
            <a:r>
              <a:rPr lang="en-ID" sz="2400" dirty="0"/>
              <a:t> </a:t>
            </a:r>
            <a:r>
              <a:rPr lang="en-ID" sz="2400" dirty="0" err="1"/>
              <a:t>keberlanjutan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endParaRPr lang="en-ID" sz="2400" dirty="0"/>
          </a:p>
          <a:p>
            <a:pPr algn="just"/>
            <a:r>
              <a:rPr lang="en-ID" sz="2400" dirty="0"/>
              <a:t>Strategi dan </a:t>
            </a:r>
            <a:r>
              <a:rPr lang="en-ID" sz="2400" dirty="0" err="1"/>
              <a:t>Rencana</a:t>
            </a:r>
            <a:r>
              <a:rPr lang="en-ID" sz="2400" dirty="0"/>
              <a:t> </a:t>
            </a:r>
            <a:r>
              <a:rPr lang="en-ID" sz="2400" dirty="0" err="1"/>
              <a:t>Implementasi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WMO (WMO-No. 1133) </a:t>
            </a:r>
            <a:r>
              <a:rPr lang="en-ID" sz="2400" dirty="0" err="1"/>
              <a:t>mengidentifikasi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berhasil</a:t>
            </a:r>
            <a:r>
              <a:rPr lang="en-ID" sz="2400" dirty="0"/>
              <a:t> </a:t>
            </a:r>
            <a:r>
              <a:rPr lang="en-ID" sz="2400" dirty="0" err="1"/>
              <a:t>dilaksanakan</a:t>
            </a:r>
            <a:r>
              <a:rPr lang="en-ID" sz="2400" dirty="0"/>
              <a:t>. </a:t>
            </a:r>
            <a:r>
              <a:rPr lang="en-ID" sz="2400" dirty="0" err="1"/>
              <a:t>Namun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tantangan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mengimplementasikan</a:t>
            </a:r>
            <a:r>
              <a:rPr lang="en-ID" sz="2400" dirty="0"/>
              <a:t> </a:t>
            </a:r>
            <a:r>
              <a:rPr lang="en-ID" sz="2400" dirty="0" err="1"/>
              <a:t>proyek</a:t>
            </a:r>
            <a:r>
              <a:rPr lang="en-ID" sz="2400" dirty="0"/>
              <a:t> yang </a:t>
            </a:r>
            <a:r>
              <a:rPr lang="en-ID" sz="2400" dirty="0" err="1"/>
              <a:t>sukses</a:t>
            </a:r>
            <a:r>
              <a:rPr lang="en-ID" sz="2400" dirty="0"/>
              <a:t> dan </a:t>
            </a:r>
            <a:r>
              <a:rPr lang="en-ID" sz="2400" dirty="0" err="1"/>
              <a:t>berkelanjutan</a:t>
            </a:r>
            <a:r>
              <a:rPr lang="en-ID" sz="2400" dirty="0"/>
              <a:t> di NMHS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kecil</a:t>
            </a:r>
            <a:r>
              <a:rPr lang="en-ID" sz="2400" dirty="0"/>
              <a:t>, WMO, donor, dan </a:t>
            </a:r>
            <a:r>
              <a:rPr lang="en-ID" sz="2400" dirty="0" err="1"/>
              <a:t>pihak</a:t>
            </a:r>
            <a:r>
              <a:rPr lang="en-ID" sz="2400" dirty="0"/>
              <a:t> lain,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pemasok</a:t>
            </a:r>
            <a:r>
              <a:rPr lang="en-ID" sz="2400" dirty="0"/>
              <a:t> </a:t>
            </a:r>
            <a:r>
              <a:rPr lang="en-ID" sz="2400" dirty="0" err="1"/>
              <a:t>peralatan</a:t>
            </a:r>
            <a:r>
              <a:rPr lang="en-ID" sz="2400" dirty="0"/>
              <a:t>, </a:t>
            </a:r>
            <a:r>
              <a:rPr lang="en-ID" sz="2400" dirty="0" err="1"/>
              <a:t>semakin</a:t>
            </a:r>
            <a:r>
              <a:rPr lang="en-ID" sz="2400" dirty="0"/>
              <a:t> </a:t>
            </a:r>
            <a:r>
              <a:rPr lang="en-ID" sz="2400" dirty="0" err="1"/>
              <a:t>berfokus</a:t>
            </a:r>
            <a:r>
              <a:rPr lang="en-ID" sz="2400" dirty="0"/>
              <a:t> pada </a:t>
            </a:r>
            <a:r>
              <a:rPr lang="en-ID" sz="2400" dirty="0" err="1"/>
              <a:t>cara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proses </a:t>
            </a:r>
            <a:r>
              <a:rPr lang="en-ID" sz="2400" dirty="0" err="1"/>
              <a:t>ini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47142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870</TotalTime>
  <Words>2063</Words>
  <Application>Microsoft Office PowerPoint</Application>
  <PresentationFormat>Widescreen</PresentationFormat>
  <Paragraphs>73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Gill Sans MT</vt:lpstr>
      <vt:lpstr>Wingdings</vt:lpstr>
      <vt:lpstr>Gallery</vt:lpstr>
      <vt:lpstr>REGULASI INTERNASIONAL METEOROLOGI  MINGGU KE seBELAS/M8C/D CAPACITY DEVELOPMENT</vt:lpstr>
      <vt:lpstr>CAPACITY DEVELOPMENT</vt:lpstr>
      <vt:lpstr>WORLD METEOROLOGICAL ORGANIZATION CAPACITY DEVELOPMENT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WMO Capacity Development Programme</vt:lpstr>
      <vt:lpstr>PowerPoint Presentation</vt:lpstr>
      <vt:lpstr>PowerPoint Presentation</vt:lpstr>
      <vt:lpstr>PowerPoint Presentation</vt:lpstr>
      <vt:lpstr>KOMPONEN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OF THE WORLD METEOROLOGICAL ORGANIZATION CAPACITY DEVELOPMENT STRATEGY</vt:lpstr>
      <vt:lpstr>PowerPoint Presentation</vt:lpstr>
      <vt:lpstr>PowerPoint Presentation</vt:lpstr>
      <vt:lpstr>THE CHALLENGES OF IMPLEMENTING THE STRATEGY IN SMALLER  NATIONAL METEOROLOGICAL AND HYDROLOGICAL SERVICES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pdkl.office365</dc:creator>
  <cp:lastModifiedBy>maman.sudarisman</cp:lastModifiedBy>
  <cp:revision>47</cp:revision>
  <dcterms:created xsi:type="dcterms:W3CDTF">2022-12-07T23:58:20Z</dcterms:created>
  <dcterms:modified xsi:type="dcterms:W3CDTF">2026-06-16T14:01:12Z</dcterms:modified>
</cp:coreProperties>
</file>